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58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US" sz="1800" b="0" i="0" u="none" strike="noStrike">
                <a:solidFill>
                  <a:srgbClr val="000000"/>
                </a:solidFill>
                <a:latin typeface="Arial"/>
              </a:rPr>
              <a:t>Grade Distribution (0–100)</a:t>
            </a:r>
          </a:p>
        </c:rich>
      </c:tx>
      <c:overlay val="0"/>
    </c:title>
    <c:autoTitleDeleted val="0"/>
    <c:plotArea>
      <c:layout/>
      <c:barChart>
        <c:barDir val="col"/>
        <c:grouping val="clustered"/>
        <c:varyColors val="0"/>
        <c:ser>
          <c:idx val="0"/>
          <c:order val="0"/>
          <c:tx>
            <c:strRef>
              <c:f>Sheet1!$B$1</c:f>
              <c:strCache>
                <c:ptCount val="1"/>
                <c:pt idx="0">
                  <c:v>Score</c:v>
                </c:pt>
              </c:strCache>
            </c:strRef>
          </c:tx>
          <c:spPr>
            <a:solidFill>
              <a:srgbClr val="0E9AA7"/>
            </a:solidFill>
            <a:effectLst/>
          </c:spPr>
          <c:invertIfNegative val="0"/>
          <c:dPt>
            <c:idx val="0"/>
            <c:invertIfNegative val="0"/>
            <c:bubble3D val="0"/>
            <c:extLst>
              <c:ext xmlns:c16="http://schemas.microsoft.com/office/drawing/2014/chart" uri="{C3380CC4-5D6E-409C-BE32-E72D297353CC}">
                <c16:uniqueId val="{00000001-6C56-475C-ACE0-3F402862BF36}"/>
              </c:ext>
            </c:extLst>
          </c:dPt>
          <c:dPt>
            <c:idx val="1"/>
            <c:invertIfNegative val="0"/>
            <c:bubble3D val="0"/>
            <c:extLst>
              <c:ext xmlns:c16="http://schemas.microsoft.com/office/drawing/2014/chart" uri="{C3380CC4-5D6E-409C-BE32-E72D297353CC}">
                <c16:uniqueId val="{00000003-6C56-475C-ACE0-3F402862BF36}"/>
              </c:ext>
            </c:extLst>
          </c:dPt>
          <c:dPt>
            <c:idx val="2"/>
            <c:invertIfNegative val="0"/>
            <c:bubble3D val="0"/>
            <c:extLst>
              <c:ext xmlns:c16="http://schemas.microsoft.com/office/drawing/2014/chart" uri="{C3380CC4-5D6E-409C-BE32-E72D297353CC}">
                <c16:uniqueId val="{00000005-6C56-475C-ACE0-3F402862BF36}"/>
              </c:ext>
            </c:extLst>
          </c:dPt>
          <c:dPt>
            <c:idx val="3"/>
            <c:invertIfNegative val="0"/>
            <c:bubble3D val="0"/>
            <c:extLst>
              <c:ext xmlns:c16="http://schemas.microsoft.com/office/drawing/2014/chart" uri="{C3380CC4-5D6E-409C-BE32-E72D297353CC}">
                <c16:uniqueId val="{00000007-6C56-475C-ACE0-3F402862BF36}"/>
              </c:ext>
            </c:extLst>
          </c:dPt>
          <c:dPt>
            <c:idx val="4"/>
            <c:invertIfNegative val="0"/>
            <c:bubble3D val="0"/>
            <c:spPr>
              <a:solidFill>
                <a:srgbClr val="E53E3E"/>
              </a:solidFill>
              <a:effectLst/>
            </c:spPr>
            <c:extLst>
              <c:ext xmlns:c16="http://schemas.microsoft.com/office/drawing/2014/chart" uri="{C3380CC4-5D6E-409C-BE32-E72D297353CC}">
                <c16:uniqueId val="{00000009-6C56-475C-ACE0-3F402862BF36}"/>
              </c:ext>
            </c:extLst>
          </c:dPt>
          <c:dLbls>
            <c:numFmt formatCode="#,##0" sourceLinked="0"/>
            <c:spPr>
              <a:noFill/>
              <a:ln>
                <a:noFill/>
              </a:ln>
              <a:effectLst/>
            </c:spPr>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Fatma</c:v>
                </c:pt>
                <c:pt idx="1">
                  <c:v>Heydar</c:v>
                </c:pt>
                <c:pt idx="2">
                  <c:v>Emily</c:v>
                </c:pt>
                <c:pt idx="3">
                  <c:v>James</c:v>
                </c:pt>
                <c:pt idx="4">
                  <c:v>Jalil</c:v>
                </c:pt>
              </c:strCache>
            </c:strRef>
          </c:cat>
          <c:val>
            <c:numRef>
              <c:f>Sheet1!$B$2:$B$6</c:f>
              <c:numCache>
                <c:formatCode>General</c:formatCode>
                <c:ptCount val="5"/>
                <c:pt idx="0">
                  <c:v>100</c:v>
                </c:pt>
                <c:pt idx="1">
                  <c:v>92</c:v>
                </c:pt>
                <c:pt idx="2">
                  <c:v>88.5</c:v>
                </c:pt>
                <c:pt idx="3">
                  <c:v>75</c:v>
                </c:pt>
                <c:pt idx="4">
                  <c:v>62</c:v>
                </c:pt>
              </c:numCache>
            </c:numRef>
          </c:val>
          <c:extLst>
            <c:ext xmlns:c16="http://schemas.microsoft.com/office/drawing/2014/chart" uri="{C3380CC4-5D6E-409C-BE32-E72D297353CC}">
              <c16:uniqueId val="{0000000A-6C56-475C-ACE0-3F402862BF3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D3748"/>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1809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7627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thank you. My name is Fatma Alsaghir and this presentation covers my Phase 2 project for Knowledge Engineering and Ontologies. The project develops a full OWL 2 DL ontology for an academic e-learning environment, with features including semantic reasoning, SPARQL querying, SHACL validation, and an LLM-assisted population pipeline. I will walk through each component in roughly 10 minutes, and I am happy to take questions at the end.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is that educational institutions generate enormous amounts of data — enrollment records, submission logs, grades, feedback — but these exist in disconnected silos. There is no formal semantic model that lets you ask cross-cutting questions like: which students have completed all prerequisites? Which submissions were late? An OWL ontology solves this by providing a machine-readable, reasoning-capable knowledge representation. Three key capabilities emerge: formal modeling, automated inference, and LLM-assisted population from natural language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six concrete deliverables. First, a well-formed OWL 2 DL ontology following METHONTOLOGY — a structured design process. Second, a populated knowledge graph representing a realistic academic scenario. Third, 18 SPARQL competency questions covering basic retrieval, aggregation, and reasoning. Fourth, SHACL shapes validating data quality at the structural level. Fifth, a proposed and partially demonstrated LLM pipeline for automated ontology population. And sixth, full WIDOCO documentation and GitHub version control.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methodology follows METHONTOLOGY — a well-established ontology engineering lifecycle. We begin with specification: defining the scope and 18 competency questions. Conceptualisation identifies the key domain entities and their relationships. Formalisation converts these into OWL axioms — disjointness, functional properties, and transitivity. Implementation takes place in Protégé 5.5 with RDF/XML serialisation. Finally, evaluation uses the HermiT reasoner, SHACL constraints, and SPARQL query testing. The toolchain at the bottom covers every stage of development.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ontology defines 11 classes organised into 5 superclass families. Person covers Student and Instructor — declared disjoint, so the reasoner will flag any individual typed as both. AcademicContent covers Course, Module, and LearningObjective. Assessment covers Assignment; Evaluation covers Grade and Feedback — also disjoint. Submission covers LateSubmission, which is a defined class: it is never manually asserted but inferred by HermiT when a submission date exceeds the assignment due date. hasGrade is functional — each submission gets at most one grade. hasPrerequisite is transitive — enabling multi-hop prerequisite chain queries. These axioms demonstrate sophisticated OWL 2 DL modelling beyond basic taxonomy.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ontology defines 18 object properties. Most come in inverse pairs — enrolledIn and hasStudent are both declared and linked as inverses, so asserting one automatically entails the other through reasoning. The critical modeling decisions are: submissionFor is functional — ensuring each submission targets exactly one assignment. hasGrade is functional — each submission can have at most one grade. hasPrerequisite is transitive — so CS-650 hasPrerequisite CS-550, and any further chain is automatically inferred. There are also 15 datatype properties — xsd:string, xsd:float, xsd:dateTime — covering all literal values in the domain.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ABox — the assertion box — contains all named individuals. Seven students from diverse backgrounds: Emily Parker, Fatma Alsaghir, Heydar Mehdizade, Jalil Guliyev, James Anderson, Mahammadali Aliyev, and Sarah Williams. Two courses: CS-550 Knowledge Engineering and CS-650 Semantic Web Technologies, with a prerequisite link. Five submissions, one of which — Jalil Guliyev's — was submitted two days after the deadline and is automatically classified as LateSubmission by HermiT. All RDF triples are expressed in the RDF/XML serialisation under the base namespace http://www.example.org/elearning-ontology#. Data quality was ensured through ID uniqueness checks, ISO timestamp formatting, and OULAD dataset reference patterns.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Reasoning is arguably the most powerful capability of OWL ontologies over simple databases. The most impressive result is automatic LateSubmission classification: I never wrote a rule or query — I simply declared that LateSubmission is defined by submissionDate exceeding dueDate, and HermiT inferred this classification for Jalil Guliyev's submission. Transitive prerequisite inference means SPARQL path queries with the + operator traverse any chain length automatically. Inverse property entailment eliminates redundant triple assertions, keeping the ABox clean. And consistency checking verified that no individual violates the disjointness constraints — a deliberate test assigning a Grade as the object of hasFeedback was correctly flagged as a range violation.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18 competency questions are answered through SPARQL queries. I'll highlight three. CQ16 queries for late submissions by targeting the LateSubmission class — which is inferred, not asserted. This means the query correctly returns only Jalil Guliyev's submission. CQ11 uses the SPARQL + path operator on hasPrerequisite to traverse the entire prerequisite chain transitively. CQ14 uses SPARQL aggregation with AVG and GROUP BY to compute average grade per assignment. The 18 queries span five categories: basic retrieval, reasoning-dependent queries, aggregation, relationship queries, and LateSubmission-specific queries.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SHACL — Shapes Constraint Language — operates at a different level than OWL reasoning. Where OWL validates logical consistency, SHACL validates structural data quality. StudentShape ensures every student individual has a name and studentID. SubmissionShape enforces the exact-one-assignment and exact-one-student cardinality constraints. GradeShape enforces the 0–100 score range. I deliberately introduced a grade of 110.0 — SHACL correctly flagged it as a violation. AssignmentShape requires dueDate — this is critical because LateSubmission inference depends on this value existing. All valid instances passed; all deliberate violations were detected.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LLM integration is the most innovative component of this project. The pipeline has 7 stages: unstructured text in, structured SPARQL-queryable knowledge out. The key insight is schema-aware prompting: by injecting the exact class and property names from the ontology into the system prompt, we constrain the LLM to produce ontology-conformant output. The example shows: given one sentence about Fatma Alsaghir, the LLM correctly returns a Student individual with properties and the enrolledIn relationship — ready to be converted to OWL/RDF assertions. Hallucination mitigation operates at three levels: prompt constraints limit the output space, HermiT validates structural consistency, and functional property declarations catch duplicate assertions. Human review remains essential for factual accuracy.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chart shows the grade distribution. Fatma received a perfect 100, Heydar 92, Emily 88.5, James 75, and Jalil 62 — which reflects the late submission penalty. On the right, four key result metrics: HermiT confirmed the ontology is fully consistent with no unsatisfiable classes. The LateSubmission reasoner correctly identified exactly one submission — Jalil's. All four SHACL shapes passed on valid data, and the deliberate violation was caught. All 18 competency questions are answered through SPARQL. The ontology is version 2.0, fully documented with WIDOCO, and available on GitHub.</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evaluation requires acknowledging both strengths and limitations. On the strength side: the ontology is fully consistent, all 18 CQs are answered, automated reasoning works correctly, and SHACL validation is thorough. The LLM pipeline is a genuine innovation — a complete 7-stage architecture with documented hallucination mitigation strategies. On the limitation side: the ABox is small — 7 students and 5 submissions are enough to demonstrate all capabilities but don't reflect real institutional scale. The LLM pipeline remains at the design and partial demonstration level; a full deployment over real documents was outside the project scope. OWL reasoners like HermiT face computational scalability challenges as the ABox grows, which would need addressing for production use. And the reasoner cannot detect hallucinations that are logically valid — human review remains essential.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the most impactful next steps are real institutional deployment and the SPARQL analytics dashboard — both high priority. The LLM pipeline exists as a complete architecture; deploying it over real data would immediately demonstrate its value. The student behaviour modelling extension links the ontology with the GRU-RNN paper I reviewed — connecting symbolic knowledge representation with neural prediction. Ontology alignment with IEEE LOM and Schema.org would enable interoperability with other educational systems. The extended SHACL suite would add automated quality reporting capabilities. And fine-tuning a domain-specific LLM is a longer-term research direction.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this project developed a semantically rich, reasoning-capable OWL 2 DL ontology for e-learning systems across two phases. The five core contributions are: a formally grounded ontology with 11 classes; HermiT-validated reasoning including automatic LateSubmission classification; 18 SPARQL competency questions; SHACL structural validation; and an LLM integration pipeline. The project demonstrates that OWL ontology engineering combined with LLM-based extraction and automated reasoning is a coherent and technically viable approach to knowledge-driven educational technology. I am happy to take questions — and I am particularly prepared to discuss the LLM architecture, reasoning mechanics, SHACL design choices, and SPARQL query construction in detail.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0E9AA7"/>
          </a:solidFill>
          <a:ln w="12700">
            <a:solidFill>
              <a:srgbClr val="0E9AA7"/>
            </a:solidFill>
            <a:prstDash val="solid"/>
          </a:ln>
        </p:spPr>
      </p:sp>
      <p:sp>
        <p:nvSpPr>
          <p:cNvPr id="3" name="Shape 1"/>
          <p:cNvSpPr/>
          <p:nvPr/>
        </p:nvSpPr>
        <p:spPr>
          <a:xfrm>
            <a:off x="0" y="3200400"/>
            <a:ext cx="9144000" cy="1143000"/>
          </a:xfrm>
          <a:prstGeom prst="rect">
            <a:avLst/>
          </a:prstGeom>
          <a:solidFill>
            <a:srgbClr val="243855"/>
          </a:solidFill>
          <a:ln w="12700">
            <a:solidFill>
              <a:srgbClr val="243855"/>
            </a:solidFill>
            <a:prstDash val="solid"/>
          </a:ln>
        </p:spPr>
      </p:sp>
      <p:sp>
        <p:nvSpPr>
          <p:cNvPr id="4" name="Text 2"/>
          <p:cNvSpPr/>
          <p:nvPr/>
        </p:nvSpPr>
        <p:spPr>
          <a:xfrm>
            <a:off x="548640" y="502920"/>
            <a:ext cx="8046720" cy="1188720"/>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E-Learning System Ontology</a:t>
            </a:r>
            <a:endParaRPr lang="en-US" sz="3600" dirty="0"/>
          </a:p>
        </p:txBody>
      </p:sp>
      <p:sp>
        <p:nvSpPr>
          <p:cNvPr id="5" name="Text 3"/>
          <p:cNvSpPr/>
          <p:nvPr/>
        </p:nvSpPr>
        <p:spPr>
          <a:xfrm>
            <a:off x="548640" y="1737360"/>
            <a:ext cx="8046720" cy="731520"/>
          </a:xfrm>
          <a:prstGeom prst="rect">
            <a:avLst/>
          </a:prstGeom>
          <a:noFill/>
          <a:ln/>
        </p:spPr>
        <p:txBody>
          <a:bodyPr wrap="square" rtlCol="0" anchor="ctr"/>
          <a:lstStyle/>
          <a:p>
            <a:pPr marL="0" indent="0" algn="ctr">
              <a:buNone/>
            </a:pPr>
            <a:r>
              <a:rPr lang="en-US" sz="1300" i="1" dirty="0">
                <a:solidFill>
                  <a:srgbClr val="D4F1F4"/>
                </a:solidFill>
                <a:latin typeface="Calibri" pitchFamily="34" charset="0"/>
                <a:ea typeface="Calibri" pitchFamily="34" charset="-122"/>
                <a:cs typeface="Calibri" pitchFamily="34" charset="-120"/>
              </a:rPr>
              <a:t>Knowledge Graph Construction · Semantic Reasoning · SHACL Validation · LLM-Assisted Population</a:t>
            </a:r>
            <a:endParaRPr lang="en-US" sz="1300" dirty="0"/>
          </a:p>
        </p:txBody>
      </p:sp>
      <p:sp>
        <p:nvSpPr>
          <p:cNvPr id="6" name="Shape 4"/>
          <p:cNvSpPr/>
          <p:nvPr/>
        </p:nvSpPr>
        <p:spPr>
          <a:xfrm>
            <a:off x="2286000" y="2514600"/>
            <a:ext cx="4572000" cy="0"/>
          </a:xfrm>
          <a:prstGeom prst="line">
            <a:avLst/>
          </a:prstGeom>
          <a:noFill/>
          <a:ln w="25400">
            <a:solidFill>
              <a:srgbClr val="F6AD55"/>
            </a:solidFill>
            <a:prstDash val="solid"/>
          </a:ln>
        </p:spPr>
      </p:sp>
      <p:sp>
        <p:nvSpPr>
          <p:cNvPr id="7" name="Text 5"/>
          <p:cNvSpPr/>
          <p:nvPr/>
        </p:nvSpPr>
        <p:spPr>
          <a:xfrm>
            <a:off x="548640" y="3291840"/>
            <a:ext cx="804672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Fatma Alsaghir  </a:t>
            </a:r>
            <a:r>
              <a:rPr lang="en-US" sz="1200" dirty="0">
                <a:solidFill>
                  <a:srgbClr val="718096"/>
                </a:solidFill>
                <a:latin typeface="Calibri" pitchFamily="34" charset="0"/>
                <a:ea typeface="Calibri" pitchFamily="34" charset="-122"/>
                <a:cs typeface="Calibri" pitchFamily="34" charset="-120"/>
              </a:rPr>
              <a:t>| 220315105@ogr.cbu.edu.tr</a:t>
            </a:r>
            <a:endParaRPr lang="en-US" sz="1200" dirty="0"/>
          </a:p>
        </p:txBody>
      </p:sp>
      <p:sp>
        <p:nvSpPr>
          <p:cNvPr id="8" name="Text 6"/>
          <p:cNvSpPr/>
          <p:nvPr/>
        </p:nvSpPr>
        <p:spPr>
          <a:xfrm>
            <a:off x="548640" y="3749040"/>
            <a:ext cx="8046720" cy="3200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Knowledge Engineering and Ontologies  </a:t>
            </a:r>
            <a:r>
              <a:rPr lang="en-US" sz="1100" dirty="0">
                <a:solidFill>
                  <a:srgbClr val="718096"/>
                </a:solidFill>
                <a:latin typeface="Calibri" pitchFamily="34" charset="0"/>
                <a:ea typeface="Calibri" pitchFamily="34" charset="-122"/>
                <a:cs typeface="Calibri" pitchFamily="34" charset="-120"/>
              </a:rPr>
              <a:t>| Manisa Celal Bayar University  | 2025–26</a:t>
            </a:r>
            <a:endParaRPr lang="en-US" sz="1100" dirty="0"/>
          </a:p>
        </p:txBody>
      </p:sp>
      <p:sp>
        <p:nvSpPr>
          <p:cNvPr id="9" name="Text 7"/>
          <p:cNvSpPr/>
          <p:nvPr/>
        </p:nvSpPr>
        <p:spPr>
          <a:xfrm>
            <a:off x="457200" y="4453128"/>
            <a:ext cx="8229600"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OWL 2 DL  ·  Protégé 5.5  ·  HermiT Reasoner  ·  SPARQL  ·  SHACL  ·  LLM Integration  ·  WIDOCO</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4A"/>
          </a:solidFill>
          <a:ln w="12700">
            <a:solidFill>
              <a:srgbClr val="1B2A4A"/>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Problem Definition &amp; Motivation</a:t>
            </a:r>
            <a:endParaRPr lang="en-US" sz="2200" dirty="0"/>
          </a:p>
        </p:txBody>
      </p:sp>
      <p:sp>
        <p:nvSpPr>
          <p:cNvPr id="4" name="Shape 2"/>
          <p:cNvSpPr/>
          <p:nvPr/>
        </p:nvSpPr>
        <p:spPr>
          <a:xfrm>
            <a:off x="320040" y="868680"/>
            <a:ext cx="4114800" cy="3749040"/>
          </a:xfrm>
          <a:prstGeom prst="roundRect">
            <a:avLst>
              <a:gd name="adj" fmla="val 2439"/>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sp>
        <p:nvSpPr>
          <p:cNvPr id="5" name="Text 3"/>
          <p:cNvSpPr/>
          <p:nvPr/>
        </p:nvSpPr>
        <p:spPr>
          <a:xfrm>
            <a:off x="502920" y="987552"/>
            <a:ext cx="3749040" cy="365760"/>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The Problem</a:t>
            </a:r>
            <a:endParaRPr lang="en-US" sz="1400" dirty="0"/>
          </a:p>
        </p:txBody>
      </p:sp>
      <p:sp>
        <p:nvSpPr>
          <p:cNvPr id="6" name="Text 4"/>
          <p:cNvSpPr/>
          <p:nvPr/>
        </p:nvSpPr>
        <p:spPr>
          <a:xfrm>
            <a:off x="502920" y="1417320"/>
            <a:ext cx="3840480" cy="3017520"/>
          </a:xfrm>
          <a:prstGeom prst="rect">
            <a:avLst/>
          </a:prstGeom>
          <a:noFill/>
          <a:ln/>
        </p:spPr>
        <p:txBody>
          <a:bodyPr wrap="square" lIns="0" tIns="0" rIns="0" bIns="0" rtlCol="0" anchor="t"/>
          <a:lstStyle/>
          <a:p>
            <a:pPr marL="0" indent="0">
              <a:buNone/>
            </a:pPr>
            <a:r>
              <a:rPr lang="en-US" sz="1150" dirty="0">
                <a:solidFill>
                  <a:srgbClr val="4A5568"/>
                </a:solidFill>
                <a:latin typeface="Calibri" pitchFamily="34" charset="0"/>
                <a:ea typeface="Calibri" pitchFamily="34" charset="-122"/>
                <a:cs typeface="Calibri" pitchFamily="34" charset="-120"/>
              </a:rPr>
              <a:t>Educational data is scattered across incompatible systems — LMS logs, gradebooks, syllabi, and course catalogues.</a:t>
            </a:r>
            <a:endParaRPr lang="en-US" sz="1150" dirty="0"/>
          </a:p>
          <a:p>
            <a:pPr marL="0" indent="0">
              <a:buNone/>
            </a:pPr>
            <a:r>
              <a:rPr lang="en-US" sz="1150" dirty="0">
                <a:solidFill>
                  <a:srgbClr val="4A5568"/>
                </a:solidFill>
                <a:latin typeface="Calibri" pitchFamily="34" charset="0"/>
                <a:ea typeface="Calibri" pitchFamily="34" charset="-122"/>
                <a:cs typeface="Calibri" pitchFamily="34" charset="-120"/>
              </a:rPr>
              <a:t> </a:t>
            </a:r>
            <a:endParaRPr lang="en-US" sz="1150" dirty="0"/>
          </a:p>
          <a:p>
            <a:pPr marL="0" indent="0">
              <a:buNone/>
            </a:pPr>
            <a:r>
              <a:rPr lang="en-US" sz="1150" b="1" dirty="0">
                <a:solidFill>
                  <a:srgbClr val="4A5568"/>
                </a:solidFill>
                <a:latin typeface="Calibri" pitchFamily="34" charset="0"/>
                <a:ea typeface="Calibri" pitchFamily="34" charset="-122"/>
                <a:cs typeface="Calibri" pitchFamily="34" charset="-120"/>
              </a:rPr>
              <a:t>Current systems cannot:</a:t>
            </a:r>
            <a:endParaRPr lang="en-US" sz="1150" dirty="0"/>
          </a:p>
          <a:p>
            <a:pPr marL="342900" indent="-342900">
              <a:buSzPct val="100000"/>
              <a:buChar char="•"/>
            </a:pPr>
            <a:r>
              <a:rPr lang="en-US" sz="1150" dirty="0">
                <a:solidFill>
                  <a:srgbClr val="4A5568"/>
                </a:solidFill>
                <a:latin typeface="Calibri" pitchFamily="34" charset="0"/>
                <a:ea typeface="Calibri" pitchFamily="34" charset="-122"/>
                <a:cs typeface="Calibri" pitchFamily="34" charset="-120"/>
              </a:rPr>
              <a:t>Reason over prerequisite chains automatically</a:t>
            </a:r>
            <a:endParaRPr lang="en-US" sz="1150" dirty="0"/>
          </a:p>
          <a:p>
            <a:pPr marL="342900" indent="-342900">
              <a:buSzPct val="100000"/>
              <a:buChar char="•"/>
            </a:pPr>
            <a:r>
              <a:rPr lang="en-US" sz="1150" dirty="0">
                <a:solidFill>
                  <a:srgbClr val="4A5568"/>
                </a:solidFill>
                <a:latin typeface="Calibri" pitchFamily="34" charset="0"/>
                <a:ea typeface="Calibri" pitchFamily="34" charset="-122"/>
                <a:cs typeface="Calibri" pitchFamily="34" charset="-120"/>
              </a:rPr>
              <a:t>Detect late submissions via inference</a:t>
            </a:r>
            <a:endParaRPr lang="en-US" sz="1150" dirty="0"/>
          </a:p>
          <a:p>
            <a:pPr marL="342900" indent="-342900">
              <a:buSzPct val="100000"/>
              <a:buChar char="•"/>
            </a:pPr>
            <a:r>
              <a:rPr lang="en-US" sz="1150" dirty="0">
                <a:solidFill>
                  <a:srgbClr val="4A5568"/>
                </a:solidFill>
                <a:latin typeface="Calibri" pitchFamily="34" charset="0"/>
                <a:ea typeface="Calibri" pitchFamily="34" charset="-122"/>
                <a:cs typeface="Calibri" pitchFamily="34" charset="-120"/>
              </a:rPr>
              <a:t>Answer semantic competency questions</a:t>
            </a:r>
            <a:endParaRPr lang="en-US" sz="1150" dirty="0"/>
          </a:p>
          <a:p>
            <a:pPr marL="342900" indent="-342900">
              <a:buSzPct val="100000"/>
              <a:buChar char="•"/>
            </a:pPr>
            <a:r>
              <a:rPr lang="en-US" sz="1150" dirty="0">
                <a:solidFill>
                  <a:srgbClr val="4A5568"/>
                </a:solidFill>
                <a:latin typeface="Calibri" pitchFamily="34" charset="0"/>
                <a:ea typeface="Calibri" pitchFamily="34" charset="-122"/>
                <a:cs typeface="Calibri" pitchFamily="34" charset="-120"/>
              </a:rPr>
              <a:t>Validate structural data quality</a:t>
            </a:r>
            <a:endParaRPr lang="en-US" sz="1150" dirty="0"/>
          </a:p>
          <a:p>
            <a:pPr marL="0" indent="0">
              <a:buNone/>
            </a:pPr>
            <a:r>
              <a:rPr lang="en-US" sz="1150" dirty="0">
                <a:solidFill>
                  <a:srgbClr val="4A5568"/>
                </a:solidFill>
                <a:latin typeface="Calibri" pitchFamily="34" charset="0"/>
                <a:ea typeface="Calibri" pitchFamily="34" charset="-122"/>
                <a:cs typeface="Calibri" pitchFamily="34" charset="-120"/>
              </a:rPr>
              <a:t> </a:t>
            </a:r>
            <a:endParaRPr lang="en-US" sz="1150" dirty="0"/>
          </a:p>
          <a:p>
            <a:pPr marL="0" indent="0">
              <a:buNone/>
            </a:pPr>
            <a:r>
              <a:rPr lang="en-US" sz="1150" i="1" dirty="0">
                <a:solidFill>
                  <a:srgbClr val="4A5568"/>
                </a:solidFill>
                <a:latin typeface="Calibri" pitchFamily="34" charset="0"/>
                <a:ea typeface="Calibri" pitchFamily="34" charset="-122"/>
                <a:cs typeface="Calibri" pitchFamily="34" charset="-120"/>
              </a:rPr>
              <a:t>Data is trapped in silos — not machine-processable or semantically integrated.</a:t>
            </a:r>
            <a:endParaRPr lang="en-US" sz="1150" dirty="0"/>
          </a:p>
        </p:txBody>
      </p:sp>
      <p:sp>
        <p:nvSpPr>
          <p:cNvPr id="7" name="Shape 5"/>
          <p:cNvSpPr/>
          <p:nvPr/>
        </p:nvSpPr>
        <p:spPr>
          <a:xfrm>
            <a:off x="4754880" y="841248"/>
            <a:ext cx="4023360" cy="1097280"/>
          </a:xfrm>
          <a:prstGeom prst="roundRect">
            <a:avLst>
              <a:gd name="adj" fmla="val 8333"/>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pic>
        <p:nvPicPr>
          <p:cNvPr id="8" name="Image 0" descr="preencoded.png"/>
          <p:cNvPicPr>
            <a:picLocks noChangeAspect="1"/>
          </p:cNvPicPr>
          <p:nvPr/>
        </p:nvPicPr>
        <p:blipFill>
          <a:blip r:embed="rId3"/>
          <a:stretch>
            <a:fillRect/>
          </a:stretch>
        </p:blipFill>
        <p:spPr>
          <a:xfrm>
            <a:off x="4919472" y="1005840"/>
            <a:ext cx="347472" cy="347472"/>
          </a:xfrm>
          <a:prstGeom prst="rect">
            <a:avLst/>
          </a:prstGeom>
        </p:spPr>
      </p:pic>
      <p:sp>
        <p:nvSpPr>
          <p:cNvPr id="9" name="Text 6"/>
          <p:cNvSpPr/>
          <p:nvPr/>
        </p:nvSpPr>
        <p:spPr>
          <a:xfrm>
            <a:off x="5349240" y="978408"/>
            <a:ext cx="3337560" cy="384048"/>
          </a:xfrm>
          <a:prstGeom prst="rect">
            <a:avLst/>
          </a:prstGeom>
          <a:noFill/>
          <a:ln/>
        </p:spPr>
        <p:txBody>
          <a:bodyPr wrap="square" lIns="0" tIns="0" rIns="0" bIns="0" rtlCol="0" anchor="ctr"/>
          <a:lstStyle/>
          <a:p>
            <a:pPr marL="0" indent="0">
              <a:buNone/>
            </a:pPr>
            <a:r>
              <a:rPr lang="en-US" sz="1200" b="1" dirty="0">
                <a:solidFill>
                  <a:srgbClr val="1B2A4A"/>
                </a:solidFill>
                <a:latin typeface="Cambria" pitchFamily="34" charset="0"/>
                <a:ea typeface="Cambria" pitchFamily="34" charset="-122"/>
                <a:cs typeface="Cambria" pitchFamily="34" charset="-120"/>
              </a:rPr>
              <a:t>Formal Knowledge Model</a:t>
            </a:r>
            <a:endParaRPr lang="en-US" sz="1200" dirty="0"/>
          </a:p>
        </p:txBody>
      </p:sp>
      <p:sp>
        <p:nvSpPr>
          <p:cNvPr id="10" name="Text 7"/>
          <p:cNvSpPr/>
          <p:nvPr/>
        </p:nvSpPr>
        <p:spPr>
          <a:xfrm>
            <a:off x="4919472" y="1435608"/>
            <a:ext cx="3749040" cy="411480"/>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OWL 2 DL ontology encodes domain semantics — entities, relationships, and constraints</a:t>
            </a:r>
            <a:endParaRPr lang="en-US" sz="1000" dirty="0"/>
          </a:p>
        </p:txBody>
      </p:sp>
      <p:sp>
        <p:nvSpPr>
          <p:cNvPr id="11" name="Shape 8"/>
          <p:cNvSpPr/>
          <p:nvPr/>
        </p:nvSpPr>
        <p:spPr>
          <a:xfrm>
            <a:off x="4754880" y="2048256"/>
            <a:ext cx="4023360" cy="1097280"/>
          </a:xfrm>
          <a:prstGeom prst="roundRect">
            <a:avLst>
              <a:gd name="adj" fmla="val 8333"/>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pic>
        <p:nvPicPr>
          <p:cNvPr id="12" name="Image 1" descr="preencoded.png"/>
          <p:cNvPicPr>
            <a:picLocks noChangeAspect="1"/>
          </p:cNvPicPr>
          <p:nvPr/>
        </p:nvPicPr>
        <p:blipFill>
          <a:blip r:embed="rId4"/>
          <a:stretch>
            <a:fillRect/>
          </a:stretch>
        </p:blipFill>
        <p:spPr>
          <a:xfrm>
            <a:off x="4919472" y="2212848"/>
            <a:ext cx="347472" cy="347472"/>
          </a:xfrm>
          <a:prstGeom prst="rect">
            <a:avLst/>
          </a:prstGeom>
        </p:spPr>
      </p:pic>
      <p:sp>
        <p:nvSpPr>
          <p:cNvPr id="13" name="Text 9"/>
          <p:cNvSpPr/>
          <p:nvPr/>
        </p:nvSpPr>
        <p:spPr>
          <a:xfrm>
            <a:off x="5349240" y="2185416"/>
            <a:ext cx="3337560" cy="384048"/>
          </a:xfrm>
          <a:prstGeom prst="rect">
            <a:avLst/>
          </a:prstGeom>
          <a:noFill/>
          <a:ln/>
        </p:spPr>
        <p:txBody>
          <a:bodyPr wrap="square" lIns="0" tIns="0" rIns="0" bIns="0" rtlCol="0" anchor="ctr"/>
          <a:lstStyle/>
          <a:p>
            <a:pPr marL="0" indent="0">
              <a:buNone/>
            </a:pPr>
            <a:r>
              <a:rPr lang="en-US" sz="1200" b="1" dirty="0">
                <a:solidFill>
                  <a:srgbClr val="1B2A4A"/>
                </a:solidFill>
                <a:latin typeface="Cambria" pitchFamily="34" charset="0"/>
                <a:ea typeface="Cambria" pitchFamily="34" charset="-122"/>
                <a:cs typeface="Cambria" pitchFamily="34" charset="-120"/>
              </a:rPr>
              <a:t>Automated Reasoning</a:t>
            </a:r>
            <a:endParaRPr lang="en-US" sz="1200" dirty="0"/>
          </a:p>
        </p:txBody>
      </p:sp>
      <p:sp>
        <p:nvSpPr>
          <p:cNvPr id="14" name="Text 10"/>
          <p:cNvSpPr/>
          <p:nvPr/>
        </p:nvSpPr>
        <p:spPr>
          <a:xfrm>
            <a:off x="4919472" y="2642616"/>
            <a:ext cx="3749040" cy="411480"/>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HermiT reasoner infers implicit knowledge: late submissions, prerequisite chains</a:t>
            </a:r>
            <a:endParaRPr lang="en-US" sz="1000" dirty="0"/>
          </a:p>
        </p:txBody>
      </p:sp>
      <p:sp>
        <p:nvSpPr>
          <p:cNvPr id="15" name="Shape 11"/>
          <p:cNvSpPr/>
          <p:nvPr/>
        </p:nvSpPr>
        <p:spPr>
          <a:xfrm>
            <a:off x="4754880" y="3255264"/>
            <a:ext cx="4023360" cy="1097280"/>
          </a:xfrm>
          <a:prstGeom prst="roundRect">
            <a:avLst>
              <a:gd name="adj" fmla="val 8333"/>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pic>
        <p:nvPicPr>
          <p:cNvPr id="16" name="Image 2" descr="preencoded.png"/>
          <p:cNvPicPr>
            <a:picLocks noChangeAspect="1"/>
          </p:cNvPicPr>
          <p:nvPr/>
        </p:nvPicPr>
        <p:blipFill>
          <a:blip r:embed="rId5"/>
          <a:stretch>
            <a:fillRect/>
          </a:stretch>
        </p:blipFill>
        <p:spPr>
          <a:xfrm>
            <a:off x="4919472" y="3419856"/>
            <a:ext cx="347472" cy="347472"/>
          </a:xfrm>
          <a:prstGeom prst="rect">
            <a:avLst/>
          </a:prstGeom>
        </p:spPr>
      </p:pic>
      <p:sp>
        <p:nvSpPr>
          <p:cNvPr id="17" name="Text 12"/>
          <p:cNvSpPr/>
          <p:nvPr/>
        </p:nvSpPr>
        <p:spPr>
          <a:xfrm>
            <a:off x="5349240" y="3392424"/>
            <a:ext cx="3337560" cy="384048"/>
          </a:xfrm>
          <a:prstGeom prst="rect">
            <a:avLst/>
          </a:prstGeom>
          <a:noFill/>
          <a:ln/>
        </p:spPr>
        <p:txBody>
          <a:bodyPr wrap="square" lIns="0" tIns="0" rIns="0" bIns="0" rtlCol="0" anchor="ctr"/>
          <a:lstStyle/>
          <a:p>
            <a:pPr marL="0" indent="0">
              <a:buNone/>
            </a:pPr>
            <a:r>
              <a:rPr lang="en-US" sz="1200" b="1" dirty="0">
                <a:solidFill>
                  <a:srgbClr val="1B2A4A"/>
                </a:solidFill>
                <a:latin typeface="Cambria" pitchFamily="34" charset="0"/>
                <a:ea typeface="Cambria" pitchFamily="34" charset="-122"/>
                <a:cs typeface="Cambria" pitchFamily="34" charset="-120"/>
              </a:rPr>
              <a:t>LLM-Assisted Population</a:t>
            </a:r>
            <a:endParaRPr lang="en-US" sz="1200" dirty="0"/>
          </a:p>
        </p:txBody>
      </p:sp>
      <p:sp>
        <p:nvSpPr>
          <p:cNvPr id="18" name="Text 13"/>
          <p:cNvSpPr/>
          <p:nvPr/>
        </p:nvSpPr>
        <p:spPr>
          <a:xfrm>
            <a:off x="4919472" y="3849624"/>
            <a:ext cx="3749040" cy="411480"/>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Language models extract structured individuals from unstructured educational text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4A"/>
          </a:solidFill>
          <a:ln w="12700">
            <a:solidFill>
              <a:srgbClr val="1B2A4A"/>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Project Objectives &amp; Contributions</a:t>
            </a:r>
            <a:endParaRPr lang="en-US" sz="2200" dirty="0"/>
          </a:p>
        </p:txBody>
      </p:sp>
      <p:sp>
        <p:nvSpPr>
          <p:cNvPr id="4" name="Shape 2"/>
          <p:cNvSpPr/>
          <p:nvPr/>
        </p:nvSpPr>
        <p:spPr>
          <a:xfrm>
            <a:off x="320040" y="822960"/>
            <a:ext cx="4160520" cy="1234440"/>
          </a:xfrm>
          <a:prstGeom prst="roundRect">
            <a:avLst>
              <a:gd name="adj" fmla="val 7407"/>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sp>
        <p:nvSpPr>
          <p:cNvPr id="5" name="Shape 3"/>
          <p:cNvSpPr/>
          <p:nvPr/>
        </p:nvSpPr>
        <p:spPr>
          <a:xfrm>
            <a:off x="457200" y="960120"/>
            <a:ext cx="420624" cy="420624"/>
          </a:xfrm>
          <a:prstGeom prst="ellipse">
            <a:avLst/>
          </a:prstGeom>
          <a:solidFill>
            <a:srgbClr val="1B2A4A"/>
          </a:solidFill>
          <a:ln w="12700">
            <a:solidFill>
              <a:srgbClr val="1B2A4A"/>
            </a:solidFill>
            <a:prstDash val="solid"/>
          </a:ln>
        </p:spPr>
      </p:sp>
      <p:sp>
        <p:nvSpPr>
          <p:cNvPr id="6" name="Text 4"/>
          <p:cNvSpPr/>
          <p:nvPr/>
        </p:nvSpPr>
        <p:spPr>
          <a:xfrm>
            <a:off x="457200" y="960120"/>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01</a:t>
            </a:r>
            <a:endParaRPr lang="en-US" sz="1100" dirty="0"/>
          </a:p>
        </p:txBody>
      </p:sp>
      <p:pic>
        <p:nvPicPr>
          <p:cNvPr id="7" name="Image 0" descr="preencoded.png"/>
          <p:cNvPicPr>
            <a:picLocks noChangeAspect="1"/>
          </p:cNvPicPr>
          <p:nvPr/>
        </p:nvPicPr>
        <p:blipFill>
          <a:blip r:embed="rId3"/>
          <a:stretch>
            <a:fillRect/>
          </a:stretch>
        </p:blipFill>
        <p:spPr>
          <a:xfrm>
            <a:off x="941832" y="1005840"/>
            <a:ext cx="320040" cy="320040"/>
          </a:xfrm>
          <a:prstGeom prst="rect">
            <a:avLst/>
          </a:prstGeom>
        </p:spPr>
      </p:pic>
      <p:sp>
        <p:nvSpPr>
          <p:cNvPr id="8" name="Text 5"/>
          <p:cNvSpPr/>
          <p:nvPr/>
        </p:nvSpPr>
        <p:spPr>
          <a:xfrm>
            <a:off x="1325880" y="932688"/>
            <a:ext cx="3017520" cy="384048"/>
          </a:xfrm>
          <a:prstGeom prst="rect">
            <a:avLst/>
          </a:prstGeom>
          <a:noFill/>
          <a:ln/>
        </p:spPr>
        <p:txBody>
          <a:bodyPr wrap="square" lIns="0" tIns="0" rIns="0" bIns="0" rtlCol="0" anchor="ctr"/>
          <a:lstStyle/>
          <a:p>
            <a:pPr marL="0" indent="0">
              <a:buNone/>
            </a:pPr>
            <a:r>
              <a:rPr lang="en-US" sz="1200" b="1" dirty="0">
                <a:solidFill>
                  <a:srgbClr val="1B2A4A"/>
                </a:solidFill>
                <a:latin typeface="Cambria" pitchFamily="34" charset="0"/>
                <a:ea typeface="Cambria" pitchFamily="34" charset="-122"/>
                <a:cs typeface="Cambria" pitchFamily="34" charset="-120"/>
              </a:rPr>
              <a:t>OWL 2 DL Ontology</a:t>
            </a:r>
            <a:endParaRPr lang="en-US" sz="1200" dirty="0"/>
          </a:p>
        </p:txBody>
      </p:sp>
      <p:sp>
        <p:nvSpPr>
          <p:cNvPr id="9" name="Text 6"/>
          <p:cNvSpPr/>
          <p:nvPr/>
        </p:nvSpPr>
        <p:spPr>
          <a:xfrm>
            <a:off x="457200" y="1389888"/>
            <a:ext cx="3886200" cy="594360"/>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Design a formally grounded TBox with 11 classes, 18 object properties, and 15 datatype properties following METHONTOLOGY</a:t>
            </a:r>
            <a:endParaRPr lang="en-US" sz="1000" dirty="0"/>
          </a:p>
        </p:txBody>
      </p:sp>
      <p:sp>
        <p:nvSpPr>
          <p:cNvPr id="10" name="Shape 7"/>
          <p:cNvSpPr/>
          <p:nvPr/>
        </p:nvSpPr>
        <p:spPr>
          <a:xfrm>
            <a:off x="320040" y="2194560"/>
            <a:ext cx="4160520" cy="1234440"/>
          </a:xfrm>
          <a:prstGeom prst="roundRect">
            <a:avLst>
              <a:gd name="adj" fmla="val 7407"/>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sp>
        <p:nvSpPr>
          <p:cNvPr id="11" name="Shape 8"/>
          <p:cNvSpPr/>
          <p:nvPr/>
        </p:nvSpPr>
        <p:spPr>
          <a:xfrm>
            <a:off x="457200" y="2331720"/>
            <a:ext cx="420624" cy="420624"/>
          </a:xfrm>
          <a:prstGeom prst="ellipse">
            <a:avLst/>
          </a:prstGeom>
          <a:solidFill>
            <a:srgbClr val="1B2A4A"/>
          </a:solidFill>
          <a:ln w="12700">
            <a:solidFill>
              <a:srgbClr val="1B2A4A"/>
            </a:solidFill>
            <a:prstDash val="solid"/>
          </a:ln>
        </p:spPr>
      </p:sp>
      <p:sp>
        <p:nvSpPr>
          <p:cNvPr id="12" name="Text 9"/>
          <p:cNvSpPr/>
          <p:nvPr/>
        </p:nvSpPr>
        <p:spPr>
          <a:xfrm>
            <a:off x="457200" y="2331720"/>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02</a:t>
            </a:r>
            <a:endParaRPr lang="en-US" sz="1100" dirty="0"/>
          </a:p>
        </p:txBody>
      </p:sp>
      <p:pic>
        <p:nvPicPr>
          <p:cNvPr id="13" name="Image 1" descr="preencoded.png"/>
          <p:cNvPicPr>
            <a:picLocks noChangeAspect="1"/>
          </p:cNvPicPr>
          <p:nvPr/>
        </p:nvPicPr>
        <p:blipFill>
          <a:blip r:embed="rId4"/>
          <a:stretch>
            <a:fillRect/>
          </a:stretch>
        </p:blipFill>
        <p:spPr>
          <a:xfrm>
            <a:off x="941832" y="2377440"/>
            <a:ext cx="320040" cy="320040"/>
          </a:xfrm>
          <a:prstGeom prst="rect">
            <a:avLst/>
          </a:prstGeom>
        </p:spPr>
      </p:pic>
      <p:sp>
        <p:nvSpPr>
          <p:cNvPr id="14" name="Text 10"/>
          <p:cNvSpPr/>
          <p:nvPr/>
        </p:nvSpPr>
        <p:spPr>
          <a:xfrm>
            <a:off x="1325880" y="2304288"/>
            <a:ext cx="3017520" cy="384048"/>
          </a:xfrm>
          <a:prstGeom prst="rect">
            <a:avLst/>
          </a:prstGeom>
          <a:noFill/>
          <a:ln/>
        </p:spPr>
        <p:txBody>
          <a:bodyPr wrap="square" lIns="0" tIns="0" rIns="0" bIns="0" rtlCol="0" anchor="ctr"/>
          <a:lstStyle/>
          <a:p>
            <a:pPr marL="0" indent="0">
              <a:buNone/>
            </a:pPr>
            <a:r>
              <a:rPr lang="en-US" sz="1200" b="1" dirty="0">
                <a:solidFill>
                  <a:srgbClr val="1B2A4A"/>
                </a:solidFill>
                <a:latin typeface="Cambria" pitchFamily="34" charset="0"/>
                <a:ea typeface="Cambria" pitchFamily="34" charset="-122"/>
                <a:cs typeface="Cambria" pitchFamily="34" charset="-120"/>
              </a:rPr>
              <a:t>Knowledge Graph</a:t>
            </a:r>
            <a:endParaRPr lang="en-US" sz="1200" dirty="0"/>
          </a:p>
        </p:txBody>
      </p:sp>
      <p:sp>
        <p:nvSpPr>
          <p:cNvPr id="15" name="Text 11"/>
          <p:cNvSpPr/>
          <p:nvPr/>
        </p:nvSpPr>
        <p:spPr>
          <a:xfrm>
            <a:off x="457200" y="2761488"/>
            <a:ext cx="3886200" cy="594360"/>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Populate ABox with 7 students, 2 courses, 4 assignments, 5 submissions, 5 grades, and 4 feedback instances</a:t>
            </a:r>
            <a:endParaRPr lang="en-US" sz="1000" dirty="0"/>
          </a:p>
        </p:txBody>
      </p:sp>
      <p:sp>
        <p:nvSpPr>
          <p:cNvPr id="16" name="Shape 12"/>
          <p:cNvSpPr/>
          <p:nvPr/>
        </p:nvSpPr>
        <p:spPr>
          <a:xfrm>
            <a:off x="320040" y="3566160"/>
            <a:ext cx="4160520" cy="1234440"/>
          </a:xfrm>
          <a:prstGeom prst="roundRect">
            <a:avLst>
              <a:gd name="adj" fmla="val 7407"/>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sp>
        <p:nvSpPr>
          <p:cNvPr id="17" name="Shape 13"/>
          <p:cNvSpPr/>
          <p:nvPr/>
        </p:nvSpPr>
        <p:spPr>
          <a:xfrm>
            <a:off x="457200" y="3703320"/>
            <a:ext cx="420624" cy="420624"/>
          </a:xfrm>
          <a:prstGeom prst="ellipse">
            <a:avLst/>
          </a:prstGeom>
          <a:solidFill>
            <a:srgbClr val="1B2A4A"/>
          </a:solidFill>
          <a:ln w="12700">
            <a:solidFill>
              <a:srgbClr val="1B2A4A"/>
            </a:solidFill>
            <a:prstDash val="solid"/>
          </a:ln>
        </p:spPr>
      </p:sp>
      <p:sp>
        <p:nvSpPr>
          <p:cNvPr id="18" name="Text 14"/>
          <p:cNvSpPr/>
          <p:nvPr/>
        </p:nvSpPr>
        <p:spPr>
          <a:xfrm>
            <a:off x="457200" y="3703320"/>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03</a:t>
            </a:r>
            <a:endParaRPr lang="en-US" sz="1100" dirty="0"/>
          </a:p>
        </p:txBody>
      </p:sp>
      <p:pic>
        <p:nvPicPr>
          <p:cNvPr id="19" name="Image 2" descr="preencoded.png"/>
          <p:cNvPicPr>
            <a:picLocks noChangeAspect="1"/>
          </p:cNvPicPr>
          <p:nvPr/>
        </p:nvPicPr>
        <p:blipFill>
          <a:blip r:embed="rId5"/>
          <a:stretch>
            <a:fillRect/>
          </a:stretch>
        </p:blipFill>
        <p:spPr>
          <a:xfrm>
            <a:off x="941832" y="3749040"/>
            <a:ext cx="320040" cy="320040"/>
          </a:xfrm>
          <a:prstGeom prst="rect">
            <a:avLst/>
          </a:prstGeom>
        </p:spPr>
      </p:pic>
      <p:sp>
        <p:nvSpPr>
          <p:cNvPr id="20" name="Text 15"/>
          <p:cNvSpPr/>
          <p:nvPr/>
        </p:nvSpPr>
        <p:spPr>
          <a:xfrm>
            <a:off x="1325880" y="3675888"/>
            <a:ext cx="3017520" cy="384048"/>
          </a:xfrm>
          <a:prstGeom prst="rect">
            <a:avLst/>
          </a:prstGeom>
          <a:noFill/>
          <a:ln/>
        </p:spPr>
        <p:txBody>
          <a:bodyPr wrap="square" lIns="0" tIns="0" rIns="0" bIns="0" rtlCol="0" anchor="ctr"/>
          <a:lstStyle/>
          <a:p>
            <a:pPr marL="0" indent="0">
              <a:buNone/>
            </a:pPr>
            <a:r>
              <a:rPr lang="en-US" sz="1200" b="1" dirty="0">
                <a:solidFill>
                  <a:srgbClr val="1B2A4A"/>
                </a:solidFill>
                <a:latin typeface="Cambria" pitchFamily="34" charset="0"/>
                <a:ea typeface="Cambria" pitchFamily="34" charset="-122"/>
                <a:cs typeface="Cambria" pitchFamily="34" charset="-120"/>
              </a:rPr>
              <a:t>SPARQL Querying</a:t>
            </a:r>
            <a:endParaRPr lang="en-US" sz="1200" dirty="0"/>
          </a:p>
        </p:txBody>
      </p:sp>
      <p:sp>
        <p:nvSpPr>
          <p:cNvPr id="21" name="Text 16"/>
          <p:cNvSpPr/>
          <p:nvPr/>
        </p:nvSpPr>
        <p:spPr>
          <a:xfrm>
            <a:off x="457200" y="4133088"/>
            <a:ext cx="3886200" cy="594360"/>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18 competency questions answered including aggregation, transitive path queries, and LateSubmission detection</a:t>
            </a:r>
            <a:endParaRPr lang="en-US" sz="1000" dirty="0"/>
          </a:p>
        </p:txBody>
      </p:sp>
      <p:sp>
        <p:nvSpPr>
          <p:cNvPr id="22" name="Shape 17"/>
          <p:cNvSpPr/>
          <p:nvPr/>
        </p:nvSpPr>
        <p:spPr>
          <a:xfrm>
            <a:off x="4754880" y="822960"/>
            <a:ext cx="4160520" cy="1234440"/>
          </a:xfrm>
          <a:prstGeom prst="roundRect">
            <a:avLst>
              <a:gd name="adj" fmla="val 7407"/>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sp>
        <p:nvSpPr>
          <p:cNvPr id="23" name="Shape 18"/>
          <p:cNvSpPr/>
          <p:nvPr/>
        </p:nvSpPr>
        <p:spPr>
          <a:xfrm>
            <a:off x="4892040" y="960120"/>
            <a:ext cx="420624" cy="420624"/>
          </a:xfrm>
          <a:prstGeom prst="ellipse">
            <a:avLst/>
          </a:prstGeom>
          <a:solidFill>
            <a:srgbClr val="1B2A4A"/>
          </a:solidFill>
          <a:ln w="12700">
            <a:solidFill>
              <a:srgbClr val="1B2A4A"/>
            </a:solidFill>
            <a:prstDash val="solid"/>
          </a:ln>
        </p:spPr>
      </p:sp>
      <p:sp>
        <p:nvSpPr>
          <p:cNvPr id="24" name="Text 19"/>
          <p:cNvSpPr/>
          <p:nvPr/>
        </p:nvSpPr>
        <p:spPr>
          <a:xfrm>
            <a:off x="4892040" y="960120"/>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04</a:t>
            </a:r>
            <a:endParaRPr lang="en-US" sz="1100" dirty="0"/>
          </a:p>
        </p:txBody>
      </p:sp>
      <p:pic>
        <p:nvPicPr>
          <p:cNvPr id="25" name="Image 3" descr="preencoded.png"/>
          <p:cNvPicPr>
            <a:picLocks noChangeAspect="1"/>
          </p:cNvPicPr>
          <p:nvPr/>
        </p:nvPicPr>
        <p:blipFill>
          <a:blip r:embed="rId6"/>
          <a:stretch>
            <a:fillRect/>
          </a:stretch>
        </p:blipFill>
        <p:spPr>
          <a:xfrm>
            <a:off x="5376672" y="1005840"/>
            <a:ext cx="320040" cy="320040"/>
          </a:xfrm>
          <a:prstGeom prst="rect">
            <a:avLst/>
          </a:prstGeom>
        </p:spPr>
      </p:pic>
      <p:sp>
        <p:nvSpPr>
          <p:cNvPr id="26" name="Text 20"/>
          <p:cNvSpPr/>
          <p:nvPr/>
        </p:nvSpPr>
        <p:spPr>
          <a:xfrm>
            <a:off x="5760720" y="932688"/>
            <a:ext cx="3017520" cy="384048"/>
          </a:xfrm>
          <a:prstGeom prst="rect">
            <a:avLst/>
          </a:prstGeom>
          <a:noFill/>
          <a:ln/>
        </p:spPr>
        <p:txBody>
          <a:bodyPr wrap="square" lIns="0" tIns="0" rIns="0" bIns="0" rtlCol="0" anchor="ctr"/>
          <a:lstStyle/>
          <a:p>
            <a:pPr marL="0" indent="0">
              <a:buNone/>
            </a:pPr>
            <a:r>
              <a:rPr lang="en-US" sz="1200" b="1" dirty="0">
                <a:solidFill>
                  <a:srgbClr val="1B2A4A"/>
                </a:solidFill>
                <a:latin typeface="Cambria" pitchFamily="34" charset="0"/>
                <a:ea typeface="Cambria" pitchFamily="34" charset="-122"/>
                <a:cs typeface="Cambria" pitchFamily="34" charset="-120"/>
              </a:rPr>
              <a:t>SHACL Validation</a:t>
            </a:r>
            <a:endParaRPr lang="en-US" sz="1200" dirty="0"/>
          </a:p>
        </p:txBody>
      </p:sp>
      <p:sp>
        <p:nvSpPr>
          <p:cNvPr id="27" name="Text 21"/>
          <p:cNvSpPr/>
          <p:nvPr/>
        </p:nvSpPr>
        <p:spPr>
          <a:xfrm>
            <a:off x="4892040" y="1389888"/>
            <a:ext cx="3886200" cy="594360"/>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4 node shapes enforce structural constraints; deliberate violations confirmed correct detection</a:t>
            </a:r>
            <a:endParaRPr lang="en-US" sz="1000" dirty="0"/>
          </a:p>
        </p:txBody>
      </p:sp>
      <p:sp>
        <p:nvSpPr>
          <p:cNvPr id="28" name="Shape 22"/>
          <p:cNvSpPr/>
          <p:nvPr/>
        </p:nvSpPr>
        <p:spPr>
          <a:xfrm>
            <a:off x="4754880" y="2194560"/>
            <a:ext cx="4160520" cy="1234440"/>
          </a:xfrm>
          <a:prstGeom prst="roundRect">
            <a:avLst>
              <a:gd name="adj" fmla="val 7407"/>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sp>
        <p:nvSpPr>
          <p:cNvPr id="29" name="Shape 23"/>
          <p:cNvSpPr/>
          <p:nvPr/>
        </p:nvSpPr>
        <p:spPr>
          <a:xfrm>
            <a:off x="4892040" y="2331720"/>
            <a:ext cx="420624" cy="420624"/>
          </a:xfrm>
          <a:prstGeom prst="ellipse">
            <a:avLst/>
          </a:prstGeom>
          <a:solidFill>
            <a:srgbClr val="1B2A4A"/>
          </a:solidFill>
          <a:ln w="12700">
            <a:solidFill>
              <a:srgbClr val="1B2A4A"/>
            </a:solidFill>
            <a:prstDash val="solid"/>
          </a:ln>
        </p:spPr>
      </p:sp>
      <p:sp>
        <p:nvSpPr>
          <p:cNvPr id="30" name="Text 24"/>
          <p:cNvSpPr/>
          <p:nvPr/>
        </p:nvSpPr>
        <p:spPr>
          <a:xfrm>
            <a:off x="4892040" y="2331720"/>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05</a:t>
            </a:r>
            <a:endParaRPr lang="en-US" sz="1100" dirty="0"/>
          </a:p>
        </p:txBody>
      </p:sp>
      <p:pic>
        <p:nvPicPr>
          <p:cNvPr id="31" name="Image 4" descr="preencoded.png"/>
          <p:cNvPicPr>
            <a:picLocks noChangeAspect="1"/>
          </p:cNvPicPr>
          <p:nvPr/>
        </p:nvPicPr>
        <p:blipFill>
          <a:blip r:embed="rId7"/>
          <a:stretch>
            <a:fillRect/>
          </a:stretch>
        </p:blipFill>
        <p:spPr>
          <a:xfrm>
            <a:off x="5376672" y="2377440"/>
            <a:ext cx="320040" cy="320040"/>
          </a:xfrm>
          <a:prstGeom prst="rect">
            <a:avLst/>
          </a:prstGeom>
        </p:spPr>
      </p:pic>
      <p:sp>
        <p:nvSpPr>
          <p:cNvPr id="32" name="Text 25"/>
          <p:cNvSpPr/>
          <p:nvPr/>
        </p:nvSpPr>
        <p:spPr>
          <a:xfrm>
            <a:off x="5760720" y="2304288"/>
            <a:ext cx="3017520" cy="384048"/>
          </a:xfrm>
          <a:prstGeom prst="rect">
            <a:avLst/>
          </a:prstGeom>
          <a:noFill/>
          <a:ln/>
        </p:spPr>
        <p:txBody>
          <a:bodyPr wrap="square" lIns="0" tIns="0" rIns="0" bIns="0" rtlCol="0" anchor="ctr"/>
          <a:lstStyle/>
          <a:p>
            <a:pPr marL="0" indent="0">
              <a:buNone/>
            </a:pPr>
            <a:r>
              <a:rPr lang="en-US" sz="1200" b="1" dirty="0">
                <a:solidFill>
                  <a:srgbClr val="1B2A4A"/>
                </a:solidFill>
                <a:latin typeface="Cambria" pitchFamily="34" charset="0"/>
                <a:ea typeface="Cambria" pitchFamily="34" charset="-122"/>
                <a:cs typeface="Cambria" pitchFamily="34" charset="-120"/>
              </a:rPr>
              <a:t>LLM Integration</a:t>
            </a:r>
            <a:endParaRPr lang="en-US" sz="1200" dirty="0"/>
          </a:p>
        </p:txBody>
      </p:sp>
      <p:sp>
        <p:nvSpPr>
          <p:cNvPr id="33" name="Text 26"/>
          <p:cNvSpPr/>
          <p:nvPr/>
        </p:nvSpPr>
        <p:spPr>
          <a:xfrm>
            <a:off x="4892040" y="2761488"/>
            <a:ext cx="3886200" cy="594360"/>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Schema-aware pipeline: text → JSON → OWL/RDF → reasoner validation → SPARQL endpoint</a:t>
            </a:r>
            <a:endParaRPr lang="en-US" sz="1000" dirty="0"/>
          </a:p>
        </p:txBody>
      </p:sp>
      <p:sp>
        <p:nvSpPr>
          <p:cNvPr id="34" name="Shape 27"/>
          <p:cNvSpPr/>
          <p:nvPr/>
        </p:nvSpPr>
        <p:spPr>
          <a:xfrm>
            <a:off x="4754880" y="3566160"/>
            <a:ext cx="4160520" cy="1234440"/>
          </a:xfrm>
          <a:prstGeom prst="roundRect">
            <a:avLst>
              <a:gd name="adj" fmla="val 7407"/>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sp>
        <p:nvSpPr>
          <p:cNvPr id="35" name="Shape 28"/>
          <p:cNvSpPr/>
          <p:nvPr/>
        </p:nvSpPr>
        <p:spPr>
          <a:xfrm>
            <a:off x="4892040" y="3703320"/>
            <a:ext cx="420624" cy="420624"/>
          </a:xfrm>
          <a:prstGeom prst="ellipse">
            <a:avLst/>
          </a:prstGeom>
          <a:solidFill>
            <a:srgbClr val="1B2A4A"/>
          </a:solidFill>
          <a:ln w="12700">
            <a:solidFill>
              <a:srgbClr val="1B2A4A"/>
            </a:solidFill>
            <a:prstDash val="solid"/>
          </a:ln>
        </p:spPr>
      </p:sp>
      <p:sp>
        <p:nvSpPr>
          <p:cNvPr id="36" name="Text 29"/>
          <p:cNvSpPr/>
          <p:nvPr/>
        </p:nvSpPr>
        <p:spPr>
          <a:xfrm>
            <a:off x="4892040" y="3703320"/>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06</a:t>
            </a:r>
            <a:endParaRPr lang="en-US" sz="1100" dirty="0"/>
          </a:p>
        </p:txBody>
      </p:sp>
      <p:pic>
        <p:nvPicPr>
          <p:cNvPr id="37" name="Image 5" descr="preencoded.png"/>
          <p:cNvPicPr>
            <a:picLocks noChangeAspect="1"/>
          </p:cNvPicPr>
          <p:nvPr/>
        </p:nvPicPr>
        <p:blipFill>
          <a:blip r:embed="rId8"/>
          <a:stretch>
            <a:fillRect/>
          </a:stretch>
        </p:blipFill>
        <p:spPr>
          <a:xfrm>
            <a:off x="5376672" y="3749040"/>
            <a:ext cx="320040" cy="320040"/>
          </a:xfrm>
          <a:prstGeom prst="rect">
            <a:avLst/>
          </a:prstGeom>
        </p:spPr>
      </p:pic>
      <p:sp>
        <p:nvSpPr>
          <p:cNvPr id="38" name="Text 30"/>
          <p:cNvSpPr/>
          <p:nvPr/>
        </p:nvSpPr>
        <p:spPr>
          <a:xfrm>
            <a:off x="5760720" y="3675888"/>
            <a:ext cx="3017520" cy="384048"/>
          </a:xfrm>
          <a:prstGeom prst="rect">
            <a:avLst/>
          </a:prstGeom>
          <a:noFill/>
          <a:ln/>
        </p:spPr>
        <p:txBody>
          <a:bodyPr wrap="square" lIns="0" tIns="0" rIns="0" bIns="0" rtlCol="0" anchor="ctr"/>
          <a:lstStyle/>
          <a:p>
            <a:pPr marL="0" indent="0">
              <a:buNone/>
            </a:pPr>
            <a:r>
              <a:rPr lang="en-US" sz="1200" b="1" dirty="0">
                <a:solidFill>
                  <a:srgbClr val="1B2A4A"/>
                </a:solidFill>
                <a:latin typeface="Cambria" pitchFamily="34" charset="0"/>
                <a:ea typeface="Cambria" pitchFamily="34" charset="-122"/>
                <a:cs typeface="Cambria" pitchFamily="34" charset="-120"/>
              </a:rPr>
              <a:t>Documentation</a:t>
            </a:r>
            <a:endParaRPr lang="en-US" sz="1200" dirty="0"/>
          </a:p>
        </p:txBody>
      </p:sp>
      <p:sp>
        <p:nvSpPr>
          <p:cNvPr id="39" name="Text 31"/>
          <p:cNvSpPr/>
          <p:nvPr/>
        </p:nvSpPr>
        <p:spPr>
          <a:xfrm>
            <a:off x="4892040" y="4133088"/>
            <a:ext cx="3886200" cy="594360"/>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WIDOCO-generated HTML documentation; GitHub version control; OWL version 2.0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4A"/>
          </a:solidFill>
          <a:ln w="12700">
            <a:solidFill>
              <a:srgbClr val="1B2A4A"/>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Ontology Engineering Methodology</a:t>
            </a:r>
            <a:endParaRPr lang="en-US" sz="2200" dirty="0"/>
          </a:p>
        </p:txBody>
      </p:sp>
      <p:sp>
        <p:nvSpPr>
          <p:cNvPr id="4" name="Shape 2"/>
          <p:cNvSpPr/>
          <p:nvPr/>
        </p:nvSpPr>
        <p:spPr>
          <a:xfrm>
            <a:off x="320040" y="822960"/>
            <a:ext cx="1600200" cy="3200400"/>
          </a:xfrm>
          <a:prstGeom prst="roundRect">
            <a:avLst>
              <a:gd name="adj" fmla="val 5714"/>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sp>
        <p:nvSpPr>
          <p:cNvPr id="5" name="Shape 3"/>
          <p:cNvSpPr/>
          <p:nvPr/>
        </p:nvSpPr>
        <p:spPr>
          <a:xfrm>
            <a:off x="818388" y="886968"/>
            <a:ext cx="594360" cy="594360"/>
          </a:xfrm>
          <a:prstGeom prst="ellipse">
            <a:avLst/>
          </a:prstGeom>
          <a:solidFill>
            <a:srgbClr val="1B2A4A"/>
          </a:solidFill>
          <a:ln w="12700">
            <a:solidFill>
              <a:srgbClr val="1B2A4A"/>
            </a:solidFill>
            <a:prstDash val="solid"/>
          </a:ln>
        </p:spPr>
      </p:sp>
      <p:sp>
        <p:nvSpPr>
          <p:cNvPr id="6" name="Text 4"/>
          <p:cNvSpPr/>
          <p:nvPr/>
        </p:nvSpPr>
        <p:spPr>
          <a:xfrm>
            <a:off x="818388" y="886968"/>
            <a:ext cx="594360" cy="5943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411480" y="1600200"/>
            <a:ext cx="1417320" cy="502920"/>
          </a:xfrm>
          <a:prstGeom prst="rect">
            <a:avLst/>
          </a:prstGeom>
          <a:noFill/>
          <a:ln/>
        </p:spPr>
        <p:txBody>
          <a:bodyPr wrap="square" lIns="0" tIns="0" rIns="0" bIns="0" rtlCol="0" anchor="ctr"/>
          <a:lstStyle/>
          <a:p>
            <a:pPr marL="0" indent="0" algn="ctr">
              <a:buNone/>
            </a:pPr>
            <a:r>
              <a:rPr lang="en-US" sz="1100" b="1" dirty="0">
                <a:solidFill>
                  <a:srgbClr val="1B2A4A"/>
                </a:solidFill>
                <a:latin typeface="Cambria" pitchFamily="34" charset="0"/>
                <a:ea typeface="Cambria" pitchFamily="34" charset="-122"/>
                <a:cs typeface="Cambria" pitchFamily="34" charset="-120"/>
              </a:rPr>
              <a:t>Specification</a:t>
            </a:r>
            <a:endParaRPr lang="en-US" sz="1100" dirty="0"/>
          </a:p>
        </p:txBody>
      </p:sp>
      <p:sp>
        <p:nvSpPr>
          <p:cNvPr id="8" name="Text 6"/>
          <p:cNvSpPr/>
          <p:nvPr/>
        </p:nvSpPr>
        <p:spPr>
          <a:xfrm>
            <a:off x="429768" y="2148840"/>
            <a:ext cx="1371600" cy="1645920"/>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Define scope, competency</a:t>
            </a:r>
            <a:endParaRPr lang="en-US" sz="1000" dirty="0"/>
          </a:p>
          <a:p>
            <a:pPr marL="0" indent="0" algn="ctr">
              <a:buNone/>
            </a:pPr>
            <a:r>
              <a:rPr lang="en-US" sz="1000" dirty="0">
                <a:solidFill>
                  <a:srgbClr val="4A5568"/>
                </a:solidFill>
                <a:latin typeface="Calibri" pitchFamily="34" charset="0"/>
                <a:ea typeface="Calibri" pitchFamily="34" charset="-122"/>
                <a:cs typeface="Calibri" pitchFamily="34" charset="-120"/>
              </a:rPr>
              <a:t>questions, and requirements</a:t>
            </a:r>
            <a:endParaRPr lang="en-US" sz="1000" dirty="0"/>
          </a:p>
        </p:txBody>
      </p:sp>
      <p:sp>
        <p:nvSpPr>
          <p:cNvPr id="9" name="Shape 7"/>
          <p:cNvSpPr/>
          <p:nvPr/>
        </p:nvSpPr>
        <p:spPr>
          <a:xfrm>
            <a:off x="1920240" y="1993392"/>
            <a:ext cx="137160" cy="0"/>
          </a:xfrm>
          <a:prstGeom prst="line">
            <a:avLst/>
          </a:prstGeom>
          <a:noFill/>
          <a:ln w="25400">
            <a:solidFill>
              <a:srgbClr val="0E9AA7"/>
            </a:solidFill>
            <a:prstDash val="solid"/>
          </a:ln>
        </p:spPr>
      </p:sp>
      <p:sp>
        <p:nvSpPr>
          <p:cNvPr id="10" name="Text 8"/>
          <p:cNvSpPr/>
          <p:nvPr/>
        </p:nvSpPr>
        <p:spPr>
          <a:xfrm>
            <a:off x="2011680" y="1874520"/>
            <a:ext cx="274320" cy="274320"/>
          </a:xfrm>
          <a:prstGeom prst="rect">
            <a:avLst/>
          </a:prstGeom>
          <a:noFill/>
          <a:ln/>
        </p:spPr>
        <p:txBody>
          <a:bodyPr wrap="square" lIns="0" tIns="0" rIns="0" bIns="0" rtlCol="0" anchor="ctr"/>
          <a:lstStyle/>
          <a:p>
            <a:pPr marL="0" indent="0" algn="ctr">
              <a:buNone/>
            </a:pPr>
            <a:r>
              <a:rPr lang="en-US" sz="1600" b="1" dirty="0">
                <a:solidFill>
                  <a:srgbClr val="0E9AA7"/>
                </a:solidFill>
              </a:rPr>
              <a:t>›</a:t>
            </a:r>
            <a:endParaRPr lang="en-US" sz="1600" dirty="0"/>
          </a:p>
        </p:txBody>
      </p:sp>
      <p:sp>
        <p:nvSpPr>
          <p:cNvPr id="11" name="Shape 9"/>
          <p:cNvSpPr/>
          <p:nvPr/>
        </p:nvSpPr>
        <p:spPr>
          <a:xfrm>
            <a:off x="2057400" y="822960"/>
            <a:ext cx="1600200" cy="3200400"/>
          </a:xfrm>
          <a:prstGeom prst="roundRect">
            <a:avLst>
              <a:gd name="adj" fmla="val 5714"/>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sp>
        <p:nvSpPr>
          <p:cNvPr id="12" name="Shape 10"/>
          <p:cNvSpPr/>
          <p:nvPr/>
        </p:nvSpPr>
        <p:spPr>
          <a:xfrm>
            <a:off x="2555748" y="886968"/>
            <a:ext cx="594360" cy="594360"/>
          </a:xfrm>
          <a:prstGeom prst="ellipse">
            <a:avLst/>
          </a:prstGeom>
          <a:solidFill>
            <a:srgbClr val="1B2A4A"/>
          </a:solidFill>
          <a:ln w="12700">
            <a:solidFill>
              <a:srgbClr val="1B2A4A"/>
            </a:solidFill>
            <a:prstDash val="solid"/>
          </a:ln>
        </p:spPr>
      </p:sp>
      <p:sp>
        <p:nvSpPr>
          <p:cNvPr id="13" name="Text 11"/>
          <p:cNvSpPr/>
          <p:nvPr/>
        </p:nvSpPr>
        <p:spPr>
          <a:xfrm>
            <a:off x="2555748" y="886968"/>
            <a:ext cx="594360" cy="5943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p:nvPr/>
        </p:nvSpPr>
        <p:spPr>
          <a:xfrm>
            <a:off x="2148840" y="1600200"/>
            <a:ext cx="1417320" cy="502920"/>
          </a:xfrm>
          <a:prstGeom prst="rect">
            <a:avLst/>
          </a:prstGeom>
          <a:noFill/>
          <a:ln/>
        </p:spPr>
        <p:txBody>
          <a:bodyPr wrap="square" lIns="0" tIns="0" rIns="0" bIns="0" rtlCol="0" anchor="ctr"/>
          <a:lstStyle/>
          <a:p>
            <a:pPr marL="0" indent="0" algn="ctr">
              <a:buNone/>
            </a:pPr>
            <a:r>
              <a:rPr lang="en-US" sz="1100" b="1" dirty="0">
                <a:solidFill>
                  <a:srgbClr val="1B2A4A"/>
                </a:solidFill>
                <a:latin typeface="Cambria" pitchFamily="34" charset="0"/>
                <a:ea typeface="Cambria" pitchFamily="34" charset="-122"/>
                <a:cs typeface="Cambria" pitchFamily="34" charset="-120"/>
              </a:rPr>
              <a:t>Conceptualisation</a:t>
            </a:r>
            <a:endParaRPr lang="en-US" sz="1100" dirty="0"/>
          </a:p>
        </p:txBody>
      </p:sp>
      <p:sp>
        <p:nvSpPr>
          <p:cNvPr id="15" name="Text 13"/>
          <p:cNvSpPr/>
          <p:nvPr/>
        </p:nvSpPr>
        <p:spPr>
          <a:xfrm>
            <a:off x="2167128" y="2148840"/>
            <a:ext cx="1371600" cy="1645920"/>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Identify classes, relations,</a:t>
            </a:r>
            <a:endParaRPr lang="en-US" sz="1000" dirty="0"/>
          </a:p>
          <a:p>
            <a:pPr marL="0" indent="0" algn="ctr">
              <a:buNone/>
            </a:pPr>
            <a:r>
              <a:rPr lang="en-US" sz="1000" dirty="0">
                <a:solidFill>
                  <a:srgbClr val="4A5568"/>
                </a:solidFill>
                <a:latin typeface="Calibri" pitchFamily="34" charset="0"/>
                <a:ea typeface="Calibri" pitchFamily="34" charset="-122"/>
                <a:cs typeface="Calibri" pitchFamily="34" charset="-120"/>
              </a:rPr>
              <a:t>and axioms</a:t>
            </a:r>
            <a:endParaRPr lang="en-US" sz="1000" dirty="0"/>
          </a:p>
        </p:txBody>
      </p:sp>
      <p:sp>
        <p:nvSpPr>
          <p:cNvPr id="16" name="Shape 14"/>
          <p:cNvSpPr/>
          <p:nvPr/>
        </p:nvSpPr>
        <p:spPr>
          <a:xfrm>
            <a:off x="3657600" y="1993392"/>
            <a:ext cx="137160" cy="0"/>
          </a:xfrm>
          <a:prstGeom prst="line">
            <a:avLst/>
          </a:prstGeom>
          <a:noFill/>
          <a:ln w="25400">
            <a:solidFill>
              <a:srgbClr val="0E9AA7"/>
            </a:solidFill>
            <a:prstDash val="solid"/>
          </a:ln>
        </p:spPr>
      </p:sp>
      <p:sp>
        <p:nvSpPr>
          <p:cNvPr id="17" name="Text 15"/>
          <p:cNvSpPr/>
          <p:nvPr/>
        </p:nvSpPr>
        <p:spPr>
          <a:xfrm>
            <a:off x="3749040" y="1874520"/>
            <a:ext cx="274320" cy="274320"/>
          </a:xfrm>
          <a:prstGeom prst="rect">
            <a:avLst/>
          </a:prstGeom>
          <a:noFill/>
          <a:ln/>
        </p:spPr>
        <p:txBody>
          <a:bodyPr wrap="square" lIns="0" tIns="0" rIns="0" bIns="0" rtlCol="0" anchor="ctr"/>
          <a:lstStyle/>
          <a:p>
            <a:pPr marL="0" indent="0" algn="ctr">
              <a:buNone/>
            </a:pPr>
            <a:r>
              <a:rPr lang="en-US" sz="1600" b="1" dirty="0">
                <a:solidFill>
                  <a:srgbClr val="0E9AA7"/>
                </a:solidFill>
              </a:rPr>
              <a:t>›</a:t>
            </a:r>
            <a:endParaRPr lang="en-US" sz="1600" dirty="0"/>
          </a:p>
        </p:txBody>
      </p:sp>
      <p:sp>
        <p:nvSpPr>
          <p:cNvPr id="18" name="Shape 16"/>
          <p:cNvSpPr/>
          <p:nvPr/>
        </p:nvSpPr>
        <p:spPr>
          <a:xfrm>
            <a:off x="3794760" y="822960"/>
            <a:ext cx="1600200" cy="3200400"/>
          </a:xfrm>
          <a:prstGeom prst="roundRect">
            <a:avLst>
              <a:gd name="adj" fmla="val 5714"/>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sp>
        <p:nvSpPr>
          <p:cNvPr id="19" name="Shape 17"/>
          <p:cNvSpPr/>
          <p:nvPr/>
        </p:nvSpPr>
        <p:spPr>
          <a:xfrm>
            <a:off x="4293108" y="886968"/>
            <a:ext cx="594360" cy="594360"/>
          </a:xfrm>
          <a:prstGeom prst="ellipse">
            <a:avLst/>
          </a:prstGeom>
          <a:solidFill>
            <a:srgbClr val="1B2A4A"/>
          </a:solidFill>
          <a:ln w="12700">
            <a:solidFill>
              <a:srgbClr val="1B2A4A"/>
            </a:solidFill>
            <a:prstDash val="solid"/>
          </a:ln>
        </p:spPr>
      </p:sp>
      <p:sp>
        <p:nvSpPr>
          <p:cNvPr id="20" name="Text 18"/>
          <p:cNvSpPr/>
          <p:nvPr/>
        </p:nvSpPr>
        <p:spPr>
          <a:xfrm>
            <a:off x="4293108" y="886968"/>
            <a:ext cx="594360" cy="5943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1" name="Text 19"/>
          <p:cNvSpPr/>
          <p:nvPr/>
        </p:nvSpPr>
        <p:spPr>
          <a:xfrm>
            <a:off x="3886200" y="1600200"/>
            <a:ext cx="1417320" cy="502920"/>
          </a:xfrm>
          <a:prstGeom prst="rect">
            <a:avLst/>
          </a:prstGeom>
          <a:noFill/>
          <a:ln/>
        </p:spPr>
        <p:txBody>
          <a:bodyPr wrap="square" lIns="0" tIns="0" rIns="0" bIns="0" rtlCol="0" anchor="ctr"/>
          <a:lstStyle/>
          <a:p>
            <a:pPr marL="0" indent="0" algn="ctr">
              <a:buNone/>
            </a:pPr>
            <a:r>
              <a:rPr lang="en-US" sz="1100" b="1" dirty="0">
                <a:solidFill>
                  <a:srgbClr val="1B2A4A"/>
                </a:solidFill>
                <a:latin typeface="Cambria" pitchFamily="34" charset="0"/>
                <a:ea typeface="Cambria" pitchFamily="34" charset="-122"/>
                <a:cs typeface="Cambria" pitchFamily="34" charset="-120"/>
              </a:rPr>
              <a:t>Formalisation</a:t>
            </a:r>
            <a:endParaRPr lang="en-US" sz="1100" dirty="0"/>
          </a:p>
        </p:txBody>
      </p:sp>
      <p:sp>
        <p:nvSpPr>
          <p:cNvPr id="22" name="Text 20"/>
          <p:cNvSpPr/>
          <p:nvPr/>
        </p:nvSpPr>
        <p:spPr>
          <a:xfrm>
            <a:off x="3904488" y="2148840"/>
            <a:ext cx="1371600" cy="1645920"/>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OWL 2 DL encoding;</a:t>
            </a:r>
            <a:endParaRPr lang="en-US" sz="1000" dirty="0"/>
          </a:p>
          <a:p>
            <a:pPr marL="0" indent="0" algn="ctr">
              <a:buNone/>
            </a:pPr>
            <a:r>
              <a:rPr lang="en-US" sz="1000" dirty="0">
                <a:solidFill>
                  <a:srgbClr val="4A5568"/>
                </a:solidFill>
                <a:latin typeface="Calibri" pitchFamily="34" charset="0"/>
                <a:ea typeface="Calibri" pitchFamily="34" charset="-122"/>
                <a:cs typeface="Calibri" pitchFamily="34" charset="-120"/>
              </a:rPr>
              <a:t>disjointness &amp; property axioms</a:t>
            </a:r>
            <a:endParaRPr lang="en-US" sz="1000" dirty="0"/>
          </a:p>
        </p:txBody>
      </p:sp>
      <p:sp>
        <p:nvSpPr>
          <p:cNvPr id="23" name="Shape 21"/>
          <p:cNvSpPr/>
          <p:nvPr/>
        </p:nvSpPr>
        <p:spPr>
          <a:xfrm>
            <a:off x="5394960" y="1993392"/>
            <a:ext cx="137160" cy="0"/>
          </a:xfrm>
          <a:prstGeom prst="line">
            <a:avLst/>
          </a:prstGeom>
          <a:noFill/>
          <a:ln w="25400">
            <a:solidFill>
              <a:srgbClr val="0E9AA7"/>
            </a:solidFill>
            <a:prstDash val="solid"/>
          </a:ln>
        </p:spPr>
      </p:sp>
      <p:sp>
        <p:nvSpPr>
          <p:cNvPr id="24" name="Text 22"/>
          <p:cNvSpPr/>
          <p:nvPr/>
        </p:nvSpPr>
        <p:spPr>
          <a:xfrm>
            <a:off x="5486400" y="1874520"/>
            <a:ext cx="274320" cy="274320"/>
          </a:xfrm>
          <a:prstGeom prst="rect">
            <a:avLst/>
          </a:prstGeom>
          <a:noFill/>
          <a:ln/>
        </p:spPr>
        <p:txBody>
          <a:bodyPr wrap="square" lIns="0" tIns="0" rIns="0" bIns="0" rtlCol="0" anchor="ctr"/>
          <a:lstStyle/>
          <a:p>
            <a:pPr marL="0" indent="0" algn="ctr">
              <a:buNone/>
            </a:pPr>
            <a:r>
              <a:rPr lang="en-US" sz="1600" b="1" dirty="0">
                <a:solidFill>
                  <a:srgbClr val="0E9AA7"/>
                </a:solidFill>
              </a:rPr>
              <a:t>›</a:t>
            </a:r>
            <a:endParaRPr lang="en-US" sz="1600" dirty="0"/>
          </a:p>
        </p:txBody>
      </p:sp>
      <p:sp>
        <p:nvSpPr>
          <p:cNvPr id="25" name="Shape 23"/>
          <p:cNvSpPr/>
          <p:nvPr/>
        </p:nvSpPr>
        <p:spPr>
          <a:xfrm>
            <a:off x="5532120" y="822960"/>
            <a:ext cx="1600200" cy="3200400"/>
          </a:xfrm>
          <a:prstGeom prst="roundRect">
            <a:avLst>
              <a:gd name="adj" fmla="val 5714"/>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sp>
        <p:nvSpPr>
          <p:cNvPr id="26" name="Shape 24"/>
          <p:cNvSpPr/>
          <p:nvPr/>
        </p:nvSpPr>
        <p:spPr>
          <a:xfrm>
            <a:off x="6030468" y="886968"/>
            <a:ext cx="594360" cy="594360"/>
          </a:xfrm>
          <a:prstGeom prst="ellipse">
            <a:avLst/>
          </a:prstGeom>
          <a:solidFill>
            <a:srgbClr val="1B2A4A"/>
          </a:solidFill>
          <a:ln w="12700">
            <a:solidFill>
              <a:srgbClr val="1B2A4A"/>
            </a:solidFill>
            <a:prstDash val="solid"/>
          </a:ln>
        </p:spPr>
      </p:sp>
      <p:sp>
        <p:nvSpPr>
          <p:cNvPr id="27" name="Text 25"/>
          <p:cNvSpPr/>
          <p:nvPr/>
        </p:nvSpPr>
        <p:spPr>
          <a:xfrm>
            <a:off x="6030468" y="886968"/>
            <a:ext cx="594360" cy="5943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8" name="Text 26"/>
          <p:cNvSpPr/>
          <p:nvPr/>
        </p:nvSpPr>
        <p:spPr>
          <a:xfrm>
            <a:off x="5623560" y="1600200"/>
            <a:ext cx="1417320" cy="502920"/>
          </a:xfrm>
          <a:prstGeom prst="rect">
            <a:avLst/>
          </a:prstGeom>
          <a:noFill/>
          <a:ln/>
        </p:spPr>
        <p:txBody>
          <a:bodyPr wrap="square" lIns="0" tIns="0" rIns="0" bIns="0" rtlCol="0" anchor="ctr"/>
          <a:lstStyle/>
          <a:p>
            <a:pPr marL="0" indent="0" algn="ctr">
              <a:buNone/>
            </a:pPr>
            <a:r>
              <a:rPr lang="en-US" sz="1100" b="1" dirty="0">
                <a:solidFill>
                  <a:srgbClr val="1B2A4A"/>
                </a:solidFill>
                <a:latin typeface="Cambria" pitchFamily="34" charset="0"/>
                <a:ea typeface="Cambria" pitchFamily="34" charset="-122"/>
                <a:cs typeface="Cambria" pitchFamily="34" charset="-120"/>
              </a:rPr>
              <a:t>Implementation</a:t>
            </a:r>
            <a:endParaRPr lang="en-US" sz="1100" dirty="0"/>
          </a:p>
        </p:txBody>
      </p:sp>
      <p:sp>
        <p:nvSpPr>
          <p:cNvPr id="29" name="Text 27"/>
          <p:cNvSpPr/>
          <p:nvPr/>
        </p:nvSpPr>
        <p:spPr>
          <a:xfrm>
            <a:off x="5641848" y="2148840"/>
            <a:ext cx="1371600" cy="1645920"/>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Protégé 5.5; RDF/XML</a:t>
            </a:r>
            <a:endParaRPr lang="en-US" sz="1000" dirty="0"/>
          </a:p>
          <a:p>
            <a:pPr marL="0" indent="0" algn="ctr">
              <a:buNone/>
            </a:pPr>
            <a:r>
              <a:rPr lang="en-US" sz="1000" dirty="0">
                <a:solidFill>
                  <a:srgbClr val="4A5568"/>
                </a:solidFill>
                <a:latin typeface="Calibri" pitchFamily="34" charset="0"/>
                <a:ea typeface="Calibri" pitchFamily="34" charset="-122"/>
                <a:cs typeface="Calibri" pitchFamily="34" charset="-120"/>
              </a:rPr>
              <a:t>serialisation; ABox population</a:t>
            </a:r>
            <a:endParaRPr lang="en-US" sz="1000" dirty="0"/>
          </a:p>
        </p:txBody>
      </p:sp>
      <p:sp>
        <p:nvSpPr>
          <p:cNvPr id="30" name="Shape 28"/>
          <p:cNvSpPr/>
          <p:nvPr/>
        </p:nvSpPr>
        <p:spPr>
          <a:xfrm>
            <a:off x="7132320" y="1993392"/>
            <a:ext cx="137160" cy="0"/>
          </a:xfrm>
          <a:prstGeom prst="line">
            <a:avLst/>
          </a:prstGeom>
          <a:noFill/>
          <a:ln w="25400">
            <a:solidFill>
              <a:srgbClr val="0E9AA7"/>
            </a:solidFill>
            <a:prstDash val="solid"/>
          </a:ln>
        </p:spPr>
      </p:sp>
      <p:sp>
        <p:nvSpPr>
          <p:cNvPr id="31" name="Text 29"/>
          <p:cNvSpPr/>
          <p:nvPr/>
        </p:nvSpPr>
        <p:spPr>
          <a:xfrm>
            <a:off x="7223760" y="1874520"/>
            <a:ext cx="274320" cy="274320"/>
          </a:xfrm>
          <a:prstGeom prst="rect">
            <a:avLst/>
          </a:prstGeom>
          <a:noFill/>
          <a:ln/>
        </p:spPr>
        <p:txBody>
          <a:bodyPr wrap="square" lIns="0" tIns="0" rIns="0" bIns="0" rtlCol="0" anchor="ctr"/>
          <a:lstStyle/>
          <a:p>
            <a:pPr marL="0" indent="0" algn="ctr">
              <a:buNone/>
            </a:pPr>
            <a:r>
              <a:rPr lang="en-US" sz="1600" b="1" dirty="0">
                <a:solidFill>
                  <a:srgbClr val="0E9AA7"/>
                </a:solidFill>
              </a:rPr>
              <a:t>›</a:t>
            </a:r>
            <a:endParaRPr lang="en-US" sz="1600" dirty="0"/>
          </a:p>
        </p:txBody>
      </p:sp>
      <p:sp>
        <p:nvSpPr>
          <p:cNvPr id="32" name="Shape 30"/>
          <p:cNvSpPr/>
          <p:nvPr/>
        </p:nvSpPr>
        <p:spPr>
          <a:xfrm>
            <a:off x="7269480" y="822960"/>
            <a:ext cx="1600200" cy="3200400"/>
          </a:xfrm>
          <a:prstGeom prst="roundRect">
            <a:avLst>
              <a:gd name="adj" fmla="val 5714"/>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sp>
        <p:nvSpPr>
          <p:cNvPr id="33" name="Shape 31"/>
          <p:cNvSpPr/>
          <p:nvPr/>
        </p:nvSpPr>
        <p:spPr>
          <a:xfrm>
            <a:off x="7767828" y="886968"/>
            <a:ext cx="594360" cy="594360"/>
          </a:xfrm>
          <a:prstGeom prst="ellipse">
            <a:avLst/>
          </a:prstGeom>
          <a:solidFill>
            <a:srgbClr val="1B2A4A"/>
          </a:solidFill>
          <a:ln w="12700">
            <a:solidFill>
              <a:srgbClr val="1B2A4A"/>
            </a:solidFill>
            <a:prstDash val="solid"/>
          </a:ln>
        </p:spPr>
      </p:sp>
      <p:sp>
        <p:nvSpPr>
          <p:cNvPr id="34" name="Text 32"/>
          <p:cNvSpPr/>
          <p:nvPr/>
        </p:nvSpPr>
        <p:spPr>
          <a:xfrm>
            <a:off x="7767828" y="886968"/>
            <a:ext cx="594360" cy="5943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5" name="Text 33"/>
          <p:cNvSpPr/>
          <p:nvPr/>
        </p:nvSpPr>
        <p:spPr>
          <a:xfrm>
            <a:off x="7360920" y="1600200"/>
            <a:ext cx="1417320" cy="502920"/>
          </a:xfrm>
          <a:prstGeom prst="rect">
            <a:avLst/>
          </a:prstGeom>
          <a:noFill/>
          <a:ln/>
        </p:spPr>
        <p:txBody>
          <a:bodyPr wrap="square" lIns="0" tIns="0" rIns="0" bIns="0" rtlCol="0" anchor="ctr"/>
          <a:lstStyle/>
          <a:p>
            <a:pPr marL="0" indent="0" algn="ctr">
              <a:buNone/>
            </a:pPr>
            <a:r>
              <a:rPr lang="en-US" sz="1100" b="1" dirty="0">
                <a:solidFill>
                  <a:srgbClr val="1B2A4A"/>
                </a:solidFill>
                <a:latin typeface="Cambria" pitchFamily="34" charset="0"/>
                <a:ea typeface="Cambria" pitchFamily="34" charset="-122"/>
                <a:cs typeface="Cambria" pitchFamily="34" charset="-120"/>
              </a:rPr>
              <a:t>Evaluation</a:t>
            </a:r>
            <a:endParaRPr lang="en-US" sz="1100" dirty="0"/>
          </a:p>
        </p:txBody>
      </p:sp>
      <p:sp>
        <p:nvSpPr>
          <p:cNvPr id="36" name="Text 34"/>
          <p:cNvSpPr/>
          <p:nvPr/>
        </p:nvSpPr>
        <p:spPr>
          <a:xfrm>
            <a:off x="7379208" y="2148840"/>
            <a:ext cx="1371600" cy="1645920"/>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HermiT reasoning;</a:t>
            </a:r>
            <a:endParaRPr lang="en-US" sz="1000" dirty="0"/>
          </a:p>
          <a:p>
            <a:pPr marL="0" indent="0" algn="ctr">
              <a:buNone/>
            </a:pPr>
            <a:r>
              <a:rPr lang="en-US" sz="1000" dirty="0">
                <a:solidFill>
                  <a:srgbClr val="4A5568"/>
                </a:solidFill>
                <a:latin typeface="Calibri" pitchFamily="34" charset="0"/>
                <a:ea typeface="Calibri" pitchFamily="34" charset="-122"/>
                <a:cs typeface="Calibri" pitchFamily="34" charset="-120"/>
              </a:rPr>
              <a:t>SHACL validation; SPARQL tests</a:t>
            </a:r>
            <a:endParaRPr lang="en-US" sz="1000" dirty="0"/>
          </a:p>
        </p:txBody>
      </p:sp>
      <p:sp>
        <p:nvSpPr>
          <p:cNvPr id="37" name="Shape 35"/>
          <p:cNvSpPr/>
          <p:nvPr/>
        </p:nvSpPr>
        <p:spPr>
          <a:xfrm>
            <a:off x="320040" y="4160520"/>
            <a:ext cx="8503920" cy="658368"/>
          </a:xfrm>
          <a:prstGeom prst="roundRect">
            <a:avLst>
              <a:gd name="adj" fmla="val 11111"/>
            </a:avLst>
          </a:prstGeom>
          <a:solidFill>
            <a:srgbClr val="1B2A4A"/>
          </a:solidFill>
          <a:ln w="12700">
            <a:solidFill>
              <a:srgbClr val="1B2A4A"/>
            </a:solidFill>
            <a:prstDash val="solid"/>
          </a:ln>
        </p:spPr>
      </p:sp>
      <p:sp>
        <p:nvSpPr>
          <p:cNvPr id="38" name="Text 36"/>
          <p:cNvSpPr/>
          <p:nvPr/>
        </p:nvSpPr>
        <p:spPr>
          <a:xfrm>
            <a:off x="457200" y="4206240"/>
            <a:ext cx="1371600" cy="566928"/>
          </a:xfrm>
          <a:prstGeom prst="rect">
            <a:avLst/>
          </a:prstGeom>
          <a:noFill/>
          <a:ln/>
        </p:spPr>
        <p:txBody>
          <a:bodyPr wrap="square" lIns="0" tIns="0" rIns="0" bIns="0" rtlCol="0" anchor="ctr"/>
          <a:lstStyle/>
          <a:p>
            <a:pPr marL="0" indent="0" algn="ctr">
              <a:buNone/>
            </a:pPr>
            <a:r>
              <a:rPr lang="en-US" sz="1000" b="1" dirty="0">
                <a:solidFill>
                  <a:srgbClr val="0E9AA7"/>
                </a:solidFill>
                <a:latin typeface="Calibri" pitchFamily="34" charset="0"/>
                <a:ea typeface="Calibri" pitchFamily="34" charset="-122"/>
                <a:cs typeface="Calibri" pitchFamily="34" charset="-120"/>
              </a:rPr>
              <a:t>Protégé 5.5</a:t>
            </a:r>
            <a:endParaRPr lang="en-US" sz="1000" dirty="0"/>
          </a:p>
        </p:txBody>
      </p:sp>
      <p:sp>
        <p:nvSpPr>
          <p:cNvPr id="39" name="Text 37"/>
          <p:cNvSpPr/>
          <p:nvPr/>
        </p:nvSpPr>
        <p:spPr>
          <a:xfrm>
            <a:off x="1874520" y="4206240"/>
            <a:ext cx="1371600" cy="566928"/>
          </a:xfrm>
          <a:prstGeom prst="rect">
            <a:avLst/>
          </a:prstGeom>
          <a:noFill/>
          <a:ln/>
        </p:spPr>
        <p:txBody>
          <a:bodyPr wrap="square" lIns="0" tIns="0" rIns="0" bIns="0" rtlCol="0" anchor="ctr"/>
          <a:lstStyle/>
          <a:p>
            <a:pPr marL="0" indent="0" algn="ctr">
              <a:buNone/>
            </a:pPr>
            <a:r>
              <a:rPr lang="en-US" sz="1000" b="1" dirty="0">
                <a:solidFill>
                  <a:srgbClr val="0E9AA7"/>
                </a:solidFill>
                <a:latin typeface="Calibri" pitchFamily="34" charset="0"/>
                <a:ea typeface="Calibri" pitchFamily="34" charset="-122"/>
                <a:cs typeface="Calibri" pitchFamily="34" charset="-120"/>
              </a:rPr>
              <a:t>HermiT Reasoner</a:t>
            </a:r>
            <a:endParaRPr lang="en-US" sz="1000" dirty="0"/>
          </a:p>
        </p:txBody>
      </p:sp>
      <p:sp>
        <p:nvSpPr>
          <p:cNvPr id="40" name="Text 38"/>
          <p:cNvSpPr/>
          <p:nvPr/>
        </p:nvSpPr>
        <p:spPr>
          <a:xfrm>
            <a:off x="3291840" y="4206240"/>
            <a:ext cx="1371600" cy="566928"/>
          </a:xfrm>
          <a:prstGeom prst="rect">
            <a:avLst/>
          </a:prstGeom>
          <a:noFill/>
          <a:ln/>
        </p:spPr>
        <p:txBody>
          <a:bodyPr wrap="square" lIns="0" tIns="0" rIns="0" bIns="0" rtlCol="0" anchor="ctr"/>
          <a:lstStyle/>
          <a:p>
            <a:pPr marL="0" indent="0" algn="ctr">
              <a:buNone/>
            </a:pPr>
            <a:r>
              <a:rPr lang="en-US" sz="1000" b="1" dirty="0">
                <a:solidFill>
                  <a:srgbClr val="0E9AA7"/>
                </a:solidFill>
                <a:latin typeface="Calibri" pitchFamily="34" charset="0"/>
                <a:ea typeface="Calibri" pitchFamily="34" charset="-122"/>
                <a:cs typeface="Calibri" pitchFamily="34" charset="-120"/>
              </a:rPr>
              <a:t>SPARQL 1.1</a:t>
            </a:r>
            <a:endParaRPr lang="en-US" sz="1000" dirty="0"/>
          </a:p>
        </p:txBody>
      </p:sp>
      <p:sp>
        <p:nvSpPr>
          <p:cNvPr id="41" name="Text 39"/>
          <p:cNvSpPr/>
          <p:nvPr/>
        </p:nvSpPr>
        <p:spPr>
          <a:xfrm>
            <a:off x="4709160" y="4206240"/>
            <a:ext cx="1371600" cy="566928"/>
          </a:xfrm>
          <a:prstGeom prst="rect">
            <a:avLst/>
          </a:prstGeom>
          <a:noFill/>
          <a:ln/>
        </p:spPr>
        <p:txBody>
          <a:bodyPr wrap="square" lIns="0" tIns="0" rIns="0" bIns="0" rtlCol="0" anchor="ctr"/>
          <a:lstStyle/>
          <a:p>
            <a:pPr marL="0" indent="0" algn="ctr">
              <a:buNone/>
            </a:pPr>
            <a:r>
              <a:rPr lang="en-US" sz="1000" b="1" dirty="0">
                <a:solidFill>
                  <a:srgbClr val="0E9AA7"/>
                </a:solidFill>
                <a:latin typeface="Calibri" pitchFamily="34" charset="0"/>
                <a:ea typeface="Calibri" pitchFamily="34" charset="-122"/>
                <a:cs typeface="Calibri" pitchFamily="34" charset="-120"/>
              </a:rPr>
              <a:t>SHACL</a:t>
            </a:r>
            <a:endParaRPr lang="en-US" sz="1000" dirty="0"/>
          </a:p>
        </p:txBody>
      </p:sp>
      <p:sp>
        <p:nvSpPr>
          <p:cNvPr id="42" name="Text 40"/>
          <p:cNvSpPr/>
          <p:nvPr/>
        </p:nvSpPr>
        <p:spPr>
          <a:xfrm>
            <a:off x="6126480" y="4206240"/>
            <a:ext cx="1371600" cy="566928"/>
          </a:xfrm>
          <a:prstGeom prst="rect">
            <a:avLst/>
          </a:prstGeom>
          <a:noFill/>
          <a:ln/>
        </p:spPr>
        <p:txBody>
          <a:bodyPr wrap="square" lIns="0" tIns="0" rIns="0" bIns="0" rtlCol="0" anchor="ctr"/>
          <a:lstStyle/>
          <a:p>
            <a:pPr marL="0" indent="0" algn="ctr">
              <a:buNone/>
            </a:pPr>
            <a:r>
              <a:rPr lang="en-US" sz="1000" b="1" dirty="0">
                <a:solidFill>
                  <a:srgbClr val="0E9AA7"/>
                </a:solidFill>
                <a:latin typeface="Calibri" pitchFamily="34" charset="0"/>
                <a:ea typeface="Calibri" pitchFamily="34" charset="-122"/>
                <a:cs typeface="Calibri" pitchFamily="34" charset="-120"/>
              </a:rPr>
              <a:t>WIDOCO</a:t>
            </a:r>
            <a:endParaRPr lang="en-US" sz="1000" dirty="0"/>
          </a:p>
        </p:txBody>
      </p:sp>
      <p:sp>
        <p:nvSpPr>
          <p:cNvPr id="43" name="Text 41"/>
          <p:cNvSpPr/>
          <p:nvPr/>
        </p:nvSpPr>
        <p:spPr>
          <a:xfrm>
            <a:off x="7543800" y="4206240"/>
            <a:ext cx="1371600" cy="566928"/>
          </a:xfrm>
          <a:prstGeom prst="rect">
            <a:avLst/>
          </a:prstGeom>
          <a:noFill/>
          <a:ln/>
        </p:spPr>
        <p:txBody>
          <a:bodyPr wrap="square" lIns="0" tIns="0" rIns="0" bIns="0" rtlCol="0" anchor="ctr"/>
          <a:lstStyle/>
          <a:p>
            <a:pPr marL="0" indent="0" algn="ctr">
              <a:buNone/>
            </a:pPr>
            <a:r>
              <a:rPr lang="en-US" sz="1000" b="1" dirty="0">
                <a:solidFill>
                  <a:srgbClr val="0E9AA7"/>
                </a:solidFill>
                <a:latin typeface="Calibri" pitchFamily="34" charset="0"/>
                <a:ea typeface="Calibri" pitchFamily="34" charset="-122"/>
                <a:cs typeface="Calibri" pitchFamily="34" charset="-120"/>
              </a:rPr>
              <a:t>GitHub</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4A"/>
          </a:solidFill>
          <a:ln w="12700">
            <a:solidFill>
              <a:srgbClr val="1B2A4A"/>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Ontology Architecture &amp; Class Hierarchy</a:t>
            </a:r>
            <a:endParaRPr lang="en-US" sz="2200" dirty="0"/>
          </a:p>
        </p:txBody>
      </p:sp>
      <p:sp>
        <p:nvSpPr>
          <p:cNvPr id="4" name="Shape 2"/>
          <p:cNvSpPr/>
          <p:nvPr/>
        </p:nvSpPr>
        <p:spPr>
          <a:xfrm>
            <a:off x="320040" y="804672"/>
            <a:ext cx="1920240" cy="347472"/>
          </a:xfrm>
          <a:prstGeom prst="roundRect">
            <a:avLst>
              <a:gd name="adj" fmla="val 18421"/>
            </a:avLst>
          </a:prstGeom>
          <a:solidFill>
            <a:srgbClr val="0E9AA7"/>
          </a:solidFill>
          <a:ln w="12700">
            <a:solidFill>
              <a:srgbClr val="0E9AA7"/>
            </a:solidFill>
            <a:prstDash val="solid"/>
          </a:ln>
        </p:spPr>
      </p:sp>
      <p:sp>
        <p:nvSpPr>
          <p:cNvPr id="5" name="Text 3"/>
          <p:cNvSpPr/>
          <p:nvPr/>
        </p:nvSpPr>
        <p:spPr>
          <a:xfrm>
            <a:off x="320040" y="804672"/>
            <a:ext cx="19202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Person</a:t>
            </a:r>
            <a:endParaRPr lang="en-US" sz="1100" dirty="0"/>
          </a:p>
        </p:txBody>
      </p:sp>
      <p:sp>
        <p:nvSpPr>
          <p:cNvPr id="6" name="Text 4"/>
          <p:cNvSpPr/>
          <p:nvPr/>
        </p:nvSpPr>
        <p:spPr>
          <a:xfrm>
            <a:off x="2286000" y="804672"/>
            <a:ext cx="274320" cy="347472"/>
          </a:xfrm>
          <a:prstGeom prst="rect">
            <a:avLst/>
          </a:prstGeom>
          <a:noFill/>
          <a:ln/>
        </p:spPr>
        <p:txBody>
          <a:bodyPr wrap="square" lIns="0" tIns="0" rIns="0" bIns="0" rtlCol="0" anchor="ctr"/>
          <a:lstStyle/>
          <a:p>
            <a:pPr marL="0" indent="0" algn="ctr">
              <a:buNone/>
            </a:pPr>
            <a:r>
              <a:rPr lang="en-US" sz="1300" dirty="0">
                <a:solidFill>
                  <a:srgbClr val="718096"/>
                </a:solidFill>
              </a:rPr>
              <a:t>→</a:t>
            </a:r>
            <a:endParaRPr lang="en-US" sz="1300" dirty="0"/>
          </a:p>
        </p:txBody>
      </p:sp>
      <p:sp>
        <p:nvSpPr>
          <p:cNvPr id="7" name="Shape 5"/>
          <p:cNvSpPr/>
          <p:nvPr/>
        </p:nvSpPr>
        <p:spPr>
          <a:xfrm>
            <a:off x="2606040" y="832104"/>
            <a:ext cx="1417320" cy="292608"/>
          </a:xfrm>
          <a:prstGeom prst="roundRect">
            <a:avLst>
              <a:gd name="adj" fmla="val 15625"/>
            </a:avLst>
          </a:prstGeom>
          <a:solidFill>
            <a:srgbClr val="E8F4FD"/>
          </a:solidFill>
          <a:ln w="12700">
            <a:solidFill>
              <a:srgbClr val="0E9AA7"/>
            </a:solidFill>
            <a:prstDash val="solid"/>
          </a:ln>
        </p:spPr>
      </p:sp>
      <p:sp>
        <p:nvSpPr>
          <p:cNvPr id="8" name="Text 6"/>
          <p:cNvSpPr/>
          <p:nvPr/>
        </p:nvSpPr>
        <p:spPr>
          <a:xfrm>
            <a:off x="2606040" y="832104"/>
            <a:ext cx="1417320" cy="292608"/>
          </a:xfrm>
          <a:prstGeom prst="rect">
            <a:avLst/>
          </a:prstGeom>
          <a:noFill/>
          <a:ln/>
        </p:spPr>
        <p:txBody>
          <a:bodyPr wrap="square" lIns="0" tIns="0" rIns="0" bIns="0" rtlCol="0" anchor="ctr"/>
          <a:lstStyle/>
          <a:p>
            <a:pPr marL="0" indent="0" algn="ctr">
              <a:buNone/>
            </a:pPr>
            <a:r>
              <a:rPr lang="en-US" sz="900" dirty="0">
                <a:solidFill>
                  <a:srgbClr val="2D3748"/>
                </a:solidFill>
                <a:latin typeface="Calibri" pitchFamily="34" charset="0"/>
                <a:ea typeface="Calibri" pitchFamily="34" charset="-122"/>
                <a:cs typeface="Calibri" pitchFamily="34" charset="-120"/>
              </a:rPr>
              <a:t>Student</a:t>
            </a:r>
            <a:endParaRPr lang="en-US" sz="900" dirty="0"/>
          </a:p>
        </p:txBody>
      </p:sp>
      <p:sp>
        <p:nvSpPr>
          <p:cNvPr id="9" name="Shape 7"/>
          <p:cNvSpPr/>
          <p:nvPr/>
        </p:nvSpPr>
        <p:spPr>
          <a:xfrm>
            <a:off x="4114800" y="832104"/>
            <a:ext cx="1417320" cy="292608"/>
          </a:xfrm>
          <a:prstGeom prst="roundRect">
            <a:avLst>
              <a:gd name="adj" fmla="val 15625"/>
            </a:avLst>
          </a:prstGeom>
          <a:solidFill>
            <a:srgbClr val="E8F4FD"/>
          </a:solidFill>
          <a:ln w="12700">
            <a:solidFill>
              <a:srgbClr val="0E9AA7"/>
            </a:solidFill>
            <a:prstDash val="solid"/>
          </a:ln>
        </p:spPr>
      </p:sp>
      <p:sp>
        <p:nvSpPr>
          <p:cNvPr id="10" name="Text 8"/>
          <p:cNvSpPr/>
          <p:nvPr/>
        </p:nvSpPr>
        <p:spPr>
          <a:xfrm>
            <a:off x="4114800" y="832104"/>
            <a:ext cx="1417320" cy="292608"/>
          </a:xfrm>
          <a:prstGeom prst="rect">
            <a:avLst/>
          </a:prstGeom>
          <a:noFill/>
          <a:ln/>
        </p:spPr>
        <p:txBody>
          <a:bodyPr wrap="square" lIns="0" tIns="0" rIns="0" bIns="0" rtlCol="0" anchor="ctr"/>
          <a:lstStyle/>
          <a:p>
            <a:pPr marL="0" indent="0" algn="ctr">
              <a:buNone/>
            </a:pPr>
            <a:r>
              <a:rPr lang="en-US" sz="900" dirty="0">
                <a:solidFill>
                  <a:srgbClr val="2D3748"/>
                </a:solidFill>
                <a:latin typeface="Calibri" pitchFamily="34" charset="0"/>
                <a:ea typeface="Calibri" pitchFamily="34" charset="-122"/>
                <a:cs typeface="Calibri" pitchFamily="34" charset="-120"/>
              </a:rPr>
              <a:t>Instructor</a:t>
            </a:r>
            <a:endParaRPr lang="en-US" sz="900" dirty="0"/>
          </a:p>
        </p:txBody>
      </p:sp>
      <p:sp>
        <p:nvSpPr>
          <p:cNvPr id="11" name="Text 9"/>
          <p:cNvSpPr/>
          <p:nvPr/>
        </p:nvSpPr>
        <p:spPr>
          <a:xfrm>
            <a:off x="7315200" y="850392"/>
            <a:ext cx="1463040" cy="256032"/>
          </a:xfrm>
          <a:prstGeom prst="rect">
            <a:avLst/>
          </a:prstGeom>
          <a:noFill/>
          <a:ln/>
        </p:spPr>
        <p:txBody>
          <a:bodyPr wrap="square" lIns="0" tIns="0" rIns="0" bIns="0" rtlCol="0" anchor="ctr"/>
          <a:lstStyle/>
          <a:p>
            <a:pPr marL="0" indent="0" algn="r">
              <a:buNone/>
            </a:pPr>
            <a:r>
              <a:rPr lang="en-US" sz="850" i="1" dirty="0">
                <a:solidFill>
                  <a:srgbClr val="718096"/>
                </a:solidFill>
                <a:latin typeface="Calibri" pitchFamily="34" charset="0"/>
                <a:ea typeface="Calibri" pitchFamily="34" charset="-122"/>
                <a:cs typeface="Calibri" pitchFamily="34" charset="-120"/>
              </a:rPr>
              <a:t>disjoint</a:t>
            </a:r>
            <a:endParaRPr lang="en-US" sz="850" dirty="0"/>
          </a:p>
        </p:txBody>
      </p:sp>
      <p:sp>
        <p:nvSpPr>
          <p:cNvPr id="12" name="Shape 10"/>
          <p:cNvSpPr/>
          <p:nvPr/>
        </p:nvSpPr>
        <p:spPr>
          <a:xfrm>
            <a:off x="320040" y="1609344"/>
            <a:ext cx="1920240" cy="347472"/>
          </a:xfrm>
          <a:prstGeom prst="roundRect">
            <a:avLst>
              <a:gd name="adj" fmla="val 18421"/>
            </a:avLst>
          </a:prstGeom>
          <a:solidFill>
            <a:srgbClr val="0E9AA7"/>
          </a:solidFill>
          <a:ln w="12700">
            <a:solidFill>
              <a:srgbClr val="0E9AA7"/>
            </a:solidFill>
            <a:prstDash val="solid"/>
          </a:ln>
        </p:spPr>
      </p:sp>
      <p:sp>
        <p:nvSpPr>
          <p:cNvPr id="13" name="Text 11"/>
          <p:cNvSpPr/>
          <p:nvPr/>
        </p:nvSpPr>
        <p:spPr>
          <a:xfrm>
            <a:off x="320040" y="1609344"/>
            <a:ext cx="19202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AcademicContent</a:t>
            </a:r>
            <a:endParaRPr lang="en-US" sz="1100" dirty="0"/>
          </a:p>
        </p:txBody>
      </p:sp>
      <p:sp>
        <p:nvSpPr>
          <p:cNvPr id="14" name="Text 12"/>
          <p:cNvSpPr/>
          <p:nvPr/>
        </p:nvSpPr>
        <p:spPr>
          <a:xfrm>
            <a:off x="2286000" y="1609344"/>
            <a:ext cx="274320" cy="347472"/>
          </a:xfrm>
          <a:prstGeom prst="rect">
            <a:avLst/>
          </a:prstGeom>
          <a:noFill/>
          <a:ln/>
        </p:spPr>
        <p:txBody>
          <a:bodyPr wrap="square" lIns="0" tIns="0" rIns="0" bIns="0" rtlCol="0" anchor="ctr"/>
          <a:lstStyle/>
          <a:p>
            <a:pPr marL="0" indent="0" algn="ctr">
              <a:buNone/>
            </a:pPr>
            <a:r>
              <a:rPr lang="en-US" sz="1300" dirty="0">
                <a:solidFill>
                  <a:srgbClr val="718096"/>
                </a:solidFill>
              </a:rPr>
              <a:t>→</a:t>
            </a:r>
            <a:endParaRPr lang="en-US" sz="1300" dirty="0"/>
          </a:p>
        </p:txBody>
      </p:sp>
      <p:sp>
        <p:nvSpPr>
          <p:cNvPr id="15" name="Shape 13"/>
          <p:cNvSpPr/>
          <p:nvPr/>
        </p:nvSpPr>
        <p:spPr>
          <a:xfrm>
            <a:off x="2606040" y="1636776"/>
            <a:ext cx="1417320" cy="292608"/>
          </a:xfrm>
          <a:prstGeom prst="roundRect">
            <a:avLst>
              <a:gd name="adj" fmla="val 15625"/>
            </a:avLst>
          </a:prstGeom>
          <a:solidFill>
            <a:srgbClr val="E8F4FD"/>
          </a:solidFill>
          <a:ln w="12700">
            <a:solidFill>
              <a:srgbClr val="0E9AA7"/>
            </a:solidFill>
            <a:prstDash val="solid"/>
          </a:ln>
        </p:spPr>
      </p:sp>
      <p:sp>
        <p:nvSpPr>
          <p:cNvPr id="16" name="Text 14"/>
          <p:cNvSpPr/>
          <p:nvPr/>
        </p:nvSpPr>
        <p:spPr>
          <a:xfrm>
            <a:off x="2606040" y="1636776"/>
            <a:ext cx="1417320" cy="292608"/>
          </a:xfrm>
          <a:prstGeom prst="rect">
            <a:avLst/>
          </a:prstGeom>
          <a:noFill/>
          <a:ln/>
        </p:spPr>
        <p:txBody>
          <a:bodyPr wrap="square" lIns="0" tIns="0" rIns="0" bIns="0" rtlCol="0" anchor="ctr"/>
          <a:lstStyle/>
          <a:p>
            <a:pPr marL="0" indent="0" algn="ctr">
              <a:buNone/>
            </a:pPr>
            <a:r>
              <a:rPr lang="en-US" sz="900" dirty="0">
                <a:solidFill>
                  <a:srgbClr val="2D3748"/>
                </a:solidFill>
                <a:latin typeface="Calibri" pitchFamily="34" charset="0"/>
                <a:ea typeface="Calibri" pitchFamily="34" charset="-122"/>
                <a:cs typeface="Calibri" pitchFamily="34" charset="-120"/>
              </a:rPr>
              <a:t>Course</a:t>
            </a:r>
            <a:endParaRPr lang="en-US" sz="900" dirty="0"/>
          </a:p>
        </p:txBody>
      </p:sp>
      <p:sp>
        <p:nvSpPr>
          <p:cNvPr id="17" name="Shape 15"/>
          <p:cNvSpPr/>
          <p:nvPr/>
        </p:nvSpPr>
        <p:spPr>
          <a:xfrm>
            <a:off x="4114800" y="1636776"/>
            <a:ext cx="1417320" cy="292608"/>
          </a:xfrm>
          <a:prstGeom prst="roundRect">
            <a:avLst>
              <a:gd name="adj" fmla="val 15625"/>
            </a:avLst>
          </a:prstGeom>
          <a:solidFill>
            <a:srgbClr val="E8F4FD"/>
          </a:solidFill>
          <a:ln w="12700">
            <a:solidFill>
              <a:srgbClr val="0E9AA7"/>
            </a:solidFill>
            <a:prstDash val="solid"/>
          </a:ln>
        </p:spPr>
      </p:sp>
      <p:sp>
        <p:nvSpPr>
          <p:cNvPr id="18" name="Text 16"/>
          <p:cNvSpPr/>
          <p:nvPr/>
        </p:nvSpPr>
        <p:spPr>
          <a:xfrm>
            <a:off x="4114800" y="1636776"/>
            <a:ext cx="1417320" cy="292608"/>
          </a:xfrm>
          <a:prstGeom prst="rect">
            <a:avLst/>
          </a:prstGeom>
          <a:noFill/>
          <a:ln/>
        </p:spPr>
        <p:txBody>
          <a:bodyPr wrap="square" lIns="0" tIns="0" rIns="0" bIns="0" rtlCol="0" anchor="ctr"/>
          <a:lstStyle/>
          <a:p>
            <a:pPr marL="0" indent="0" algn="ctr">
              <a:buNone/>
            </a:pPr>
            <a:r>
              <a:rPr lang="en-US" sz="900" dirty="0">
                <a:solidFill>
                  <a:srgbClr val="2D3748"/>
                </a:solidFill>
                <a:latin typeface="Calibri" pitchFamily="34" charset="0"/>
                <a:ea typeface="Calibri" pitchFamily="34" charset="-122"/>
                <a:cs typeface="Calibri" pitchFamily="34" charset="-120"/>
              </a:rPr>
              <a:t>Module</a:t>
            </a:r>
            <a:endParaRPr lang="en-US" sz="900" dirty="0"/>
          </a:p>
        </p:txBody>
      </p:sp>
      <p:sp>
        <p:nvSpPr>
          <p:cNvPr id="19" name="Shape 17"/>
          <p:cNvSpPr/>
          <p:nvPr/>
        </p:nvSpPr>
        <p:spPr>
          <a:xfrm>
            <a:off x="5623560" y="1636776"/>
            <a:ext cx="1417320" cy="292608"/>
          </a:xfrm>
          <a:prstGeom prst="roundRect">
            <a:avLst>
              <a:gd name="adj" fmla="val 15625"/>
            </a:avLst>
          </a:prstGeom>
          <a:solidFill>
            <a:srgbClr val="E8F4FD"/>
          </a:solidFill>
          <a:ln w="12700">
            <a:solidFill>
              <a:srgbClr val="0E9AA7"/>
            </a:solidFill>
            <a:prstDash val="solid"/>
          </a:ln>
        </p:spPr>
      </p:sp>
      <p:sp>
        <p:nvSpPr>
          <p:cNvPr id="20" name="Text 18"/>
          <p:cNvSpPr/>
          <p:nvPr/>
        </p:nvSpPr>
        <p:spPr>
          <a:xfrm>
            <a:off x="5623560" y="1636776"/>
            <a:ext cx="1417320" cy="292608"/>
          </a:xfrm>
          <a:prstGeom prst="rect">
            <a:avLst/>
          </a:prstGeom>
          <a:noFill/>
          <a:ln/>
        </p:spPr>
        <p:txBody>
          <a:bodyPr wrap="square" lIns="0" tIns="0" rIns="0" bIns="0" rtlCol="0" anchor="ctr"/>
          <a:lstStyle/>
          <a:p>
            <a:pPr marL="0" indent="0" algn="ctr">
              <a:buNone/>
            </a:pPr>
            <a:r>
              <a:rPr lang="en-US" sz="900" dirty="0">
                <a:solidFill>
                  <a:srgbClr val="2D3748"/>
                </a:solidFill>
                <a:latin typeface="Calibri" pitchFamily="34" charset="0"/>
                <a:ea typeface="Calibri" pitchFamily="34" charset="-122"/>
                <a:cs typeface="Calibri" pitchFamily="34" charset="-120"/>
              </a:rPr>
              <a:t>LearningObjective</a:t>
            </a:r>
            <a:endParaRPr lang="en-US" sz="900" dirty="0"/>
          </a:p>
        </p:txBody>
      </p:sp>
      <p:sp>
        <p:nvSpPr>
          <p:cNvPr id="21" name="Text 19"/>
          <p:cNvSpPr/>
          <p:nvPr/>
        </p:nvSpPr>
        <p:spPr>
          <a:xfrm>
            <a:off x="7315200" y="1655064"/>
            <a:ext cx="1463040" cy="256032"/>
          </a:xfrm>
          <a:prstGeom prst="rect">
            <a:avLst/>
          </a:prstGeom>
          <a:noFill/>
          <a:ln/>
        </p:spPr>
        <p:txBody>
          <a:bodyPr wrap="square" lIns="0" tIns="0" rIns="0" bIns="0" rtlCol="0" anchor="ctr"/>
          <a:lstStyle/>
          <a:p>
            <a:pPr marL="0" indent="0" algn="r">
              <a:buNone/>
            </a:pPr>
            <a:r>
              <a:rPr lang="en-US" sz="850" i="1" dirty="0">
                <a:solidFill>
                  <a:srgbClr val="718096"/>
                </a:solidFill>
                <a:latin typeface="Calibri" pitchFamily="34" charset="0"/>
                <a:ea typeface="Calibri" pitchFamily="34" charset="-122"/>
                <a:cs typeface="Calibri" pitchFamily="34" charset="-120"/>
              </a:rPr>
              <a:t>disjoint</a:t>
            </a:r>
            <a:endParaRPr lang="en-US" sz="850" dirty="0"/>
          </a:p>
        </p:txBody>
      </p:sp>
      <p:sp>
        <p:nvSpPr>
          <p:cNvPr id="22" name="Shape 20"/>
          <p:cNvSpPr/>
          <p:nvPr/>
        </p:nvSpPr>
        <p:spPr>
          <a:xfrm>
            <a:off x="320040" y="2414016"/>
            <a:ext cx="1920240" cy="347472"/>
          </a:xfrm>
          <a:prstGeom prst="roundRect">
            <a:avLst>
              <a:gd name="adj" fmla="val 18421"/>
            </a:avLst>
          </a:prstGeom>
          <a:solidFill>
            <a:srgbClr val="0E9AA7"/>
          </a:solidFill>
          <a:ln w="12700">
            <a:solidFill>
              <a:srgbClr val="0E9AA7"/>
            </a:solidFill>
            <a:prstDash val="solid"/>
          </a:ln>
        </p:spPr>
      </p:sp>
      <p:sp>
        <p:nvSpPr>
          <p:cNvPr id="23" name="Text 21"/>
          <p:cNvSpPr/>
          <p:nvPr/>
        </p:nvSpPr>
        <p:spPr>
          <a:xfrm>
            <a:off x="320040" y="2414016"/>
            <a:ext cx="19202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Assessment</a:t>
            </a:r>
            <a:endParaRPr lang="en-US" sz="1100" dirty="0"/>
          </a:p>
        </p:txBody>
      </p:sp>
      <p:sp>
        <p:nvSpPr>
          <p:cNvPr id="24" name="Text 22"/>
          <p:cNvSpPr/>
          <p:nvPr/>
        </p:nvSpPr>
        <p:spPr>
          <a:xfrm>
            <a:off x="2286000" y="2414016"/>
            <a:ext cx="274320" cy="347472"/>
          </a:xfrm>
          <a:prstGeom prst="rect">
            <a:avLst/>
          </a:prstGeom>
          <a:noFill/>
          <a:ln/>
        </p:spPr>
        <p:txBody>
          <a:bodyPr wrap="square" lIns="0" tIns="0" rIns="0" bIns="0" rtlCol="0" anchor="ctr"/>
          <a:lstStyle/>
          <a:p>
            <a:pPr marL="0" indent="0" algn="ctr">
              <a:buNone/>
            </a:pPr>
            <a:r>
              <a:rPr lang="en-US" sz="1300" dirty="0">
                <a:solidFill>
                  <a:srgbClr val="718096"/>
                </a:solidFill>
              </a:rPr>
              <a:t>→</a:t>
            </a:r>
            <a:endParaRPr lang="en-US" sz="1300" dirty="0"/>
          </a:p>
        </p:txBody>
      </p:sp>
      <p:sp>
        <p:nvSpPr>
          <p:cNvPr id="25" name="Shape 23"/>
          <p:cNvSpPr/>
          <p:nvPr/>
        </p:nvSpPr>
        <p:spPr>
          <a:xfrm>
            <a:off x="2606040" y="2441448"/>
            <a:ext cx="1417320" cy="292608"/>
          </a:xfrm>
          <a:prstGeom prst="roundRect">
            <a:avLst>
              <a:gd name="adj" fmla="val 15625"/>
            </a:avLst>
          </a:prstGeom>
          <a:solidFill>
            <a:srgbClr val="E8F4FD"/>
          </a:solidFill>
          <a:ln w="12700">
            <a:solidFill>
              <a:srgbClr val="0E9AA7"/>
            </a:solidFill>
            <a:prstDash val="solid"/>
          </a:ln>
        </p:spPr>
      </p:sp>
      <p:sp>
        <p:nvSpPr>
          <p:cNvPr id="26" name="Text 24"/>
          <p:cNvSpPr/>
          <p:nvPr/>
        </p:nvSpPr>
        <p:spPr>
          <a:xfrm>
            <a:off x="2606040" y="2441448"/>
            <a:ext cx="1417320" cy="292608"/>
          </a:xfrm>
          <a:prstGeom prst="rect">
            <a:avLst/>
          </a:prstGeom>
          <a:noFill/>
          <a:ln/>
        </p:spPr>
        <p:txBody>
          <a:bodyPr wrap="square" lIns="0" tIns="0" rIns="0" bIns="0" rtlCol="0" anchor="ctr"/>
          <a:lstStyle/>
          <a:p>
            <a:pPr marL="0" indent="0" algn="ctr">
              <a:buNone/>
            </a:pPr>
            <a:r>
              <a:rPr lang="en-US" sz="900" dirty="0">
                <a:solidFill>
                  <a:srgbClr val="2D3748"/>
                </a:solidFill>
                <a:latin typeface="Calibri" pitchFamily="34" charset="0"/>
                <a:ea typeface="Calibri" pitchFamily="34" charset="-122"/>
                <a:cs typeface="Calibri" pitchFamily="34" charset="-120"/>
              </a:rPr>
              <a:t>Assignment</a:t>
            </a:r>
            <a:endParaRPr lang="en-US" sz="900" dirty="0"/>
          </a:p>
        </p:txBody>
      </p:sp>
      <p:sp>
        <p:nvSpPr>
          <p:cNvPr id="27" name="Shape 25"/>
          <p:cNvSpPr/>
          <p:nvPr/>
        </p:nvSpPr>
        <p:spPr>
          <a:xfrm>
            <a:off x="320040" y="3218688"/>
            <a:ext cx="1920240" cy="347472"/>
          </a:xfrm>
          <a:prstGeom prst="roundRect">
            <a:avLst>
              <a:gd name="adj" fmla="val 18421"/>
            </a:avLst>
          </a:prstGeom>
          <a:solidFill>
            <a:srgbClr val="0E9AA7"/>
          </a:solidFill>
          <a:ln w="12700">
            <a:solidFill>
              <a:srgbClr val="0E9AA7"/>
            </a:solidFill>
            <a:prstDash val="solid"/>
          </a:ln>
        </p:spPr>
      </p:sp>
      <p:sp>
        <p:nvSpPr>
          <p:cNvPr id="28" name="Text 26"/>
          <p:cNvSpPr/>
          <p:nvPr/>
        </p:nvSpPr>
        <p:spPr>
          <a:xfrm>
            <a:off x="320040" y="3218688"/>
            <a:ext cx="19202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Evaluation</a:t>
            </a:r>
            <a:endParaRPr lang="en-US" sz="1100" dirty="0"/>
          </a:p>
        </p:txBody>
      </p:sp>
      <p:sp>
        <p:nvSpPr>
          <p:cNvPr id="29" name="Text 27"/>
          <p:cNvSpPr/>
          <p:nvPr/>
        </p:nvSpPr>
        <p:spPr>
          <a:xfrm>
            <a:off x="2286000" y="3218688"/>
            <a:ext cx="274320" cy="347472"/>
          </a:xfrm>
          <a:prstGeom prst="rect">
            <a:avLst/>
          </a:prstGeom>
          <a:noFill/>
          <a:ln/>
        </p:spPr>
        <p:txBody>
          <a:bodyPr wrap="square" lIns="0" tIns="0" rIns="0" bIns="0" rtlCol="0" anchor="ctr"/>
          <a:lstStyle/>
          <a:p>
            <a:pPr marL="0" indent="0" algn="ctr">
              <a:buNone/>
            </a:pPr>
            <a:r>
              <a:rPr lang="en-US" sz="1300" dirty="0">
                <a:solidFill>
                  <a:srgbClr val="718096"/>
                </a:solidFill>
              </a:rPr>
              <a:t>→</a:t>
            </a:r>
            <a:endParaRPr lang="en-US" sz="1300" dirty="0"/>
          </a:p>
        </p:txBody>
      </p:sp>
      <p:sp>
        <p:nvSpPr>
          <p:cNvPr id="30" name="Shape 28"/>
          <p:cNvSpPr/>
          <p:nvPr/>
        </p:nvSpPr>
        <p:spPr>
          <a:xfrm>
            <a:off x="2606040" y="3246120"/>
            <a:ext cx="1417320" cy="292608"/>
          </a:xfrm>
          <a:prstGeom prst="roundRect">
            <a:avLst>
              <a:gd name="adj" fmla="val 15625"/>
            </a:avLst>
          </a:prstGeom>
          <a:solidFill>
            <a:srgbClr val="E8F4FD"/>
          </a:solidFill>
          <a:ln w="12700">
            <a:solidFill>
              <a:srgbClr val="0E9AA7"/>
            </a:solidFill>
            <a:prstDash val="solid"/>
          </a:ln>
        </p:spPr>
      </p:sp>
      <p:sp>
        <p:nvSpPr>
          <p:cNvPr id="31" name="Text 29"/>
          <p:cNvSpPr/>
          <p:nvPr/>
        </p:nvSpPr>
        <p:spPr>
          <a:xfrm>
            <a:off x="2606040" y="3246120"/>
            <a:ext cx="1417320" cy="292608"/>
          </a:xfrm>
          <a:prstGeom prst="rect">
            <a:avLst/>
          </a:prstGeom>
          <a:noFill/>
          <a:ln/>
        </p:spPr>
        <p:txBody>
          <a:bodyPr wrap="square" lIns="0" tIns="0" rIns="0" bIns="0" rtlCol="0" anchor="ctr"/>
          <a:lstStyle/>
          <a:p>
            <a:pPr marL="0" indent="0" algn="ctr">
              <a:buNone/>
            </a:pPr>
            <a:r>
              <a:rPr lang="en-US" sz="900" dirty="0">
                <a:solidFill>
                  <a:srgbClr val="2D3748"/>
                </a:solidFill>
                <a:latin typeface="Calibri" pitchFamily="34" charset="0"/>
                <a:ea typeface="Calibri" pitchFamily="34" charset="-122"/>
                <a:cs typeface="Calibri" pitchFamily="34" charset="-120"/>
              </a:rPr>
              <a:t>Grade</a:t>
            </a:r>
            <a:endParaRPr lang="en-US" sz="900" dirty="0"/>
          </a:p>
        </p:txBody>
      </p:sp>
      <p:sp>
        <p:nvSpPr>
          <p:cNvPr id="32" name="Shape 30"/>
          <p:cNvSpPr/>
          <p:nvPr/>
        </p:nvSpPr>
        <p:spPr>
          <a:xfrm>
            <a:off x="4114800" y="3246120"/>
            <a:ext cx="1417320" cy="292608"/>
          </a:xfrm>
          <a:prstGeom prst="roundRect">
            <a:avLst>
              <a:gd name="adj" fmla="val 15625"/>
            </a:avLst>
          </a:prstGeom>
          <a:solidFill>
            <a:srgbClr val="E8F4FD"/>
          </a:solidFill>
          <a:ln w="12700">
            <a:solidFill>
              <a:srgbClr val="0E9AA7"/>
            </a:solidFill>
            <a:prstDash val="solid"/>
          </a:ln>
        </p:spPr>
      </p:sp>
      <p:sp>
        <p:nvSpPr>
          <p:cNvPr id="33" name="Text 31"/>
          <p:cNvSpPr/>
          <p:nvPr/>
        </p:nvSpPr>
        <p:spPr>
          <a:xfrm>
            <a:off x="4114800" y="3246120"/>
            <a:ext cx="1417320" cy="292608"/>
          </a:xfrm>
          <a:prstGeom prst="rect">
            <a:avLst/>
          </a:prstGeom>
          <a:noFill/>
          <a:ln/>
        </p:spPr>
        <p:txBody>
          <a:bodyPr wrap="square" lIns="0" tIns="0" rIns="0" bIns="0" rtlCol="0" anchor="ctr"/>
          <a:lstStyle/>
          <a:p>
            <a:pPr marL="0" indent="0" algn="ctr">
              <a:buNone/>
            </a:pPr>
            <a:r>
              <a:rPr lang="en-US" sz="900" dirty="0">
                <a:solidFill>
                  <a:srgbClr val="2D3748"/>
                </a:solidFill>
                <a:latin typeface="Calibri" pitchFamily="34" charset="0"/>
                <a:ea typeface="Calibri" pitchFamily="34" charset="-122"/>
                <a:cs typeface="Calibri" pitchFamily="34" charset="-120"/>
              </a:rPr>
              <a:t>Feedback</a:t>
            </a:r>
            <a:endParaRPr lang="en-US" sz="900" dirty="0"/>
          </a:p>
        </p:txBody>
      </p:sp>
      <p:sp>
        <p:nvSpPr>
          <p:cNvPr id="34" name="Text 32"/>
          <p:cNvSpPr/>
          <p:nvPr/>
        </p:nvSpPr>
        <p:spPr>
          <a:xfrm>
            <a:off x="7315200" y="3264408"/>
            <a:ext cx="1463040" cy="256032"/>
          </a:xfrm>
          <a:prstGeom prst="rect">
            <a:avLst/>
          </a:prstGeom>
          <a:noFill/>
          <a:ln/>
        </p:spPr>
        <p:txBody>
          <a:bodyPr wrap="square" lIns="0" tIns="0" rIns="0" bIns="0" rtlCol="0" anchor="ctr"/>
          <a:lstStyle/>
          <a:p>
            <a:pPr marL="0" indent="0" algn="r">
              <a:buNone/>
            </a:pPr>
            <a:r>
              <a:rPr lang="en-US" sz="850" i="1" dirty="0">
                <a:solidFill>
                  <a:srgbClr val="718096"/>
                </a:solidFill>
                <a:latin typeface="Calibri" pitchFamily="34" charset="0"/>
                <a:ea typeface="Calibri" pitchFamily="34" charset="-122"/>
                <a:cs typeface="Calibri" pitchFamily="34" charset="-120"/>
              </a:rPr>
              <a:t>disjoint</a:t>
            </a:r>
            <a:endParaRPr lang="en-US" sz="850" dirty="0"/>
          </a:p>
        </p:txBody>
      </p:sp>
      <p:sp>
        <p:nvSpPr>
          <p:cNvPr id="35" name="Shape 33"/>
          <p:cNvSpPr/>
          <p:nvPr/>
        </p:nvSpPr>
        <p:spPr>
          <a:xfrm>
            <a:off x="320040" y="4023360"/>
            <a:ext cx="1920240" cy="347472"/>
          </a:xfrm>
          <a:prstGeom prst="roundRect">
            <a:avLst>
              <a:gd name="adj" fmla="val 18421"/>
            </a:avLst>
          </a:prstGeom>
          <a:solidFill>
            <a:srgbClr val="0E9AA7"/>
          </a:solidFill>
          <a:ln w="12700">
            <a:solidFill>
              <a:srgbClr val="0E9AA7"/>
            </a:solidFill>
            <a:prstDash val="solid"/>
          </a:ln>
        </p:spPr>
      </p:sp>
      <p:sp>
        <p:nvSpPr>
          <p:cNvPr id="36" name="Text 34"/>
          <p:cNvSpPr/>
          <p:nvPr/>
        </p:nvSpPr>
        <p:spPr>
          <a:xfrm>
            <a:off x="320040" y="4023360"/>
            <a:ext cx="19202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Submission</a:t>
            </a:r>
            <a:endParaRPr lang="en-US" sz="1100" dirty="0"/>
          </a:p>
        </p:txBody>
      </p:sp>
      <p:sp>
        <p:nvSpPr>
          <p:cNvPr id="37" name="Text 35"/>
          <p:cNvSpPr/>
          <p:nvPr/>
        </p:nvSpPr>
        <p:spPr>
          <a:xfrm>
            <a:off x="2286000" y="4023360"/>
            <a:ext cx="274320" cy="347472"/>
          </a:xfrm>
          <a:prstGeom prst="rect">
            <a:avLst/>
          </a:prstGeom>
          <a:noFill/>
          <a:ln/>
        </p:spPr>
        <p:txBody>
          <a:bodyPr wrap="square" lIns="0" tIns="0" rIns="0" bIns="0" rtlCol="0" anchor="ctr"/>
          <a:lstStyle/>
          <a:p>
            <a:pPr marL="0" indent="0" algn="ctr">
              <a:buNone/>
            </a:pPr>
            <a:r>
              <a:rPr lang="en-US" sz="1300" dirty="0">
                <a:solidFill>
                  <a:srgbClr val="718096"/>
                </a:solidFill>
              </a:rPr>
              <a:t>→</a:t>
            </a:r>
            <a:endParaRPr lang="en-US" sz="1300" dirty="0"/>
          </a:p>
        </p:txBody>
      </p:sp>
      <p:sp>
        <p:nvSpPr>
          <p:cNvPr id="38" name="Shape 36"/>
          <p:cNvSpPr/>
          <p:nvPr/>
        </p:nvSpPr>
        <p:spPr>
          <a:xfrm>
            <a:off x="2606040" y="4050792"/>
            <a:ext cx="1417320" cy="292608"/>
          </a:xfrm>
          <a:prstGeom prst="roundRect">
            <a:avLst>
              <a:gd name="adj" fmla="val 15625"/>
            </a:avLst>
          </a:prstGeom>
          <a:solidFill>
            <a:srgbClr val="FFF3CD"/>
          </a:solidFill>
          <a:ln w="12700">
            <a:solidFill>
              <a:srgbClr val="F6AD55"/>
            </a:solidFill>
            <a:prstDash val="solid"/>
          </a:ln>
        </p:spPr>
      </p:sp>
      <p:sp>
        <p:nvSpPr>
          <p:cNvPr id="39" name="Text 37"/>
          <p:cNvSpPr/>
          <p:nvPr/>
        </p:nvSpPr>
        <p:spPr>
          <a:xfrm>
            <a:off x="2606040" y="4050792"/>
            <a:ext cx="1417320" cy="292608"/>
          </a:xfrm>
          <a:prstGeom prst="rect">
            <a:avLst/>
          </a:prstGeom>
          <a:noFill/>
          <a:ln/>
        </p:spPr>
        <p:txBody>
          <a:bodyPr wrap="square" lIns="0" tIns="0" rIns="0" bIns="0" rtlCol="0" anchor="ctr"/>
          <a:lstStyle/>
          <a:p>
            <a:pPr marL="0" indent="0" algn="ctr">
              <a:buNone/>
            </a:pPr>
            <a:r>
              <a:rPr lang="en-US" sz="900" b="1" dirty="0">
                <a:solidFill>
                  <a:srgbClr val="2D3748"/>
                </a:solidFill>
                <a:latin typeface="Calibri" pitchFamily="34" charset="0"/>
                <a:ea typeface="Calibri" pitchFamily="34" charset="-122"/>
                <a:cs typeface="Calibri" pitchFamily="34" charset="-120"/>
              </a:rPr>
              <a:t>LateSubmission ⚡ (inferred)</a:t>
            </a:r>
            <a:endParaRPr lang="en-US" sz="900" dirty="0"/>
          </a:p>
        </p:txBody>
      </p:sp>
      <p:sp>
        <p:nvSpPr>
          <p:cNvPr id="40" name="Text 38"/>
          <p:cNvSpPr/>
          <p:nvPr/>
        </p:nvSpPr>
        <p:spPr>
          <a:xfrm>
            <a:off x="7315200" y="4069080"/>
            <a:ext cx="1463040" cy="256032"/>
          </a:xfrm>
          <a:prstGeom prst="rect">
            <a:avLst/>
          </a:prstGeom>
          <a:noFill/>
          <a:ln/>
        </p:spPr>
        <p:txBody>
          <a:bodyPr wrap="square" lIns="0" tIns="0" rIns="0" bIns="0" rtlCol="0" anchor="ctr"/>
          <a:lstStyle/>
          <a:p>
            <a:pPr marL="0" indent="0" algn="r">
              <a:buNone/>
            </a:pPr>
            <a:r>
              <a:rPr lang="en-US" sz="850" i="1" dirty="0">
                <a:solidFill>
                  <a:srgbClr val="718096"/>
                </a:solidFill>
                <a:latin typeface="Calibri" pitchFamily="34" charset="0"/>
                <a:ea typeface="Calibri" pitchFamily="34" charset="-122"/>
                <a:cs typeface="Calibri" pitchFamily="34" charset="-120"/>
              </a:rPr>
              <a:t>defined class</a:t>
            </a:r>
            <a:endParaRPr lang="en-US" sz="850" dirty="0"/>
          </a:p>
        </p:txBody>
      </p:sp>
      <p:sp>
        <p:nvSpPr>
          <p:cNvPr id="41" name="Shape 39"/>
          <p:cNvSpPr/>
          <p:nvPr/>
        </p:nvSpPr>
        <p:spPr>
          <a:xfrm>
            <a:off x="320040" y="4828032"/>
            <a:ext cx="8503920" cy="0"/>
          </a:xfrm>
          <a:prstGeom prst="line">
            <a:avLst/>
          </a:prstGeom>
          <a:noFill/>
          <a:ln w="12700">
            <a:solidFill>
              <a:srgbClr val="D4F1F4"/>
            </a:solidFill>
            <a:prstDash val="solid"/>
          </a:ln>
        </p:spPr>
      </p:sp>
      <p:sp>
        <p:nvSpPr>
          <p:cNvPr id="42" name="Text 40"/>
          <p:cNvSpPr/>
          <p:nvPr/>
        </p:nvSpPr>
        <p:spPr>
          <a:xfrm>
            <a:off x="320040" y="4617720"/>
            <a:ext cx="1828800" cy="274320"/>
          </a:xfrm>
          <a:prstGeom prst="rect">
            <a:avLst/>
          </a:prstGeom>
          <a:noFill/>
          <a:ln/>
        </p:spPr>
        <p:txBody>
          <a:bodyPr wrap="square" lIns="0" tIns="0" rIns="0" bIns="0" rtlCol="0" anchor="ctr"/>
          <a:lstStyle/>
          <a:p>
            <a:pPr marL="0" indent="0">
              <a:buNone/>
            </a:pPr>
            <a:r>
              <a:rPr lang="en-US" sz="950" b="1" dirty="0">
                <a:solidFill>
                  <a:srgbClr val="1B2A4A"/>
                </a:solidFill>
                <a:latin typeface="Cambria" pitchFamily="34" charset="0"/>
                <a:ea typeface="Cambria" pitchFamily="34" charset="-122"/>
                <a:cs typeface="Cambria" pitchFamily="34" charset="-120"/>
              </a:rPr>
              <a:t>Key Property Axioms:</a:t>
            </a:r>
            <a:endParaRPr lang="en-US" sz="950" dirty="0"/>
          </a:p>
        </p:txBody>
      </p:sp>
      <p:sp>
        <p:nvSpPr>
          <p:cNvPr id="43" name="Shape 41"/>
          <p:cNvSpPr/>
          <p:nvPr/>
        </p:nvSpPr>
        <p:spPr>
          <a:xfrm>
            <a:off x="2194560" y="4617720"/>
            <a:ext cx="2194560" cy="274320"/>
          </a:xfrm>
          <a:prstGeom prst="roundRect">
            <a:avLst>
              <a:gd name="adj" fmla="val 16667"/>
            </a:avLst>
          </a:prstGeom>
          <a:solidFill>
            <a:srgbClr val="D4F1F4"/>
          </a:solidFill>
          <a:ln w="12700">
            <a:solidFill>
              <a:srgbClr val="0E9AA7"/>
            </a:solidFill>
            <a:prstDash val="solid"/>
          </a:ln>
        </p:spPr>
      </p:sp>
      <p:sp>
        <p:nvSpPr>
          <p:cNvPr id="44" name="Text 42"/>
          <p:cNvSpPr/>
          <p:nvPr/>
        </p:nvSpPr>
        <p:spPr>
          <a:xfrm>
            <a:off x="2194560" y="4617720"/>
            <a:ext cx="2194560" cy="274320"/>
          </a:xfrm>
          <a:prstGeom prst="rect">
            <a:avLst/>
          </a:prstGeom>
          <a:noFill/>
          <a:ln/>
        </p:spPr>
        <p:txBody>
          <a:bodyPr wrap="square" lIns="0" tIns="0" rIns="0" bIns="0" rtlCol="0" anchor="ctr"/>
          <a:lstStyle/>
          <a:p>
            <a:pPr marL="0" indent="0" algn="ctr">
              <a:buNone/>
            </a:pPr>
            <a:r>
              <a:rPr lang="en-US" sz="900" b="1" dirty="0">
                <a:solidFill>
                  <a:srgbClr val="2D3748"/>
                </a:solidFill>
                <a:latin typeface="Calibri" pitchFamily="34" charset="0"/>
                <a:ea typeface="Calibri" pitchFamily="34" charset="-122"/>
                <a:cs typeface="Calibri" pitchFamily="34" charset="-120"/>
              </a:rPr>
              <a:t>hasGrade  ·  Functional</a:t>
            </a:r>
            <a:endParaRPr lang="en-US" sz="900" dirty="0"/>
          </a:p>
        </p:txBody>
      </p:sp>
      <p:sp>
        <p:nvSpPr>
          <p:cNvPr id="45" name="Shape 43"/>
          <p:cNvSpPr/>
          <p:nvPr/>
        </p:nvSpPr>
        <p:spPr>
          <a:xfrm>
            <a:off x="4526280" y="4617720"/>
            <a:ext cx="2194560" cy="274320"/>
          </a:xfrm>
          <a:prstGeom prst="roundRect">
            <a:avLst>
              <a:gd name="adj" fmla="val 16667"/>
            </a:avLst>
          </a:prstGeom>
          <a:solidFill>
            <a:srgbClr val="D4F1F4"/>
          </a:solidFill>
          <a:ln w="12700">
            <a:solidFill>
              <a:srgbClr val="0E9AA7"/>
            </a:solidFill>
            <a:prstDash val="solid"/>
          </a:ln>
        </p:spPr>
      </p:sp>
      <p:sp>
        <p:nvSpPr>
          <p:cNvPr id="46" name="Text 44"/>
          <p:cNvSpPr/>
          <p:nvPr/>
        </p:nvSpPr>
        <p:spPr>
          <a:xfrm>
            <a:off x="4526280" y="4617720"/>
            <a:ext cx="2194560" cy="274320"/>
          </a:xfrm>
          <a:prstGeom prst="rect">
            <a:avLst/>
          </a:prstGeom>
          <a:noFill/>
          <a:ln/>
        </p:spPr>
        <p:txBody>
          <a:bodyPr wrap="square" lIns="0" tIns="0" rIns="0" bIns="0" rtlCol="0" anchor="ctr"/>
          <a:lstStyle/>
          <a:p>
            <a:pPr marL="0" indent="0" algn="ctr">
              <a:buNone/>
            </a:pPr>
            <a:r>
              <a:rPr lang="en-US" sz="900" b="1" dirty="0">
                <a:solidFill>
                  <a:srgbClr val="2D3748"/>
                </a:solidFill>
                <a:latin typeface="Calibri" pitchFamily="34" charset="0"/>
                <a:ea typeface="Calibri" pitchFamily="34" charset="-122"/>
                <a:cs typeface="Calibri" pitchFamily="34" charset="-120"/>
              </a:rPr>
              <a:t>hasPrerequisite  ·  Transitive</a:t>
            </a:r>
            <a:endParaRPr lang="en-US" sz="900" dirty="0"/>
          </a:p>
        </p:txBody>
      </p:sp>
      <p:sp>
        <p:nvSpPr>
          <p:cNvPr id="47" name="Shape 45"/>
          <p:cNvSpPr/>
          <p:nvPr/>
        </p:nvSpPr>
        <p:spPr>
          <a:xfrm>
            <a:off x="6858000" y="4617720"/>
            <a:ext cx="2194560" cy="274320"/>
          </a:xfrm>
          <a:prstGeom prst="roundRect">
            <a:avLst>
              <a:gd name="adj" fmla="val 16667"/>
            </a:avLst>
          </a:prstGeom>
          <a:solidFill>
            <a:srgbClr val="D4F1F4"/>
          </a:solidFill>
          <a:ln w="12700">
            <a:solidFill>
              <a:srgbClr val="0E9AA7"/>
            </a:solidFill>
            <a:prstDash val="solid"/>
          </a:ln>
        </p:spPr>
      </p:sp>
      <p:sp>
        <p:nvSpPr>
          <p:cNvPr id="48" name="Text 46"/>
          <p:cNvSpPr/>
          <p:nvPr/>
        </p:nvSpPr>
        <p:spPr>
          <a:xfrm>
            <a:off x="6858000" y="4617720"/>
            <a:ext cx="2194560" cy="274320"/>
          </a:xfrm>
          <a:prstGeom prst="rect">
            <a:avLst/>
          </a:prstGeom>
          <a:noFill/>
          <a:ln/>
        </p:spPr>
        <p:txBody>
          <a:bodyPr wrap="square" lIns="0" tIns="0" rIns="0" bIns="0" rtlCol="0" anchor="ctr"/>
          <a:lstStyle/>
          <a:p>
            <a:pPr marL="0" indent="0" algn="ctr">
              <a:buNone/>
            </a:pPr>
            <a:r>
              <a:rPr lang="en-US" sz="900" b="1" dirty="0">
                <a:solidFill>
                  <a:srgbClr val="2D3748"/>
                </a:solidFill>
                <a:latin typeface="Calibri" pitchFamily="34" charset="0"/>
                <a:ea typeface="Calibri" pitchFamily="34" charset="-122"/>
                <a:cs typeface="Calibri" pitchFamily="34" charset="-120"/>
              </a:rPr>
              <a:t>LateSubmission  ·  Defined (Inferred)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4A"/>
          </a:solidFill>
          <a:ln w="12700">
            <a:solidFill>
              <a:srgbClr val="1B2A4A"/>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Object Properties &amp; Modeling Decisions</a:t>
            </a:r>
            <a:endParaRPr lang="en-US" sz="2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20040" y="822960"/>
          <a:ext cx="8503920" cy="3474720"/>
        </p:xfrm>
        <a:graphic>
          <a:graphicData uri="http://schemas.openxmlformats.org/drawingml/2006/table">
            <a:tbl>
              <a:tblPr/>
              <a:tblGrid>
                <a:gridCol w="27432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386080">
                <a:tc>
                  <a:txBody>
                    <a:bodyPr/>
                    <a:lstStyle/>
                    <a:p>
                      <a:pPr marL="0" indent="0">
                        <a:buNone/>
                      </a:pPr>
                      <a:r>
                        <a:rPr lang="en-US" sz="1000" b="1" dirty="0">
                          <a:solidFill>
                            <a:srgbClr val="FFFFFF"/>
                          </a:solidFill>
                          <a:latin typeface="Cambria" pitchFamily="34" charset="0"/>
                          <a:ea typeface="Cambria" pitchFamily="34" charset="-122"/>
                          <a:cs typeface="Cambria" pitchFamily="34" charset="-120"/>
                        </a:rPr>
                        <a:t>Property</a:t>
                      </a:r>
                      <a:endParaRPr lang="en-US" sz="1000" dirty="0">
                        <a:latin typeface="Cambria" charset="0"/>
                        <a:ea typeface="Cambria" charset="0"/>
                        <a:cs typeface="Cambria"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1B2A4A"/>
                    </a:solidFill>
                  </a:tcPr>
                </a:tc>
                <a:tc>
                  <a:txBody>
                    <a:bodyPr/>
                    <a:lstStyle/>
                    <a:p>
                      <a:pPr marL="0" indent="0">
                        <a:buNone/>
                      </a:pPr>
                      <a:r>
                        <a:rPr lang="en-US" sz="1000" b="1" dirty="0">
                          <a:solidFill>
                            <a:srgbClr val="FFFFFF"/>
                          </a:solidFill>
                          <a:latin typeface="Cambria" pitchFamily="34" charset="0"/>
                          <a:ea typeface="Cambria" pitchFamily="34" charset="-122"/>
                          <a:cs typeface="Cambria" pitchFamily="34" charset="-120"/>
                        </a:rPr>
                        <a:t>Domain → Range</a:t>
                      </a:r>
                      <a:endParaRPr lang="en-US" sz="1000" dirty="0">
                        <a:latin typeface="Cambria" charset="0"/>
                        <a:ea typeface="Cambria" charset="0"/>
                        <a:cs typeface="Cambria"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1B2A4A"/>
                    </a:solidFill>
                  </a:tcPr>
                </a:tc>
                <a:tc>
                  <a:txBody>
                    <a:bodyPr/>
                    <a:lstStyle/>
                    <a:p>
                      <a:pPr marL="0" indent="0">
                        <a:buNone/>
                      </a:pPr>
                      <a:r>
                        <a:rPr lang="en-US" sz="1000" b="1" dirty="0">
                          <a:solidFill>
                            <a:srgbClr val="FFFFFF"/>
                          </a:solidFill>
                          <a:latin typeface="Cambria" pitchFamily="34" charset="0"/>
                          <a:ea typeface="Cambria" pitchFamily="34" charset="-122"/>
                          <a:cs typeface="Cambria" pitchFamily="34" charset="-120"/>
                        </a:rPr>
                        <a:t>Characteristics</a:t>
                      </a:r>
                      <a:endParaRPr lang="en-US" sz="1000" dirty="0">
                        <a:latin typeface="Cambria" charset="0"/>
                        <a:ea typeface="Cambria" charset="0"/>
                        <a:cs typeface="Cambria"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6080">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enrolledIn / hasStudent</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FFFFF"/>
                    </a:solidFill>
                  </a:tcPr>
                </a:tc>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Student ↔ Course</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FFFFF"/>
                    </a:solidFill>
                  </a:tcPr>
                </a:tc>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Inverse pair</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6080">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teaches / isTaughtBy</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4F7FB"/>
                    </a:solidFill>
                  </a:tcPr>
                </a:tc>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Instructor ↔ Course</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4F7FB"/>
                    </a:solidFill>
                  </a:tcPr>
                </a:tc>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Inverse; isTaughtBy: Functional</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386080">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hasSubmission / submissionFor</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FFFFF"/>
                    </a:solidFill>
                  </a:tcPr>
                </a:tc>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Assignment ↔ Submission</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FFFFF"/>
                    </a:solidFill>
                  </a:tcPr>
                </a:tc>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Inverse; submissionFor: Functional</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6080">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submittedBy / submits</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4F7FB"/>
                    </a:solidFill>
                  </a:tcPr>
                </a:tc>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Submission ↔ Student</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4F7FB"/>
                    </a:solidFill>
                  </a:tcPr>
                </a:tc>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Inverse pair</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386080">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hasGrade</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FFFFF"/>
                    </a:solidFill>
                  </a:tcPr>
                </a:tc>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Submission → Grade</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FFFFF"/>
                    </a:solidFill>
                  </a:tcPr>
                </a:tc>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Functional (1 grade per submission)</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6080">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hasFeedback / isFeedbackFor</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4F7FB"/>
                    </a:solidFill>
                  </a:tcPr>
                </a:tc>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Submission ↔ Feedback</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4F7FB"/>
                    </a:solidFill>
                  </a:tcPr>
                </a:tc>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Inverse pair</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4F7FB"/>
                    </a:solidFill>
                  </a:tcPr>
                </a:tc>
                <a:extLst>
                  <a:ext uri="{0D108BD9-81ED-4DB2-BD59-A6C34878D82A}">
                    <a16:rowId xmlns:a16="http://schemas.microsoft.com/office/drawing/2014/main" val="10006"/>
                  </a:ext>
                </a:extLst>
              </a:tr>
              <a:tr h="386080">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hasPrerequisite</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FFFFF"/>
                    </a:solidFill>
                  </a:tcPr>
                </a:tc>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Course → Course</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FFFFF"/>
                    </a:solidFill>
                  </a:tcPr>
                </a:tc>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Transitive (chain inference)</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6080">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hasLearningObjective</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4F7FB"/>
                    </a:solidFill>
                  </a:tcPr>
                </a:tc>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Course → LearningObjective</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4F7FB"/>
                    </a:solidFill>
                  </a:tcPr>
                </a:tc>
                <a:tc>
                  <a:txBody>
                    <a:bodyPr/>
                    <a:lstStyle/>
                    <a:p>
                      <a:pPr marL="0" indent="0">
                        <a:buNone/>
                      </a:pPr>
                      <a:r>
                        <a:rPr lang="en-US" sz="950" dirty="0">
                          <a:solidFill>
                            <a:srgbClr val="2D3748"/>
                          </a:solidFill>
                          <a:latin typeface="Calibri" pitchFamily="34" charset="0"/>
                          <a:ea typeface="Calibri" pitchFamily="34" charset="-122"/>
                          <a:cs typeface="Calibri" pitchFamily="34" charset="-120"/>
                        </a:rPr>
                        <a:t>Inverse: isLearningObjectiveOf</a:t>
                      </a:r>
                      <a:endParaRPr lang="en-US" sz="950" dirty="0">
                        <a:latin typeface="Calibri" charset="0"/>
                        <a:ea typeface="Calibri" charset="0"/>
                        <a:cs typeface="Calibri" charset="0"/>
                      </a:endParaRPr>
                    </a:p>
                  </a:txBody>
                  <a:tcPr>
                    <a:lnL w="6350" cap="flat" cmpd="sng" algn="ctr">
                      <a:solidFill>
                        <a:srgbClr val="D0E4EA"/>
                      </a:solidFill>
                      <a:prstDash val="solid"/>
                      <a:round/>
                      <a:headEnd type="none" w="med" len="med"/>
                      <a:tailEnd type="none" w="med" len="med"/>
                    </a:lnL>
                    <a:lnR w="6350" cap="flat" cmpd="sng" algn="ctr">
                      <a:solidFill>
                        <a:srgbClr val="D0E4EA"/>
                      </a:solidFill>
                      <a:prstDash val="solid"/>
                      <a:round/>
                      <a:headEnd type="none" w="med" len="med"/>
                      <a:tailEnd type="none" w="med" len="med"/>
                    </a:lnR>
                    <a:lnT w="6350" cap="flat" cmpd="sng" algn="ctr">
                      <a:solidFill>
                        <a:srgbClr val="D0E4EA"/>
                      </a:solidFill>
                      <a:prstDash val="solid"/>
                      <a:round/>
                      <a:headEnd type="none" w="med" len="med"/>
                      <a:tailEnd type="none" w="med" len="med"/>
                    </a:lnT>
                    <a:lnB w="6350" cap="flat" cmpd="sng" algn="ctr">
                      <a:solidFill>
                        <a:srgbClr val="D0E4EA"/>
                      </a:solidFill>
                      <a:prstDash val="solid"/>
                      <a:round/>
                      <a:headEnd type="none" w="med" len="med"/>
                      <a:tailEnd type="none" w="med" len="med"/>
                    </a:lnB>
                    <a:solidFill>
                      <a:srgbClr val="F4F7FB"/>
                    </a:solidFill>
                  </a:tcPr>
                </a:tc>
                <a:extLst>
                  <a:ext uri="{0D108BD9-81ED-4DB2-BD59-A6C34878D82A}">
                    <a16:rowId xmlns:a16="http://schemas.microsoft.com/office/drawing/2014/main" val="10008"/>
                  </a:ext>
                </a:extLst>
              </a:tr>
            </a:tbl>
          </a:graphicData>
        </a:graphic>
      </p:graphicFrame>
      <p:sp>
        <p:nvSpPr>
          <p:cNvPr id="5" name="Shape 2"/>
          <p:cNvSpPr/>
          <p:nvPr/>
        </p:nvSpPr>
        <p:spPr>
          <a:xfrm>
            <a:off x="320040" y="4370832"/>
            <a:ext cx="8503920" cy="502920"/>
          </a:xfrm>
          <a:prstGeom prst="roundRect">
            <a:avLst>
              <a:gd name="adj" fmla="val 14545"/>
            </a:avLst>
          </a:prstGeom>
          <a:solidFill>
            <a:srgbClr val="0E9AA7"/>
          </a:solidFill>
          <a:ln w="12700">
            <a:solidFill>
              <a:srgbClr val="0E9AA7"/>
            </a:solidFill>
            <a:prstDash val="solid"/>
          </a:ln>
        </p:spPr>
      </p:sp>
      <p:sp>
        <p:nvSpPr>
          <p:cNvPr id="6" name="Text 3"/>
          <p:cNvSpPr/>
          <p:nvPr/>
        </p:nvSpPr>
        <p:spPr>
          <a:xfrm>
            <a:off x="457200" y="4389120"/>
            <a:ext cx="8229600" cy="45720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15 Datatype Properties: hasName · studentID · employeeID · courseTitle · courseCode · moduleTitle · assignmentTitle · dueDate · submissionDate · score · feedbackText · objectiveDescription ···</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4A"/>
          </a:solidFill>
          <a:ln w="12700">
            <a:solidFill>
              <a:srgbClr val="1B2A4A"/>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Knowledge Graph Construction</a:t>
            </a:r>
            <a:endParaRPr lang="en-US" sz="2200" dirty="0"/>
          </a:p>
        </p:txBody>
      </p:sp>
      <p:sp>
        <p:nvSpPr>
          <p:cNvPr id="4" name="Shape 2"/>
          <p:cNvSpPr/>
          <p:nvPr/>
        </p:nvSpPr>
        <p:spPr>
          <a:xfrm>
            <a:off x="320040" y="804672"/>
            <a:ext cx="1325880" cy="960120"/>
          </a:xfrm>
          <a:prstGeom prst="roundRect">
            <a:avLst>
              <a:gd name="adj" fmla="val 9524"/>
            </a:avLst>
          </a:prstGeom>
          <a:solidFill>
            <a:srgbClr val="F4F7FB"/>
          </a:solidFill>
          <a:ln w="12700">
            <a:solidFill>
              <a:srgbClr val="D4F1F4"/>
            </a:solidFill>
            <a:prstDash val="solid"/>
          </a:ln>
          <a:effectLst>
            <a:outerShdw blurRad="101600" dist="25400" dir="2700000" algn="bl" rotWithShape="0">
              <a:srgbClr val="000000">
                <a:alpha val="12000"/>
              </a:srgbClr>
            </a:outerShdw>
          </a:effectLst>
        </p:spPr>
      </p:sp>
      <p:sp>
        <p:nvSpPr>
          <p:cNvPr id="5" name="Text 3"/>
          <p:cNvSpPr/>
          <p:nvPr/>
        </p:nvSpPr>
        <p:spPr>
          <a:xfrm>
            <a:off x="320040" y="877824"/>
            <a:ext cx="1325880" cy="502920"/>
          </a:xfrm>
          <a:prstGeom prst="rect">
            <a:avLst/>
          </a:prstGeom>
          <a:noFill/>
          <a:ln/>
        </p:spPr>
        <p:txBody>
          <a:bodyPr wrap="square" lIns="0" tIns="0" rIns="0" bIns="0" rtlCol="0" anchor="ctr"/>
          <a:lstStyle/>
          <a:p>
            <a:pPr marL="0" indent="0" algn="ctr">
              <a:buNone/>
            </a:pPr>
            <a:r>
              <a:rPr lang="en-US" sz="3200" b="1" dirty="0">
                <a:solidFill>
                  <a:srgbClr val="0E9AA7"/>
                </a:solidFill>
                <a:latin typeface="Cambria" pitchFamily="34" charset="0"/>
                <a:ea typeface="Cambria" pitchFamily="34" charset="-122"/>
                <a:cs typeface="Cambria" pitchFamily="34" charset="-120"/>
              </a:rPr>
              <a:t>7</a:t>
            </a:r>
            <a:endParaRPr lang="en-US" sz="3200" dirty="0"/>
          </a:p>
        </p:txBody>
      </p:sp>
      <p:sp>
        <p:nvSpPr>
          <p:cNvPr id="6" name="Text 4"/>
          <p:cNvSpPr/>
          <p:nvPr/>
        </p:nvSpPr>
        <p:spPr>
          <a:xfrm>
            <a:off x="320040" y="1371600"/>
            <a:ext cx="1325880" cy="347472"/>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Students</a:t>
            </a:r>
            <a:endParaRPr lang="en-US" sz="1000" dirty="0"/>
          </a:p>
        </p:txBody>
      </p:sp>
      <p:sp>
        <p:nvSpPr>
          <p:cNvPr id="7" name="Shape 5"/>
          <p:cNvSpPr/>
          <p:nvPr/>
        </p:nvSpPr>
        <p:spPr>
          <a:xfrm>
            <a:off x="1764792" y="804672"/>
            <a:ext cx="1325880" cy="960120"/>
          </a:xfrm>
          <a:prstGeom prst="roundRect">
            <a:avLst>
              <a:gd name="adj" fmla="val 9524"/>
            </a:avLst>
          </a:prstGeom>
          <a:solidFill>
            <a:srgbClr val="F4F7FB"/>
          </a:solidFill>
          <a:ln w="12700">
            <a:solidFill>
              <a:srgbClr val="D4F1F4"/>
            </a:solidFill>
            <a:prstDash val="solid"/>
          </a:ln>
          <a:effectLst>
            <a:outerShdw blurRad="101600" dist="25400" dir="2700000" algn="bl" rotWithShape="0">
              <a:srgbClr val="000000">
                <a:alpha val="12000"/>
              </a:srgbClr>
            </a:outerShdw>
          </a:effectLst>
        </p:spPr>
      </p:sp>
      <p:sp>
        <p:nvSpPr>
          <p:cNvPr id="8" name="Text 6"/>
          <p:cNvSpPr/>
          <p:nvPr/>
        </p:nvSpPr>
        <p:spPr>
          <a:xfrm>
            <a:off x="1764792" y="877824"/>
            <a:ext cx="1325880" cy="502920"/>
          </a:xfrm>
          <a:prstGeom prst="rect">
            <a:avLst/>
          </a:prstGeom>
          <a:noFill/>
          <a:ln/>
        </p:spPr>
        <p:txBody>
          <a:bodyPr wrap="square" lIns="0" tIns="0" rIns="0" bIns="0" rtlCol="0" anchor="ctr"/>
          <a:lstStyle/>
          <a:p>
            <a:pPr marL="0" indent="0" algn="ctr">
              <a:buNone/>
            </a:pPr>
            <a:r>
              <a:rPr lang="en-US" sz="3200" b="1" dirty="0">
                <a:solidFill>
                  <a:srgbClr val="0E9AA7"/>
                </a:solidFill>
                <a:latin typeface="Cambria" pitchFamily="34" charset="0"/>
                <a:ea typeface="Cambria" pitchFamily="34" charset="-122"/>
                <a:cs typeface="Cambria" pitchFamily="34" charset="-120"/>
              </a:rPr>
              <a:t>2</a:t>
            </a:r>
            <a:endParaRPr lang="en-US" sz="3200" dirty="0"/>
          </a:p>
        </p:txBody>
      </p:sp>
      <p:sp>
        <p:nvSpPr>
          <p:cNvPr id="9" name="Text 7"/>
          <p:cNvSpPr/>
          <p:nvPr/>
        </p:nvSpPr>
        <p:spPr>
          <a:xfrm>
            <a:off x="1764792" y="1371600"/>
            <a:ext cx="1325880" cy="347472"/>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Courses</a:t>
            </a:r>
            <a:endParaRPr lang="en-US" sz="1000" dirty="0"/>
          </a:p>
        </p:txBody>
      </p:sp>
      <p:sp>
        <p:nvSpPr>
          <p:cNvPr id="10" name="Shape 8"/>
          <p:cNvSpPr/>
          <p:nvPr/>
        </p:nvSpPr>
        <p:spPr>
          <a:xfrm>
            <a:off x="3209544" y="804672"/>
            <a:ext cx="1325880" cy="960120"/>
          </a:xfrm>
          <a:prstGeom prst="roundRect">
            <a:avLst>
              <a:gd name="adj" fmla="val 9524"/>
            </a:avLst>
          </a:prstGeom>
          <a:solidFill>
            <a:srgbClr val="F4F7FB"/>
          </a:solidFill>
          <a:ln w="12700">
            <a:solidFill>
              <a:srgbClr val="D4F1F4"/>
            </a:solidFill>
            <a:prstDash val="solid"/>
          </a:ln>
          <a:effectLst>
            <a:outerShdw blurRad="101600" dist="25400" dir="2700000" algn="bl" rotWithShape="0">
              <a:srgbClr val="000000">
                <a:alpha val="12000"/>
              </a:srgbClr>
            </a:outerShdw>
          </a:effectLst>
        </p:spPr>
      </p:sp>
      <p:sp>
        <p:nvSpPr>
          <p:cNvPr id="11" name="Text 9"/>
          <p:cNvSpPr/>
          <p:nvPr/>
        </p:nvSpPr>
        <p:spPr>
          <a:xfrm>
            <a:off x="3209544" y="877824"/>
            <a:ext cx="1325880" cy="502920"/>
          </a:xfrm>
          <a:prstGeom prst="rect">
            <a:avLst/>
          </a:prstGeom>
          <a:noFill/>
          <a:ln/>
        </p:spPr>
        <p:txBody>
          <a:bodyPr wrap="square" lIns="0" tIns="0" rIns="0" bIns="0" rtlCol="0" anchor="ctr"/>
          <a:lstStyle/>
          <a:p>
            <a:pPr marL="0" indent="0" algn="ctr">
              <a:buNone/>
            </a:pPr>
            <a:r>
              <a:rPr lang="en-US" sz="3200" b="1" dirty="0">
                <a:solidFill>
                  <a:srgbClr val="0E9AA7"/>
                </a:solidFill>
                <a:latin typeface="Cambria" pitchFamily="34" charset="0"/>
                <a:ea typeface="Cambria" pitchFamily="34" charset="-122"/>
                <a:cs typeface="Cambria" pitchFamily="34" charset="-120"/>
              </a:rPr>
              <a:t>4</a:t>
            </a:r>
            <a:endParaRPr lang="en-US" sz="3200" dirty="0"/>
          </a:p>
        </p:txBody>
      </p:sp>
      <p:sp>
        <p:nvSpPr>
          <p:cNvPr id="12" name="Text 10"/>
          <p:cNvSpPr/>
          <p:nvPr/>
        </p:nvSpPr>
        <p:spPr>
          <a:xfrm>
            <a:off x="3209544" y="1371600"/>
            <a:ext cx="1325880" cy="347472"/>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Assignments</a:t>
            </a:r>
            <a:endParaRPr lang="en-US" sz="1000" dirty="0"/>
          </a:p>
        </p:txBody>
      </p:sp>
      <p:sp>
        <p:nvSpPr>
          <p:cNvPr id="13" name="Shape 11"/>
          <p:cNvSpPr/>
          <p:nvPr/>
        </p:nvSpPr>
        <p:spPr>
          <a:xfrm>
            <a:off x="4654296" y="804672"/>
            <a:ext cx="1325880" cy="960120"/>
          </a:xfrm>
          <a:prstGeom prst="roundRect">
            <a:avLst>
              <a:gd name="adj" fmla="val 9524"/>
            </a:avLst>
          </a:prstGeom>
          <a:solidFill>
            <a:srgbClr val="F4F7FB"/>
          </a:solidFill>
          <a:ln w="12700">
            <a:solidFill>
              <a:srgbClr val="D4F1F4"/>
            </a:solidFill>
            <a:prstDash val="solid"/>
          </a:ln>
          <a:effectLst>
            <a:outerShdw blurRad="101600" dist="25400" dir="2700000" algn="bl" rotWithShape="0">
              <a:srgbClr val="000000">
                <a:alpha val="12000"/>
              </a:srgbClr>
            </a:outerShdw>
          </a:effectLst>
        </p:spPr>
      </p:sp>
      <p:sp>
        <p:nvSpPr>
          <p:cNvPr id="14" name="Text 12"/>
          <p:cNvSpPr/>
          <p:nvPr/>
        </p:nvSpPr>
        <p:spPr>
          <a:xfrm>
            <a:off x="4654296" y="877824"/>
            <a:ext cx="1325880" cy="502920"/>
          </a:xfrm>
          <a:prstGeom prst="rect">
            <a:avLst/>
          </a:prstGeom>
          <a:noFill/>
          <a:ln/>
        </p:spPr>
        <p:txBody>
          <a:bodyPr wrap="square" lIns="0" tIns="0" rIns="0" bIns="0" rtlCol="0" anchor="ctr"/>
          <a:lstStyle/>
          <a:p>
            <a:pPr marL="0" indent="0" algn="ctr">
              <a:buNone/>
            </a:pPr>
            <a:r>
              <a:rPr lang="en-US" sz="3200" b="1" dirty="0">
                <a:solidFill>
                  <a:srgbClr val="0E9AA7"/>
                </a:solidFill>
                <a:latin typeface="Cambria" pitchFamily="34" charset="0"/>
                <a:ea typeface="Cambria" pitchFamily="34" charset="-122"/>
                <a:cs typeface="Cambria" pitchFamily="34" charset="-120"/>
              </a:rPr>
              <a:t>5</a:t>
            </a:r>
            <a:endParaRPr lang="en-US" sz="3200" dirty="0"/>
          </a:p>
        </p:txBody>
      </p:sp>
      <p:sp>
        <p:nvSpPr>
          <p:cNvPr id="15" name="Text 13"/>
          <p:cNvSpPr/>
          <p:nvPr/>
        </p:nvSpPr>
        <p:spPr>
          <a:xfrm>
            <a:off x="4654296" y="1371600"/>
            <a:ext cx="1325880" cy="347472"/>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Submissions</a:t>
            </a:r>
            <a:endParaRPr lang="en-US" sz="1000" dirty="0"/>
          </a:p>
        </p:txBody>
      </p:sp>
      <p:sp>
        <p:nvSpPr>
          <p:cNvPr id="16" name="Shape 14"/>
          <p:cNvSpPr/>
          <p:nvPr/>
        </p:nvSpPr>
        <p:spPr>
          <a:xfrm>
            <a:off x="6099048" y="804672"/>
            <a:ext cx="1325880" cy="960120"/>
          </a:xfrm>
          <a:prstGeom prst="roundRect">
            <a:avLst>
              <a:gd name="adj" fmla="val 9524"/>
            </a:avLst>
          </a:prstGeom>
          <a:solidFill>
            <a:srgbClr val="F4F7FB"/>
          </a:solidFill>
          <a:ln w="12700">
            <a:solidFill>
              <a:srgbClr val="D4F1F4"/>
            </a:solidFill>
            <a:prstDash val="solid"/>
          </a:ln>
          <a:effectLst>
            <a:outerShdw blurRad="101600" dist="25400" dir="2700000" algn="bl" rotWithShape="0">
              <a:srgbClr val="000000">
                <a:alpha val="12000"/>
              </a:srgbClr>
            </a:outerShdw>
          </a:effectLst>
        </p:spPr>
      </p:sp>
      <p:sp>
        <p:nvSpPr>
          <p:cNvPr id="17" name="Text 15"/>
          <p:cNvSpPr/>
          <p:nvPr/>
        </p:nvSpPr>
        <p:spPr>
          <a:xfrm>
            <a:off x="6099048" y="877824"/>
            <a:ext cx="1325880" cy="502920"/>
          </a:xfrm>
          <a:prstGeom prst="rect">
            <a:avLst/>
          </a:prstGeom>
          <a:noFill/>
          <a:ln/>
        </p:spPr>
        <p:txBody>
          <a:bodyPr wrap="square" lIns="0" tIns="0" rIns="0" bIns="0" rtlCol="0" anchor="ctr"/>
          <a:lstStyle/>
          <a:p>
            <a:pPr marL="0" indent="0" algn="ctr">
              <a:buNone/>
            </a:pPr>
            <a:r>
              <a:rPr lang="en-US" sz="3200" b="1" dirty="0">
                <a:solidFill>
                  <a:srgbClr val="0E9AA7"/>
                </a:solidFill>
                <a:latin typeface="Cambria" pitchFamily="34" charset="0"/>
                <a:ea typeface="Cambria" pitchFamily="34" charset="-122"/>
                <a:cs typeface="Cambria" pitchFamily="34" charset="-120"/>
              </a:rPr>
              <a:t>5</a:t>
            </a:r>
            <a:endParaRPr lang="en-US" sz="3200" dirty="0"/>
          </a:p>
        </p:txBody>
      </p:sp>
      <p:sp>
        <p:nvSpPr>
          <p:cNvPr id="18" name="Text 16"/>
          <p:cNvSpPr/>
          <p:nvPr/>
        </p:nvSpPr>
        <p:spPr>
          <a:xfrm>
            <a:off x="6099048" y="1371600"/>
            <a:ext cx="1325880" cy="347472"/>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Grades</a:t>
            </a:r>
            <a:endParaRPr lang="en-US" sz="1000" dirty="0"/>
          </a:p>
        </p:txBody>
      </p:sp>
      <p:sp>
        <p:nvSpPr>
          <p:cNvPr id="19" name="Shape 17"/>
          <p:cNvSpPr/>
          <p:nvPr/>
        </p:nvSpPr>
        <p:spPr>
          <a:xfrm>
            <a:off x="7543800" y="804672"/>
            <a:ext cx="1325880" cy="960120"/>
          </a:xfrm>
          <a:prstGeom prst="roundRect">
            <a:avLst>
              <a:gd name="adj" fmla="val 9524"/>
            </a:avLst>
          </a:prstGeom>
          <a:solidFill>
            <a:srgbClr val="F4F7FB"/>
          </a:solidFill>
          <a:ln w="12700">
            <a:solidFill>
              <a:srgbClr val="D4F1F4"/>
            </a:solidFill>
            <a:prstDash val="solid"/>
          </a:ln>
          <a:effectLst>
            <a:outerShdw blurRad="101600" dist="25400" dir="2700000" algn="bl" rotWithShape="0">
              <a:srgbClr val="000000">
                <a:alpha val="12000"/>
              </a:srgbClr>
            </a:outerShdw>
          </a:effectLst>
        </p:spPr>
      </p:sp>
      <p:sp>
        <p:nvSpPr>
          <p:cNvPr id="20" name="Text 18"/>
          <p:cNvSpPr/>
          <p:nvPr/>
        </p:nvSpPr>
        <p:spPr>
          <a:xfrm>
            <a:off x="7543800" y="877824"/>
            <a:ext cx="1325880" cy="502920"/>
          </a:xfrm>
          <a:prstGeom prst="rect">
            <a:avLst/>
          </a:prstGeom>
          <a:noFill/>
          <a:ln/>
        </p:spPr>
        <p:txBody>
          <a:bodyPr wrap="square" lIns="0" tIns="0" rIns="0" bIns="0" rtlCol="0" anchor="ctr"/>
          <a:lstStyle/>
          <a:p>
            <a:pPr marL="0" indent="0" algn="ctr">
              <a:buNone/>
            </a:pPr>
            <a:r>
              <a:rPr lang="en-US" sz="3200" b="1" dirty="0">
                <a:solidFill>
                  <a:srgbClr val="0E9AA7"/>
                </a:solidFill>
                <a:latin typeface="Cambria" pitchFamily="34" charset="0"/>
                <a:ea typeface="Cambria" pitchFamily="34" charset="-122"/>
                <a:cs typeface="Cambria" pitchFamily="34" charset="-120"/>
              </a:rPr>
              <a:t>4</a:t>
            </a:r>
            <a:endParaRPr lang="en-US" sz="3200" dirty="0"/>
          </a:p>
        </p:txBody>
      </p:sp>
      <p:sp>
        <p:nvSpPr>
          <p:cNvPr id="21" name="Text 19"/>
          <p:cNvSpPr/>
          <p:nvPr/>
        </p:nvSpPr>
        <p:spPr>
          <a:xfrm>
            <a:off x="7543800" y="1371600"/>
            <a:ext cx="1325880" cy="347472"/>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Feedback</a:t>
            </a:r>
            <a:endParaRPr lang="en-US" sz="1000" dirty="0"/>
          </a:p>
        </p:txBody>
      </p:sp>
      <p:sp>
        <p:nvSpPr>
          <p:cNvPr id="22" name="Shape 20"/>
          <p:cNvSpPr/>
          <p:nvPr/>
        </p:nvSpPr>
        <p:spPr>
          <a:xfrm>
            <a:off x="320040" y="1920240"/>
            <a:ext cx="5303520" cy="2834640"/>
          </a:xfrm>
          <a:prstGeom prst="roundRect">
            <a:avLst>
              <a:gd name="adj" fmla="val 3226"/>
            </a:avLst>
          </a:prstGeom>
          <a:solidFill>
            <a:srgbClr val="2D3748"/>
          </a:solidFill>
          <a:ln w="12700">
            <a:solidFill>
              <a:srgbClr val="1B2A4A"/>
            </a:solidFill>
            <a:prstDash val="solid"/>
          </a:ln>
          <a:effectLst>
            <a:outerShdw blurRad="101600" dist="25400" dir="2700000" algn="bl" rotWithShape="0">
              <a:srgbClr val="000000">
                <a:alpha val="12000"/>
              </a:srgbClr>
            </a:outerShdw>
          </a:effectLst>
        </p:spPr>
      </p:sp>
      <p:sp>
        <p:nvSpPr>
          <p:cNvPr id="23" name="Text 21"/>
          <p:cNvSpPr/>
          <p:nvPr/>
        </p:nvSpPr>
        <p:spPr>
          <a:xfrm>
            <a:off x="457200" y="1965960"/>
            <a:ext cx="5029200" cy="320040"/>
          </a:xfrm>
          <a:prstGeom prst="rect">
            <a:avLst/>
          </a:prstGeom>
          <a:noFill/>
          <a:ln/>
        </p:spPr>
        <p:txBody>
          <a:bodyPr wrap="square" lIns="0" tIns="0" rIns="0" bIns="0" rtlCol="0" anchor="ctr"/>
          <a:lstStyle/>
          <a:p>
            <a:pPr marL="0" indent="0">
              <a:buNone/>
            </a:pPr>
            <a:r>
              <a:rPr lang="en-US" sz="1100" b="1" dirty="0">
                <a:solidFill>
                  <a:srgbClr val="0E9AA7"/>
                </a:solidFill>
                <a:latin typeface="Cambria" pitchFamily="34" charset="0"/>
                <a:ea typeface="Cambria" pitchFamily="34" charset="-122"/>
                <a:cs typeface="Cambria" pitchFamily="34" charset="-120"/>
              </a:rPr>
              <a:t>RDF Triple Examples</a:t>
            </a:r>
            <a:endParaRPr lang="en-US" sz="1100" dirty="0"/>
          </a:p>
        </p:txBody>
      </p:sp>
      <p:sp>
        <p:nvSpPr>
          <p:cNvPr id="24" name="Text 22"/>
          <p:cNvSpPr/>
          <p:nvPr/>
        </p:nvSpPr>
        <p:spPr>
          <a:xfrm>
            <a:off x="457200" y="2377440"/>
            <a:ext cx="5029200" cy="347472"/>
          </a:xfrm>
          <a:prstGeom prst="rect">
            <a:avLst/>
          </a:prstGeom>
          <a:noFill/>
          <a:ln/>
        </p:spPr>
        <p:txBody>
          <a:bodyPr wrap="square" lIns="0" tIns="0" rIns="0" bIns="0" rtlCol="0" anchor="ctr"/>
          <a:lstStyle/>
          <a:p>
            <a:pPr marL="0" indent="0">
              <a:buNone/>
            </a:pPr>
            <a:r>
              <a:rPr lang="en-US" sz="900" dirty="0">
                <a:solidFill>
                  <a:srgbClr val="D4F1F4"/>
                </a:solidFill>
                <a:latin typeface="Courier New" pitchFamily="34" charset="0"/>
                <a:ea typeface="Courier New" pitchFamily="34" charset="-122"/>
                <a:cs typeface="Courier New" pitchFamily="34" charset="-120"/>
              </a:rPr>
              <a:t>Student_FatmaAlsaghir  enrolledIn  Course_KnowledgeEng</a:t>
            </a:r>
            <a:endParaRPr lang="en-US" sz="900" dirty="0"/>
          </a:p>
        </p:txBody>
      </p:sp>
      <p:sp>
        <p:nvSpPr>
          <p:cNvPr id="25" name="Text 23"/>
          <p:cNvSpPr/>
          <p:nvPr/>
        </p:nvSpPr>
        <p:spPr>
          <a:xfrm>
            <a:off x="457200" y="2770632"/>
            <a:ext cx="5029200" cy="347472"/>
          </a:xfrm>
          <a:prstGeom prst="rect">
            <a:avLst/>
          </a:prstGeom>
          <a:noFill/>
          <a:ln/>
        </p:spPr>
        <p:txBody>
          <a:bodyPr wrap="square" lIns="0" tIns="0" rIns="0" bIns="0" rtlCol="0" anchor="ctr"/>
          <a:lstStyle/>
          <a:p>
            <a:pPr marL="0" indent="0">
              <a:buNone/>
            </a:pPr>
            <a:r>
              <a:rPr lang="en-US" sz="900" dirty="0">
                <a:solidFill>
                  <a:srgbClr val="D4F1F4"/>
                </a:solidFill>
                <a:latin typeface="Courier New" pitchFamily="34" charset="0"/>
                <a:ea typeface="Courier New" pitchFamily="34" charset="-122"/>
                <a:cs typeface="Courier New" pitchFamily="34" charset="-120"/>
              </a:rPr>
              <a:t>Instructor_ProfessorSmith  teaches  Course_SemanticWeb</a:t>
            </a:r>
            <a:endParaRPr lang="en-US" sz="900" dirty="0"/>
          </a:p>
        </p:txBody>
      </p:sp>
      <p:sp>
        <p:nvSpPr>
          <p:cNvPr id="26" name="Text 24"/>
          <p:cNvSpPr/>
          <p:nvPr/>
        </p:nvSpPr>
        <p:spPr>
          <a:xfrm>
            <a:off x="457200" y="3163824"/>
            <a:ext cx="5029200" cy="347472"/>
          </a:xfrm>
          <a:prstGeom prst="rect">
            <a:avLst/>
          </a:prstGeom>
          <a:noFill/>
          <a:ln/>
        </p:spPr>
        <p:txBody>
          <a:bodyPr wrap="square" lIns="0" tIns="0" rIns="0" bIns="0" rtlCol="0" anchor="ctr"/>
          <a:lstStyle/>
          <a:p>
            <a:pPr marL="0" indent="0">
              <a:buNone/>
            </a:pPr>
            <a:r>
              <a:rPr lang="en-US" sz="900" dirty="0">
                <a:solidFill>
                  <a:srgbClr val="D4F1F4"/>
                </a:solidFill>
                <a:latin typeface="Courier New" pitchFamily="34" charset="0"/>
                <a:ea typeface="Courier New" pitchFamily="34" charset="-122"/>
                <a:cs typeface="Courier New" pitchFamily="34" charset="-120"/>
              </a:rPr>
              <a:t>Course_SemanticWeb  hasPrerequisite  Course_KnowledgeEng</a:t>
            </a:r>
            <a:endParaRPr lang="en-US" sz="900" dirty="0"/>
          </a:p>
        </p:txBody>
      </p:sp>
      <p:sp>
        <p:nvSpPr>
          <p:cNvPr id="27" name="Text 25"/>
          <p:cNvSpPr/>
          <p:nvPr/>
        </p:nvSpPr>
        <p:spPr>
          <a:xfrm>
            <a:off x="457200" y="3557016"/>
            <a:ext cx="5029200" cy="347472"/>
          </a:xfrm>
          <a:prstGeom prst="rect">
            <a:avLst/>
          </a:prstGeom>
          <a:noFill/>
          <a:ln/>
        </p:spPr>
        <p:txBody>
          <a:bodyPr wrap="square" lIns="0" tIns="0" rIns="0" bIns="0" rtlCol="0" anchor="ctr"/>
          <a:lstStyle/>
          <a:p>
            <a:pPr marL="0" indent="0">
              <a:buNone/>
            </a:pPr>
            <a:r>
              <a:rPr lang="en-US" sz="900" dirty="0">
                <a:solidFill>
                  <a:srgbClr val="D4F1F4"/>
                </a:solidFill>
                <a:latin typeface="Courier New" pitchFamily="34" charset="0"/>
                <a:ea typeface="Courier New" pitchFamily="34" charset="-122"/>
                <a:cs typeface="Courier New" pitchFamily="34" charset="-120"/>
              </a:rPr>
              <a:t>Submission_Jalil_SpecDoc  rdf:type  LateSubmission</a:t>
            </a:r>
            <a:endParaRPr lang="en-US" sz="900" dirty="0"/>
          </a:p>
        </p:txBody>
      </p:sp>
      <p:sp>
        <p:nvSpPr>
          <p:cNvPr id="28" name="Text 26"/>
          <p:cNvSpPr/>
          <p:nvPr/>
        </p:nvSpPr>
        <p:spPr>
          <a:xfrm>
            <a:off x="457200" y="3950208"/>
            <a:ext cx="5029200" cy="347472"/>
          </a:xfrm>
          <a:prstGeom prst="rect">
            <a:avLst/>
          </a:prstGeom>
          <a:noFill/>
          <a:ln/>
        </p:spPr>
        <p:txBody>
          <a:bodyPr wrap="square" lIns="0" tIns="0" rIns="0" bIns="0" rtlCol="0" anchor="ctr"/>
          <a:lstStyle/>
          <a:p>
            <a:pPr marL="0" indent="0">
              <a:buNone/>
            </a:pPr>
            <a:r>
              <a:rPr lang="en-US" sz="900" dirty="0">
                <a:solidFill>
                  <a:srgbClr val="D4F1F4"/>
                </a:solidFill>
                <a:latin typeface="Courier New" pitchFamily="34" charset="0"/>
                <a:ea typeface="Courier New" pitchFamily="34" charset="-122"/>
                <a:cs typeface="Courier New" pitchFamily="34" charset="-120"/>
              </a:rPr>
              <a:t>Grade_Fatma_Repo  score  "100.0"^^xsd:float</a:t>
            </a:r>
            <a:endParaRPr lang="en-US" sz="900" dirty="0"/>
          </a:p>
        </p:txBody>
      </p:sp>
      <p:sp>
        <p:nvSpPr>
          <p:cNvPr id="29" name="Text 27"/>
          <p:cNvSpPr/>
          <p:nvPr/>
        </p:nvSpPr>
        <p:spPr>
          <a:xfrm>
            <a:off x="457200" y="4343400"/>
            <a:ext cx="5029200" cy="347472"/>
          </a:xfrm>
          <a:prstGeom prst="rect">
            <a:avLst/>
          </a:prstGeom>
          <a:noFill/>
          <a:ln/>
        </p:spPr>
        <p:txBody>
          <a:bodyPr wrap="square" lIns="0" tIns="0" rIns="0" bIns="0" rtlCol="0" anchor="ctr"/>
          <a:lstStyle/>
          <a:p>
            <a:pPr marL="0" indent="0">
              <a:buNone/>
            </a:pPr>
            <a:r>
              <a:rPr lang="en-US" sz="900" dirty="0">
                <a:solidFill>
                  <a:srgbClr val="D4F1F4"/>
                </a:solidFill>
                <a:latin typeface="Courier New" pitchFamily="34" charset="0"/>
                <a:ea typeface="Courier New" pitchFamily="34" charset="-122"/>
                <a:cs typeface="Courier New" pitchFamily="34" charset="-120"/>
              </a:rPr>
              <a:t>Feedback_Emily_A1  feedbackText  "Good ontology..."</a:t>
            </a:r>
            <a:endParaRPr lang="en-US" sz="900" dirty="0"/>
          </a:p>
        </p:txBody>
      </p:sp>
      <p:sp>
        <p:nvSpPr>
          <p:cNvPr id="30" name="Shape 28"/>
          <p:cNvSpPr/>
          <p:nvPr/>
        </p:nvSpPr>
        <p:spPr>
          <a:xfrm>
            <a:off x="5806440" y="1920240"/>
            <a:ext cx="3017520" cy="2834640"/>
          </a:xfrm>
          <a:prstGeom prst="roundRect">
            <a:avLst>
              <a:gd name="adj" fmla="val 3226"/>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sp>
        <p:nvSpPr>
          <p:cNvPr id="31" name="Text 29"/>
          <p:cNvSpPr/>
          <p:nvPr/>
        </p:nvSpPr>
        <p:spPr>
          <a:xfrm>
            <a:off x="5943600" y="1984248"/>
            <a:ext cx="2743200" cy="347472"/>
          </a:xfrm>
          <a:prstGeom prst="rect">
            <a:avLst/>
          </a:prstGeom>
          <a:noFill/>
          <a:ln/>
        </p:spPr>
        <p:txBody>
          <a:bodyPr wrap="square" lIns="0" tIns="0" rIns="0" bIns="0" rtlCol="0" anchor="ctr"/>
          <a:lstStyle/>
          <a:p>
            <a:pPr marL="0" indent="0">
              <a:buNone/>
            </a:pPr>
            <a:r>
              <a:rPr lang="en-US" sz="1100" b="1" dirty="0">
                <a:solidFill>
                  <a:srgbClr val="1B2A4A"/>
                </a:solidFill>
                <a:latin typeface="Cambria" pitchFamily="34" charset="0"/>
                <a:ea typeface="Cambria" pitchFamily="34" charset="-122"/>
                <a:cs typeface="Cambria" pitchFamily="34" charset="-120"/>
              </a:rPr>
              <a:t>Data Quality Process</a:t>
            </a:r>
            <a:endParaRPr lang="en-US" sz="1100" dirty="0"/>
          </a:p>
        </p:txBody>
      </p:sp>
      <p:sp>
        <p:nvSpPr>
          <p:cNvPr id="32" name="Text 30"/>
          <p:cNvSpPr/>
          <p:nvPr/>
        </p:nvSpPr>
        <p:spPr>
          <a:xfrm>
            <a:off x="5943600" y="2423160"/>
            <a:ext cx="2743200" cy="347472"/>
          </a:xfrm>
          <a:prstGeom prst="rect">
            <a:avLst/>
          </a:prstGeom>
          <a:noFill/>
          <a:ln/>
        </p:spPr>
        <p:txBody>
          <a:bodyPr wrap="square" lIns="0" tIns="0" rIns="0" bIns="0" rtlCol="0" anchor="ctr"/>
          <a:lstStyle/>
          <a:p>
            <a:pPr marL="342900" indent="-342900">
              <a:buSzPct val="100000"/>
              <a:buChar char="•"/>
            </a:pPr>
            <a:r>
              <a:rPr lang="en-US" sz="1000" dirty="0">
                <a:solidFill>
                  <a:srgbClr val="4A5568"/>
                </a:solidFill>
                <a:latin typeface="Calibri" pitchFamily="34" charset="0"/>
                <a:ea typeface="Calibri" pitchFamily="34" charset="-122"/>
                <a:cs typeface="Calibri" pitchFamily="34" charset="-120"/>
              </a:rPr>
              <a:t>Unique IDs for all individuals</a:t>
            </a:r>
            <a:endParaRPr lang="en-US" sz="1000" dirty="0"/>
          </a:p>
        </p:txBody>
      </p:sp>
      <p:sp>
        <p:nvSpPr>
          <p:cNvPr id="33" name="Text 31"/>
          <p:cNvSpPr/>
          <p:nvPr/>
        </p:nvSpPr>
        <p:spPr>
          <a:xfrm>
            <a:off x="5943600" y="2788920"/>
            <a:ext cx="2743200" cy="347472"/>
          </a:xfrm>
          <a:prstGeom prst="rect">
            <a:avLst/>
          </a:prstGeom>
          <a:noFill/>
          <a:ln/>
        </p:spPr>
        <p:txBody>
          <a:bodyPr wrap="square" lIns="0" tIns="0" rIns="0" bIns="0" rtlCol="0" anchor="ctr"/>
          <a:lstStyle/>
          <a:p>
            <a:pPr marL="342900" indent="-342900">
              <a:buSzPct val="100000"/>
              <a:buChar char="•"/>
            </a:pPr>
            <a:r>
              <a:rPr lang="en-US" sz="1000" dirty="0">
                <a:solidFill>
                  <a:srgbClr val="4A5568"/>
                </a:solidFill>
                <a:latin typeface="Calibri" pitchFamily="34" charset="0"/>
                <a:ea typeface="Calibri" pitchFamily="34" charset="-122"/>
                <a:cs typeface="Calibri" pitchFamily="34" charset="-120"/>
              </a:rPr>
              <a:t>ISO 8601 xsd:dateTime format</a:t>
            </a:r>
            <a:endParaRPr lang="en-US" sz="1000" dirty="0"/>
          </a:p>
        </p:txBody>
      </p:sp>
      <p:sp>
        <p:nvSpPr>
          <p:cNvPr id="34" name="Text 32"/>
          <p:cNvSpPr/>
          <p:nvPr/>
        </p:nvSpPr>
        <p:spPr>
          <a:xfrm>
            <a:off x="5943600" y="3154680"/>
            <a:ext cx="2743200" cy="347472"/>
          </a:xfrm>
          <a:prstGeom prst="rect">
            <a:avLst/>
          </a:prstGeom>
          <a:noFill/>
          <a:ln/>
        </p:spPr>
        <p:txBody>
          <a:bodyPr wrap="square" lIns="0" tIns="0" rIns="0" bIns="0" rtlCol="0" anchor="ctr"/>
          <a:lstStyle/>
          <a:p>
            <a:pPr marL="342900" indent="-342900">
              <a:buSzPct val="100000"/>
              <a:buChar char="•"/>
            </a:pPr>
            <a:r>
              <a:rPr lang="en-US" sz="1000" dirty="0">
                <a:solidFill>
                  <a:srgbClr val="4A5568"/>
                </a:solidFill>
                <a:latin typeface="Calibri" pitchFamily="34" charset="0"/>
                <a:ea typeface="Calibri" pitchFamily="34" charset="-122"/>
                <a:cs typeface="Calibri" pitchFamily="34" charset="-120"/>
              </a:rPr>
              <a:t>Normalised name formatting</a:t>
            </a:r>
            <a:endParaRPr lang="en-US" sz="1000" dirty="0"/>
          </a:p>
        </p:txBody>
      </p:sp>
      <p:sp>
        <p:nvSpPr>
          <p:cNvPr id="35" name="Text 33"/>
          <p:cNvSpPr/>
          <p:nvPr/>
        </p:nvSpPr>
        <p:spPr>
          <a:xfrm>
            <a:off x="5943600" y="3520440"/>
            <a:ext cx="2743200" cy="347472"/>
          </a:xfrm>
          <a:prstGeom prst="rect">
            <a:avLst/>
          </a:prstGeom>
          <a:noFill/>
          <a:ln/>
        </p:spPr>
        <p:txBody>
          <a:bodyPr wrap="square" lIns="0" tIns="0" rIns="0" bIns="0" rtlCol="0" anchor="ctr"/>
          <a:lstStyle/>
          <a:p>
            <a:pPr marL="342900" indent="-342900">
              <a:buSzPct val="100000"/>
              <a:buChar char="•"/>
            </a:pPr>
            <a:r>
              <a:rPr lang="en-US" sz="1000" dirty="0">
                <a:solidFill>
                  <a:srgbClr val="4A5568"/>
                </a:solidFill>
                <a:latin typeface="Calibri" pitchFamily="34" charset="0"/>
                <a:ea typeface="Calibri" pitchFamily="34" charset="-122"/>
                <a:cs typeface="Calibri" pitchFamily="34" charset="-120"/>
              </a:rPr>
              <a:t>Late submissions flagged vs. dueDate</a:t>
            </a:r>
            <a:endParaRPr lang="en-US" sz="1000" dirty="0"/>
          </a:p>
        </p:txBody>
      </p:sp>
      <p:sp>
        <p:nvSpPr>
          <p:cNvPr id="36" name="Text 34"/>
          <p:cNvSpPr/>
          <p:nvPr/>
        </p:nvSpPr>
        <p:spPr>
          <a:xfrm>
            <a:off x="5943600" y="3886200"/>
            <a:ext cx="2743200" cy="347472"/>
          </a:xfrm>
          <a:prstGeom prst="rect">
            <a:avLst/>
          </a:prstGeom>
          <a:noFill/>
          <a:ln/>
        </p:spPr>
        <p:txBody>
          <a:bodyPr wrap="square" lIns="0" tIns="0" rIns="0" bIns="0" rtlCol="0" anchor="ctr"/>
          <a:lstStyle/>
          <a:p>
            <a:pPr marL="342900" indent="-342900">
              <a:buSzPct val="100000"/>
              <a:buChar char="•"/>
            </a:pPr>
            <a:r>
              <a:rPr lang="en-US" sz="1000" dirty="0">
                <a:solidFill>
                  <a:srgbClr val="4A5568"/>
                </a:solidFill>
                <a:latin typeface="Calibri" pitchFamily="34" charset="0"/>
                <a:ea typeface="Calibri" pitchFamily="34" charset="-122"/>
                <a:cs typeface="Calibri" pitchFamily="34" charset="-120"/>
              </a:rPr>
              <a:t>Missing criticals excluded</a:t>
            </a:r>
            <a:endParaRPr lang="en-US" sz="1000" dirty="0"/>
          </a:p>
        </p:txBody>
      </p:sp>
      <p:sp>
        <p:nvSpPr>
          <p:cNvPr id="37" name="Text 35"/>
          <p:cNvSpPr/>
          <p:nvPr/>
        </p:nvSpPr>
        <p:spPr>
          <a:xfrm>
            <a:off x="5943600" y="4251960"/>
            <a:ext cx="2743200" cy="347472"/>
          </a:xfrm>
          <a:prstGeom prst="rect">
            <a:avLst/>
          </a:prstGeom>
          <a:noFill/>
          <a:ln/>
        </p:spPr>
        <p:txBody>
          <a:bodyPr wrap="square" lIns="0" tIns="0" rIns="0" bIns="0" rtlCol="0" anchor="ctr"/>
          <a:lstStyle/>
          <a:p>
            <a:pPr marL="342900" indent="-342900">
              <a:buSzPct val="100000"/>
              <a:buChar char="•"/>
            </a:pPr>
            <a:r>
              <a:rPr lang="en-US" sz="1000" dirty="0">
                <a:solidFill>
                  <a:srgbClr val="4A5568"/>
                </a:solidFill>
                <a:latin typeface="Calibri" pitchFamily="34" charset="0"/>
                <a:ea typeface="Calibri" pitchFamily="34" charset="-122"/>
                <a:cs typeface="Calibri" pitchFamily="34" charset="-120"/>
              </a:rPr>
              <a:t>Informed by OULAD dataset patterns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4A"/>
          </a:solidFill>
          <a:ln w="12700">
            <a:solidFill>
              <a:srgbClr val="1B2A4A"/>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Reasoning &amp; Semantic Inference</a:t>
            </a:r>
            <a:endParaRPr lang="en-US" sz="2200" dirty="0"/>
          </a:p>
        </p:txBody>
      </p:sp>
      <p:sp>
        <p:nvSpPr>
          <p:cNvPr id="4" name="Shape 2"/>
          <p:cNvSpPr/>
          <p:nvPr/>
        </p:nvSpPr>
        <p:spPr>
          <a:xfrm>
            <a:off x="320040" y="804672"/>
            <a:ext cx="4160520" cy="1874520"/>
          </a:xfrm>
          <a:prstGeom prst="roundRect">
            <a:avLst>
              <a:gd name="adj" fmla="val 4878"/>
            </a:avLst>
          </a:prstGeom>
          <a:solidFill>
            <a:srgbClr val="FFF8E6"/>
          </a:solidFill>
          <a:ln w="12700">
            <a:solidFill>
              <a:srgbClr val="F6AD55"/>
            </a:solidFill>
            <a:prstDash val="solid"/>
          </a:ln>
          <a:effectLst>
            <a:outerShdw blurRad="101600" dist="25400" dir="2700000" algn="bl" rotWithShape="0">
              <a:srgbClr val="000000">
                <a:alpha val="12000"/>
              </a:srgbClr>
            </a:outerShdw>
          </a:effectLst>
        </p:spPr>
      </p:sp>
      <p:pic>
        <p:nvPicPr>
          <p:cNvPr id="5" name="Image 0" descr="preencoded.png"/>
          <p:cNvPicPr>
            <a:picLocks noChangeAspect="1"/>
          </p:cNvPicPr>
          <p:nvPr/>
        </p:nvPicPr>
        <p:blipFill>
          <a:blip r:embed="rId3"/>
          <a:stretch>
            <a:fillRect/>
          </a:stretch>
        </p:blipFill>
        <p:spPr>
          <a:xfrm>
            <a:off x="484632" y="969264"/>
            <a:ext cx="384048" cy="384048"/>
          </a:xfrm>
          <a:prstGeom prst="rect">
            <a:avLst/>
          </a:prstGeom>
        </p:spPr>
      </p:pic>
      <p:sp>
        <p:nvSpPr>
          <p:cNvPr id="6" name="Text 3"/>
          <p:cNvSpPr/>
          <p:nvPr/>
        </p:nvSpPr>
        <p:spPr>
          <a:xfrm>
            <a:off x="960120" y="941832"/>
            <a:ext cx="3383280" cy="438912"/>
          </a:xfrm>
          <a:prstGeom prst="rect">
            <a:avLst/>
          </a:prstGeom>
          <a:noFill/>
          <a:ln/>
        </p:spPr>
        <p:txBody>
          <a:bodyPr wrap="square" lIns="0" tIns="0" rIns="0" bIns="0" rtlCol="0" anchor="ctr"/>
          <a:lstStyle/>
          <a:p>
            <a:pPr marL="0" indent="0">
              <a:buNone/>
            </a:pPr>
            <a:r>
              <a:rPr lang="en-US" sz="1200" b="1" dirty="0">
                <a:solidFill>
                  <a:srgbClr val="1B2A4A"/>
                </a:solidFill>
                <a:latin typeface="Cambria" pitchFamily="34" charset="0"/>
                <a:ea typeface="Cambria" pitchFamily="34" charset="-122"/>
                <a:cs typeface="Cambria" pitchFamily="34" charset="-120"/>
              </a:rPr>
              <a:t>LateSubmission Classification</a:t>
            </a:r>
            <a:endParaRPr lang="en-US" sz="1200" dirty="0"/>
          </a:p>
        </p:txBody>
      </p:sp>
      <p:sp>
        <p:nvSpPr>
          <p:cNvPr id="7" name="Text 4"/>
          <p:cNvSpPr/>
          <p:nvPr/>
        </p:nvSpPr>
        <p:spPr>
          <a:xfrm>
            <a:off x="484632" y="1463040"/>
            <a:ext cx="3840480" cy="1097280"/>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Jalil Guliyev's submission (2026-05-07) exceeds Assignment_SpecDoc dueDate (2026-05-05). HermiT infers rdf:type LateSubmission — never manually asserted.</a:t>
            </a:r>
            <a:endParaRPr lang="en-US" sz="1000" dirty="0"/>
          </a:p>
        </p:txBody>
      </p:sp>
      <p:sp>
        <p:nvSpPr>
          <p:cNvPr id="8" name="Shape 5"/>
          <p:cNvSpPr/>
          <p:nvPr/>
        </p:nvSpPr>
        <p:spPr>
          <a:xfrm>
            <a:off x="3520440" y="969264"/>
            <a:ext cx="1184148" cy="256032"/>
          </a:xfrm>
          <a:prstGeom prst="roundRect">
            <a:avLst>
              <a:gd name="adj" fmla="val 17857"/>
            </a:avLst>
          </a:prstGeom>
          <a:solidFill>
            <a:srgbClr val="0E9AA7"/>
          </a:solidFill>
          <a:ln w="12700">
            <a:solidFill>
              <a:srgbClr val="0E9AA7"/>
            </a:solidFill>
            <a:prstDash val="solid"/>
          </a:ln>
        </p:spPr>
      </p:sp>
      <p:sp>
        <p:nvSpPr>
          <p:cNvPr id="9" name="Text 6"/>
          <p:cNvSpPr/>
          <p:nvPr/>
        </p:nvSpPr>
        <p:spPr>
          <a:xfrm>
            <a:off x="3520440" y="969264"/>
            <a:ext cx="118414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STAR RESULT</a:t>
            </a:r>
            <a:endParaRPr lang="en-US" sz="900" dirty="0"/>
          </a:p>
        </p:txBody>
      </p:sp>
      <p:sp>
        <p:nvSpPr>
          <p:cNvPr id="10" name="Shape 7"/>
          <p:cNvSpPr/>
          <p:nvPr/>
        </p:nvSpPr>
        <p:spPr>
          <a:xfrm>
            <a:off x="4754880" y="804672"/>
            <a:ext cx="4160520" cy="1874520"/>
          </a:xfrm>
          <a:prstGeom prst="roundRect">
            <a:avLst>
              <a:gd name="adj" fmla="val 4878"/>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pic>
        <p:nvPicPr>
          <p:cNvPr id="11" name="Image 1" descr="preencoded.png"/>
          <p:cNvPicPr>
            <a:picLocks noChangeAspect="1"/>
          </p:cNvPicPr>
          <p:nvPr/>
        </p:nvPicPr>
        <p:blipFill>
          <a:blip r:embed="rId4"/>
          <a:stretch>
            <a:fillRect/>
          </a:stretch>
        </p:blipFill>
        <p:spPr>
          <a:xfrm>
            <a:off x="4919472" y="969264"/>
            <a:ext cx="384048" cy="384048"/>
          </a:xfrm>
          <a:prstGeom prst="rect">
            <a:avLst/>
          </a:prstGeom>
        </p:spPr>
      </p:pic>
      <p:sp>
        <p:nvSpPr>
          <p:cNvPr id="12" name="Text 8"/>
          <p:cNvSpPr/>
          <p:nvPr/>
        </p:nvSpPr>
        <p:spPr>
          <a:xfrm>
            <a:off x="5394960" y="941832"/>
            <a:ext cx="3383280" cy="438912"/>
          </a:xfrm>
          <a:prstGeom prst="rect">
            <a:avLst/>
          </a:prstGeom>
          <a:noFill/>
          <a:ln/>
        </p:spPr>
        <p:txBody>
          <a:bodyPr wrap="square" lIns="0" tIns="0" rIns="0" bIns="0" rtlCol="0" anchor="ctr"/>
          <a:lstStyle/>
          <a:p>
            <a:pPr marL="0" indent="0">
              <a:buNone/>
            </a:pPr>
            <a:r>
              <a:rPr lang="en-US" sz="1200" b="1" dirty="0">
                <a:solidFill>
                  <a:srgbClr val="1B2A4A"/>
                </a:solidFill>
                <a:latin typeface="Cambria" pitchFamily="34" charset="0"/>
                <a:ea typeface="Cambria" pitchFamily="34" charset="-122"/>
                <a:cs typeface="Cambria" pitchFamily="34" charset="-120"/>
              </a:rPr>
              <a:t>Transitive Prerequisite Inference</a:t>
            </a:r>
            <a:endParaRPr lang="en-US" sz="1200" dirty="0"/>
          </a:p>
        </p:txBody>
      </p:sp>
      <p:sp>
        <p:nvSpPr>
          <p:cNvPr id="13" name="Text 9"/>
          <p:cNvSpPr/>
          <p:nvPr/>
        </p:nvSpPr>
        <p:spPr>
          <a:xfrm>
            <a:off x="4919472" y="1463040"/>
            <a:ext cx="3840480" cy="1097280"/>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Course_SemanticWeb hasPrerequisite Course_KnowledgeEng. The transitive closure means any further chain is automatically entailed — enabling multi-hop SPARQL path queries.</a:t>
            </a:r>
            <a:endParaRPr lang="en-US" sz="1000" dirty="0"/>
          </a:p>
        </p:txBody>
      </p:sp>
      <p:sp>
        <p:nvSpPr>
          <p:cNvPr id="14" name="Shape 10"/>
          <p:cNvSpPr/>
          <p:nvPr/>
        </p:nvSpPr>
        <p:spPr>
          <a:xfrm>
            <a:off x="320040" y="2798064"/>
            <a:ext cx="4160520" cy="1874520"/>
          </a:xfrm>
          <a:prstGeom prst="roundRect">
            <a:avLst>
              <a:gd name="adj" fmla="val 4878"/>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pic>
        <p:nvPicPr>
          <p:cNvPr id="15" name="Image 2" descr="preencoded.png"/>
          <p:cNvPicPr>
            <a:picLocks noChangeAspect="1"/>
          </p:cNvPicPr>
          <p:nvPr/>
        </p:nvPicPr>
        <p:blipFill>
          <a:blip r:embed="rId5"/>
          <a:stretch>
            <a:fillRect/>
          </a:stretch>
        </p:blipFill>
        <p:spPr>
          <a:xfrm>
            <a:off x="484632" y="2962656"/>
            <a:ext cx="384048" cy="384048"/>
          </a:xfrm>
          <a:prstGeom prst="rect">
            <a:avLst/>
          </a:prstGeom>
        </p:spPr>
      </p:pic>
      <p:sp>
        <p:nvSpPr>
          <p:cNvPr id="16" name="Text 11"/>
          <p:cNvSpPr/>
          <p:nvPr/>
        </p:nvSpPr>
        <p:spPr>
          <a:xfrm>
            <a:off x="960120" y="2935224"/>
            <a:ext cx="3383280" cy="438912"/>
          </a:xfrm>
          <a:prstGeom prst="rect">
            <a:avLst/>
          </a:prstGeom>
          <a:noFill/>
          <a:ln/>
        </p:spPr>
        <p:txBody>
          <a:bodyPr wrap="square" lIns="0" tIns="0" rIns="0" bIns="0" rtlCol="0" anchor="ctr"/>
          <a:lstStyle/>
          <a:p>
            <a:pPr marL="0" indent="0">
              <a:buNone/>
            </a:pPr>
            <a:r>
              <a:rPr lang="en-US" sz="1200" b="1" dirty="0">
                <a:solidFill>
                  <a:srgbClr val="1B2A4A"/>
                </a:solidFill>
                <a:latin typeface="Cambria" pitchFamily="34" charset="0"/>
                <a:ea typeface="Cambria" pitchFamily="34" charset="-122"/>
                <a:cs typeface="Cambria" pitchFamily="34" charset="-120"/>
              </a:rPr>
              <a:t>Inverse Property Entailment</a:t>
            </a:r>
            <a:endParaRPr lang="en-US" sz="1200" dirty="0"/>
          </a:p>
        </p:txBody>
      </p:sp>
      <p:sp>
        <p:nvSpPr>
          <p:cNvPr id="17" name="Text 12"/>
          <p:cNvSpPr/>
          <p:nvPr/>
        </p:nvSpPr>
        <p:spPr>
          <a:xfrm>
            <a:off x="484632" y="3456432"/>
            <a:ext cx="3840480" cy="1097280"/>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Asserting Student_X enrolledIn Course_Y automatically entails Course_Y hasStudent Student_X via the declared inverse pair — no redundant assertions needed.</a:t>
            </a:r>
            <a:endParaRPr lang="en-US" sz="1000" dirty="0"/>
          </a:p>
        </p:txBody>
      </p:sp>
      <p:sp>
        <p:nvSpPr>
          <p:cNvPr id="18" name="Shape 13"/>
          <p:cNvSpPr/>
          <p:nvPr/>
        </p:nvSpPr>
        <p:spPr>
          <a:xfrm>
            <a:off x="4754880" y="2798064"/>
            <a:ext cx="4160520" cy="1874520"/>
          </a:xfrm>
          <a:prstGeom prst="roundRect">
            <a:avLst>
              <a:gd name="adj" fmla="val 4878"/>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pic>
        <p:nvPicPr>
          <p:cNvPr id="19" name="Image 3" descr="preencoded.png"/>
          <p:cNvPicPr>
            <a:picLocks noChangeAspect="1"/>
          </p:cNvPicPr>
          <p:nvPr/>
        </p:nvPicPr>
        <p:blipFill>
          <a:blip r:embed="rId6"/>
          <a:stretch>
            <a:fillRect/>
          </a:stretch>
        </p:blipFill>
        <p:spPr>
          <a:xfrm>
            <a:off x="4919472" y="2962656"/>
            <a:ext cx="384048" cy="384048"/>
          </a:xfrm>
          <a:prstGeom prst="rect">
            <a:avLst/>
          </a:prstGeom>
        </p:spPr>
      </p:pic>
      <p:sp>
        <p:nvSpPr>
          <p:cNvPr id="20" name="Text 14"/>
          <p:cNvSpPr/>
          <p:nvPr/>
        </p:nvSpPr>
        <p:spPr>
          <a:xfrm>
            <a:off x="5394960" y="2935224"/>
            <a:ext cx="3383280" cy="438912"/>
          </a:xfrm>
          <a:prstGeom prst="rect">
            <a:avLst/>
          </a:prstGeom>
          <a:noFill/>
          <a:ln/>
        </p:spPr>
        <p:txBody>
          <a:bodyPr wrap="square" lIns="0" tIns="0" rIns="0" bIns="0" rtlCol="0" anchor="ctr"/>
          <a:lstStyle/>
          <a:p>
            <a:pPr marL="0" indent="0">
              <a:buNone/>
            </a:pPr>
            <a:r>
              <a:rPr lang="en-US" sz="1200" b="1" dirty="0">
                <a:solidFill>
                  <a:srgbClr val="1B2A4A"/>
                </a:solidFill>
                <a:latin typeface="Cambria" pitchFamily="34" charset="0"/>
                <a:ea typeface="Cambria" pitchFamily="34" charset="-122"/>
                <a:cs typeface="Cambria" pitchFamily="34" charset="-120"/>
              </a:rPr>
              <a:t>Consistency Checking</a:t>
            </a:r>
            <a:endParaRPr lang="en-US" sz="1200" dirty="0"/>
          </a:p>
        </p:txBody>
      </p:sp>
      <p:sp>
        <p:nvSpPr>
          <p:cNvPr id="21" name="Text 15"/>
          <p:cNvSpPr/>
          <p:nvPr/>
        </p:nvSpPr>
        <p:spPr>
          <a:xfrm>
            <a:off x="4919472" y="3456432"/>
            <a:ext cx="3840480" cy="1097280"/>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Disjointness axioms (Student ⊓ Instructor = ⊥; Grade ⊓ Feedback = ⊥) verified. Functional property constraints validated. Deliberate violation detected correctly.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4A"/>
          </a:solidFill>
          <a:ln w="12700">
            <a:solidFill>
              <a:srgbClr val="1B2A4A"/>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Competency Questions &amp; SPARQL Queries</a:t>
            </a:r>
            <a:endParaRPr lang="en-US" sz="2200" dirty="0"/>
          </a:p>
        </p:txBody>
      </p:sp>
      <p:sp>
        <p:nvSpPr>
          <p:cNvPr id="4" name="Shape 2"/>
          <p:cNvSpPr/>
          <p:nvPr/>
        </p:nvSpPr>
        <p:spPr>
          <a:xfrm>
            <a:off x="320040" y="804672"/>
            <a:ext cx="2743200" cy="274320"/>
          </a:xfrm>
          <a:prstGeom prst="roundRect">
            <a:avLst>
              <a:gd name="adj" fmla="val 16667"/>
            </a:avLst>
          </a:prstGeom>
          <a:solidFill>
            <a:srgbClr val="0E9AA7"/>
          </a:solidFill>
          <a:ln w="12700">
            <a:solidFill>
              <a:srgbClr val="0E9AA7"/>
            </a:solidFill>
            <a:prstDash val="solid"/>
          </a:ln>
        </p:spPr>
      </p:sp>
      <p:sp>
        <p:nvSpPr>
          <p:cNvPr id="5" name="Text 3"/>
          <p:cNvSpPr/>
          <p:nvPr/>
        </p:nvSpPr>
        <p:spPr>
          <a:xfrm>
            <a:off x="320040" y="804672"/>
            <a:ext cx="274320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CQ16 — Late submissions</a:t>
            </a:r>
            <a:endParaRPr lang="en-US" sz="900" dirty="0"/>
          </a:p>
        </p:txBody>
      </p:sp>
      <p:sp>
        <p:nvSpPr>
          <p:cNvPr id="6" name="Shape 4"/>
          <p:cNvSpPr/>
          <p:nvPr/>
        </p:nvSpPr>
        <p:spPr>
          <a:xfrm>
            <a:off x="320040" y="1115568"/>
            <a:ext cx="2743200" cy="2423160"/>
          </a:xfrm>
          <a:prstGeom prst="roundRect">
            <a:avLst>
              <a:gd name="adj" fmla="val 3019"/>
            </a:avLst>
          </a:prstGeom>
          <a:solidFill>
            <a:srgbClr val="2D3748"/>
          </a:solidFill>
          <a:ln w="12700">
            <a:solidFill>
              <a:srgbClr val="1B2A4A"/>
            </a:solidFill>
            <a:prstDash val="solid"/>
          </a:ln>
          <a:effectLst>
            <a:outerShdw blurRad="101600" dist="25400" dir="2700000" algn="bl" rotWithShape="0">
              <a:srgbClr val="000000">
                <a:alpha val="12000"/>
              </a:srgbClr>
            </a:outerShdw>
          </a:effectLst>
        </p:spPr>
      </p:sp>
      <p:sp>
        <p:nvSpPr>
          <p:cNvPr id="7" name="Text 5"/>
          <p:cNvSpPr/>
          <p:nvPr/>
        </p:nvSpPr>
        <p:spPr>
          <a:xfrm>
            <a:off x="411480" y="1170432"/>
            <a:ext cx="2560320" cy="2286000"/>
          </a:xfrm>
          <a:prstGeom prst="rect">
            <a:avLst/>
          </a:prstGeom>
          <a:noFill/>
          <a:ln/>
        </p:spPr>
        <p:txBody>
          <a:bodyPr wrap="square" lIns="0" tIns="0" rIns="0" bIns="0" rtlCol="0" anchor="t"/>
          <a:lstStyle/>
          <a:p>
            <a:pPr marL="0" indent="0">
              <a:buNone/>
            </a:pPr>
            <a:r>
              <a:rPr lang="en-US" sz="800" dirty="0">
                <a:solidFill>
                  <a:srgbClr val="D4F1F4"/>
                </a:solidFill>
                <a:latin typeface="Courier New" pitchFamily="34" charset="0"/>
                <a:ea typeface="Courier New" pitchFamily="34" charset="-122"/>
                <a:cs typeface="Courier New" pitchFamily="34" charset="-120"/>
              </a:rPr>
              <a:t>SELECT ?name ?title ?subDate ?dueDate WHERE {</a:t>
            </a:r>
            <a:endParaRPr lang="en-US" sz="800" dirty="0"/>
          </a:p>
          <a:p>
            <a:pPr marL="0" indent="0">
              <a:buNone/>
            </a:pPr>
            <a:r>
              <a:rPr lang="en-US" sz="800" dirty="0">
                <a:solidFill>
                  <a:srgbClr val="D4F1F4"/>
                </a:solidFill>
                <a:latin typeface="Courier New" pitchFamily="34" charset="0"/>
                <a:ea typeface="Courier New" pitchFamily="34" charset="-122"/>
                <a:cs typeface="Courier New" pitchFamily="34" charset="-120"/>
              </a:rPr>
              <a:t>  ?sub a el:LateSubmission ;</a:t>
            </a:r>
            <a:endParaRPr lang="en-US" sz="800" dirty="0"/>
          </a:p>
          <a:p>
            <a:pPr marL="0" indent="0">
              <a:buNone/>
            </a:pPr>
            <a:r>
              <a:rPr lang="en-US" sz="800" dirty="0">
                <a:solidFill>
                  <a:srgbClr val="D4F1F4"/>
                </a:solidFill>
                <a:latin typeface="Courier New" pitchFamily="34" charset="0"/>
                <a:ea typeface="Courier New" pitchFamily="34" charset="-122"/>
                <a:cs typeface="Courier New" pitchFamily="34" charset="-120"/>
              </a:rPr>
              <a:t>    el:submittedBy ?st ; el:submissionFor ?a ;</a:t>
            </a:r>
            <a:endParaRPr lang="en-US" sz="800" dirty="0"/>
          </a:p>
          <a:p>
            <a:pPr marL="0" indent="0">
              <a:buNone/>
            </a:pPr>
            <a:r>
              <a:rPr lang="en-US" sz="800" dirty="0">
                <a:solidFill>
                  <a:srgbClr val="D4F1F4"/>
                </a:solidFill>
                <a:latin typeface="Courier New" pitchFamily="34" charset="0"/>
                <a:ea typeface="Courier New" pitchFamily="34" charset="-122"/>
                <a:cs typeface="Courier New" pitchFamily="34" charset="-120"/>
              </a:rPr>
              <a:t>    el:submissionDate ?subDate .</a:t>
            </a:r>
            <a:endParaRPr lang="en-US" sz="800" dirty="0"/>
          </a:p>
          <a:p>
            <a:pPr marL="0" indent="0">
              <a:buNone/>
            </a:pPr>
            <a:r>
              <a:rPr lang="en-US" sz="800" dirty="0">
                <a:solidFill>
                  <a:srgbClr val="D4F1F4"/>
                </a:solidFill>
                <a:latin typeface="Courier New" pitchFamily="34" charset="0"/>
                <a:ea typeface="Courier New" pitchFamily="34" charset="-122"/>
                <a:cs typeface="Courier New" pitchFamily="34" charset="-120"/>
              </a:rPr>
              <a:t>  ?st el:hasName ?name .</a:t>
            </a:r>
            <a:endParaRPr lang="en-US" sz="800" dirty="0"/>
          </a:p>
          <a:p>
            <a:pPr marL="0" indent="0">
              <a:buNone/>
            </a:pPr>
            <a:r>
              <a:rPr lang="en-US" sz="800" dirty="0">
                <a:solidFill>
                  <a:srgbClr val="D4F1F4"/>
                </a:solidFill>
                <a:latin typeface="Courier New" pitchFamily="34" charset="0"/>
                <a:ea typeface="Courier New" pitchFamily="34" charset="-122"/>
                <a:cs typeface="Courier New" pitchFamily="34" charset="-120"/>
              </a:rPr>
              <a:t>  ?a el:dueDate ?dueDate .</a:t>
            </a:r>
            <a:endParaRPr lang="en-US" sz="800" dirty="0"/>
          </a:p>
          <a:p>
            <a:pPr marL="0" indent="0">
              <a:buNone/>
            </a:pPr>
            <a:r>
              <a:rPr lang="en-US" sz="800" dirty="0">
                <a:solidFill>
                  <a:srgbClr val="D4F1F4"/>
                </a:solidFill>
                <a:latin typeface="Courier New" pitchFamily="34" charset="0"/>
                <a:ea typeface="Courier New" pitchFamily="34" charset="-122"/>
                <a:cs typeface="Courier New" pitchFamily="34" charset="-120"/>
              </a:rPr>
              <a:t>}</a:t>
            </a:r>
            <a:endParaRPr lang="en-US" sz="800" dirty="0"/>
          </a:p>
        </p:txBody>
      </p:sp>
      <p:sp>
        <p:nvSpPr>
          <p:cNvPr id="8" name="Shape 6"/>
          <p:cNvSpPr/>
          <p:nvPr/>
        </p:nvSpPr>
        <p:spPr>
          <a:xfrm>
            <a:off x="320040" y="3611880"/>
            <a:ext cx="2743200" cy="502920"/>
          </a:xfrm>
          <a:prstGeom prst="roundRect">
            <a:avLst>
              <a:gd name="adj" fmla="val 12727"/>
            </a:avLst>
          </a:prstGeom>
          <a:solidFill>
            <a:srgbClr val="E8F8F5"/>
          </a:solidFill>
          <a:ln w="12700">
            <a:solidFill>
              <a:srgbClr val="0E9AA7"/>
            </a:solidFill>
            <a:prstDash val="solid"/>
          </a:ln>
        </p:spPr>
      </p:sp>
      <p:sp>
        <p:nvSpPr>
          <p:cNvPr id="9" name="Text 7"/>
          <p:cNvSpPr/>
          <p:nvPr/>
        </p:nvSpPr>
        <p:spPr>
          <a:xfrm>
            <a:off x="411480" y="3630168"/>
            <a:ext cx="2560320" cy="457200"/>
          </a:xfrm>
          <a:prstGeom prst="rect">
            <a:avLst/>
          </a:prstGeom>
          <a:noFill/>
          <a:ln/>
        </p:spPr>
        <p:txBody>
          <a:bodyPr wrap="square" lIns="0" tIns="0" rIns="0" bIns="0" rtlCol="0" anchor="ctr"/>
          <a:lstStyle/>
          <a:p>
            <a:pPr marL="0" indent="0">
              <a:buNone/>
            </a:pPr>
            <a:r>
              <a:rPr lang="en-US" sz="950" b="1" dirty="0">
                <a:solidFill>
                  <a:srgbClr val="2D3748"/>
                </a:solidFill>
                <a:latin typeface="Calibri" pitchFamily="34" charset="0"/>
                <a:ea typeface="Calibri" pitchFamily="34" charset="-122"/>
                <a:cs typeface="Calibri" pitchFamily="34" charset="-120"/>
              </a:rPr>
              <a:t>✓  Jalil Guliyev | 2026-05-07 &gt; 2026-05-05</a:t>
            </a:r>
            <a:endParaRPr lang="en-US" sz="950" dirty="0"/>
          </a:p>
        </p:txBody>
      </p:sp>
      <p:sp>
        <p:nvSpPr>
          <p:cNvPr id="10" name="Shape 8"/>
          <p:cNvSpPr/>
          <p:nvPr/>
        </p:nvSpPr>
        <p:spPr>
          <a:xfrm>
            <a:off x="3246120" y="804672"/>
            <a:ext cx="2743200" cy="274320"/>
          </a:xfrm>
          <a:prstGeom prst="roundRect">
            <a:avLst>
              <a:gd name="adj" fmla="val 16667"/>
            </a:avLst>
          </a:prstGeom>
          <a:solidFill>
            <a:srgbClr val="0E9AA7"/>
          </a:solidFill>
          <a:ln w="12700">
            <a:solidFill>
              <a:srgbClr val="0E9AA7"/>
            </a:solidFill>
            <a:prstDash val="solid"/>
          </a:ln>
        </p:spPr>
      </p:sp>
      <p:sp>
        <p:nvSpPr>
          <p:cNvPr id="11" name="Text 9"/>
          <p:cNvSpPr/>
          <p:nvPr/>
        </p:nvSpPr>
        <p:spPr>
          <a:xfrm>
            <a:off x="3246120" y="804672"/>
            <a:ext cx="274320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CQ11 — Transitive prerequisites</a:t>
            </a:r>
            <a:endParaRPr lang="en-US" sz="900" dirty="0"/>
          </a:p>
        </p:txBody>
      </p:sp>
      <p:sp>
        <p:nvSpPr>
          <p:cNvPr id="12" name="Shape 10"/>
          <p:cNvSpPr/>
          <p:nvPr/>
        </p:nvSpPr>
        <p:spPr>
          <a:xfrm>
            <a:off x="3246120" y="1115568"/>
            <a:ext cx="2743200" cy="2423160"/>
          </a:xfrm>
          <a:prstGeom prst="roundRect">
            <a:avLst>
              <a:gd name="adj" fmla="val 3019"/>
            </a:avLst>
          </a:prstGeom>
          <a:solidFill>
            <a:srgbClr val="2D3748"/>
          </a:solidFill>
          <a:ln w="12700">
            <a:solidFill>
              <a:srgbClr val="1B2A4A"/>
            </a:solidFill>
            <a:prstDash val="solid"/>
          </a:ln>
          <a:effectLst>
            <a:outerShdw blurRad="101600" dist="25400" dir="2700000" algn="bl" rotWithShape="0">
              <a:srgbClr val="000000">
                <a:alpha val="12000"/>
              </a:srgbClr>
            </a:outerShdw>
          </a:effectLst>
        </p:spPr>
      </p:sp>
      <p:sp>
        <p:nvSpPr>
          <p:cNvPr id="13" name="Text 11"/>
          <p:cNvSpPr/>
          <p:nvPr/>
        </p:nvSpPr>
        <p:spPr>
          <a:xfrm>
            <a:off x="3337560" y="1170432"/>
            <a:ext cx="2560320" cy="2286000"/>
          </a:xfrm>
          <a:prstGeom prst="rect">
            <a:avLst/>
          </a:prstGeom>
          <a:noFill/>
          <a:ln/>
        </p:spPr>
        <p:txBody>
          <a:bodyPr wrap="square" lIns="0" tIns="0" rIns="0" bIns="0" rtlCol="0" anchor="t"/>
          <a:lstStyle/>
          <a:p>
            <a:pPr marL="0" indent="0">
              <a:buNone/>
            </a:pPr>
            <a:r>
              <a:rPr lang="en-US" sz="800" dirty="0">
                <a:solidFill>
                  <a:srgbClr val="D4F1F4"/>
                </a:solidFill>
                <a:latin typeface="Courier New" pitchFamily="34" charset="0"/>
                <a:ea typeface="Courier New" pitchFamily="34" charset="-122"/>
                <a:cs typeface="Courier New" pitchFamily="34" charset="-120"/>
              </a:rPr>
              <a:t>SELECT ?prereqTitle WHERE {</a:t>
            </a:r>
            <a:endParaRPr lang="en-US" sz="800" dirty="0"/>
          </a:p>
          <a:p>
            <a:pPr marL="0" indent="0">
              <a:buNone/>
            </a:pPr>
            <a:r>
              <a:rPr lang="en-US" sz="800" dirty="0">
                <a:solidFill>
                  <a:srgbClr val="D4F1F4"/>
                </a:solidFill>
                <a:latin typeface="Courier New" pitchFamily="34" charset="0"/>
                <a:ea typeface="Courier New" pitchFamily="34" charset="-122"/>
                <a:cs typeface="Courier New" pitchFamily="34" charset="-120"/>
              </a:rPr>
              <a:t>  el:Course_SemanticWeb</a:t>
            </a:r>
            <a:endParaRPr lang="en-US" sz="800" dirty="0"/>
          </a:p>
          <a:p>
            <a:pPr marL="0" indent="0">
              <a:buNone/>
            </a:pPr>
            <a:r>
              <a:rPr lang="en-US" sz="800" dirty="0">
                <a:solidFill>
                  <a:srgbClr val="D4F1F4"/>
                </a:solidFill>
                <a:latin typeface="Courier New" pitchFamily="34" charset="0"/>
                <a:ea typeface="Courier New" pitchFamily="34" charset="-122"/>
                <a:cs typeface="Courier New" pitchFamily="34" charset="-120"/>
              </a:rPr>
              <a:t>    el:hasPrerequisite+ ?prereq .</a:t>
            </a:r>
            <a:endParaRPr lang="en-US" sz="800" dirty="0"/>
          </a:p>
          <a:p>
            <a:pPr marL="0" indent="0">
              <a:buNone/>
            </a:pPr>
            <a:r>
              <a:rPr lang="en-US" sz="800" dirty="0">
                <a:solidFill>
                  <a:srgbClr val="D4F1F4"/>
                </a:solidFill>
                <a:latin typeface="Courier New" pitchFamily="34" charset="0"/>
                <a:ea typeface="Courier New" pitchFamily="34" charset="-122"/>
                <a:cs typeface="Courier New" pitchFamily="34" charset="-120"/>
              </a:rPr>
              <a:t>  ?prereq el:courseTitle ?prereqTitle .</a:t>
            </a:r>
            <a:endParaRPr lang="en-US" sz="800" dirty="0"/>
          </a:p>
          <a:p>
            <a:pPr marL="0" indent="0">
              <a:buNone/>
            </a:pPr>
            <a:r>
              <a:rPr lang="en-US" sz="800" dirty="0">
                <a:solidFill>
                  <a:srgbClr val="D4F1F4"/>
                </a:solidFill>
                <a:latin typeface="Courier New" pitchFamily="34" charset="0"/>
                <a:ea typeface="Courier New" pitchFamily="34" charset="-122"/>
                <a:cs typeface="Courier New" pitchFamily="34" charset="-120"/>
              </a:rPr>
              <a:t>}</a:t>
            </a:r>
            <a:endParaRPr lang="en-US" sz="800" dirty="0"/>
          </a:p>
        </p:txBody>
      </p:sp>
      <p:sp>
        <p:nvSpPr>
          <p:cNvPr id="14" name="Shape 12"/>
          <p:cNvSpPr/>
          <p:nvPr/>
        </p:nvSpPr>
        <p:spPr>
          <a:xfrm>
            <a:off x="3246120" y="3611880"/>
            <a:ext cx="2743200" cy="502920"/>
          </a:xfrm>
          <a:prstGeom prst="roundRect">
            <a:avLst>
              <a:gd name="adj" fmla="val 12727"/>
            </a:avLst>
          </a:prstGeom>
          <a:solidFill>
            <a:srgbClr val="E8F8F5"/>
          </a:solidFill>
          <a:ln w="12700">
            <a:solidFill>
              <a:srgbClr val="0E9AA7"/>
            </a:solidFill>
            <a:prstDash val="solid"/>
          </a:ln>
        </p:spPr>
      </p:sp>
      <p:sp>
        <p:nvSpPr>
          <p:cNvPr id="15" name="Text 13"/>
          <p:cNvSpPr/>
          <p:nvPr/>
        </p:nvSpPr>
        <p:spPr>
          <a:xfrm>
            <a:off x="3337560" y="3630168"/>
            <a:ext cx="2560320" cy="457200"/>
          </a:xfrm>
          <a:prstGeom prst="rect">
            <a:avLst/>
          </a:prstGeom>
          <a:noFill/>
          <a:ln/>
        </p:spPr>
        <p:txBody>
          <a:bodyPr wrap="square" lIns="0" tIns="0" rIns="0" bIns="0" rtlCol="0" anchor="ctr"/>
          <a:lstStyle/>
          <a:p>
            <a:pPr marL="0" indent="0">
              <a:buNone/>
            </a:pPr>
            <a:r>
              <a:rPr lang="en-US" sz="950" b="1" dirty="0">
                <a:solidFill>
                  <a:srgbClr val="2D3748"/>
                </a:solidFill>
                <a:latin typeface="Calibri" pitchFamily="34" charset="0"/>
                <a:ea typeface="Calibri" pitchFamily="34" charset="-122"/>
                <a:cs typeface="Calibri" pitchFamily="34" charset="-120"/>
              </a:rPr>
              <a:t>✓  CS-550 Knowledge Engineering</a:t>
            </a:r>
            <a:endParaRPr lang="en-US" sz="950" dirty="0"/>
          </a:p>
        </p:txBody>
      </p:sp>
      <p:sp>
        <p:nvSpPr>
          <p:cNvPr id="16" name="Shape 14"/>
          <p:cNvSpPr/>
          <p:nvPr/>
        </p:nvSpPr>
        <p:spPr>
          <a:xfrm>
            <a:off x="6172200" y="804672"/>
            <a:ext cx="2743200" cy="274320"/>
          </a:xfrm>
          <a:prstGeom prst="roundRect">
            <a:avLst>
              <a:gd name="adj" fmla="val 16667"/>
            </a:avLst>
          </a:prstGeom>
          <a:solidFill>
            <a:srgbClr val="0E9AA7"/>
          </a:solidFill>
          <a:ln w="12700">
            <a:solidFill>
              <a:srgbClr val="0E9AA7"/>
            </a:solidFill>
            <a:prstDash val="solid"/>
          </a:ln>
        </p:spPr>
      </p:sp>
      <p:sp>
        <p:nvSpPr>
          <p:cNvPr id="17" name="Text 15"/>
          <p:cNvSpPr/>
          <p:nvPr/>
        </p:nvSpPr>
        <p:spPr>
          <a:xfrm>
            <a:off x="6172200" y="804672"/>
            <a:ext cx="274320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CQ14 — Average grade per assignment</a:t>
            </a:r>
            <a:endParaRPr lang="en-US" sz="900" dirty="0"/>
          </a:p>
        </p:txBody>
      </p:sp>
      <p:sp>
        <p:nvSpPr>
          <p:cNvPr id="18" name="Shape 16"/>
          <p:cNvSpPr/>
          <p:nvPr/>
        </p:nvSpPr>
        <p:spPr>
          <a:xfrm>
            <a:off x="6172200" y="1115568"/>
            <a:ext cx="2743200" cy="2423160"/>
          </a:xfrm>
          <a:prstGeom prst="roundRect">
            <a:avLst>
              <a:gd name="adj" fmla="val 3019"/>
            </a:avLst>
          </a:prstGeom>
          <a:solidFill>
            <a:srgbClr val="2D3748"/>
          </a:solidFill>
          <a:ln w="12700">
            <a:solidFill>
              <a:srgbClr val="1B2A4A"/>
            </a:solidFill>
            <a:prstDash val="solid"/>
          </a:ln>
          <a:effectLst>
            <a:outerShdw blurRad="101600" dist="25400" dir="2700000" algn="bl" rotWithShape="0">
              <a:srgbClr val="000000">
                <a:alpha val="12000"/>
              </a:srgbClr>
            </a:outerShdw>
          </a:effectLst>
        </p:spPr>
      </p:sp>
      <p:sp>
        <p:nvSpPr>
          <p:cNvPr id="19" name="Text 17"/>
          <p:cNvSpPr/>
          <p:nvPr/>
        </p:nvSpPr>
        <p:spPr>
          <a:xfrm>
            <a:off x="6263640" y="1170432"/>
            <a:ext cx="2560320" cy="2286000"/>
          </a:xfrm>
          <a:prstGeom prst="rect">
            <a:avLst/>
          </a:prstGeom>
          <a:noFill/>
          <a:ln/>
        </p:spPr>
        <p:txBody>
          <a:bodyPr wrap="square" lIns="0" tIns="0" rIns="0" bIns="0" rtlCol="0" anchor="t"/>
          <a:lstStyle/>
          <a:p>
            <a:pPr marL="0" indent="0">
              <a:buNone/>
            </a:pPr>
            <a:r>
              <a:rPr lang="en-US" sz="800" dirty="0">
                <a:solidFill>
                  <a:srgbClr val="D4F1F4"/>
                </a:solidFill>
                <a:latin typeface="Courier New" pitchFamily="34" charset="0"/>
                <a:ea typeface="Courier New" pitchFamily="34" charset="-122"/>
                <a:cs typeface="Courier New" pitchFamily="34" charset="-120"/>
              </a:rPr>
              <a:t>SELECT ?title (AVG(?sc) AS ?avg) WHERE {</a:t>
            </a:r>
            <a:endParaRPr lang="en-US" sz="800" dirty="0"/>
          </a:p>
          <a:p>
            <a:pPr marL="0" indent="0">
              <a:buNone/>
            </a:pPr>
            <a:r>
              <a:rPr lang="en-US" sz="800" dirty="0">
                <a:solidFill>
                  <a:srgbClr val="D4F1F4"/>
                </a:solidFill>
                <a:latin typeface="Courier New" pitchFamily="34" charset="0"/>
                <a:ea typeface="Courier New" pitchFamily="34" charset="-122"/>
                <a:cs typeface="Courier New" pitchFamily="34" charset="-120"/>
              </a:rPr>
              <a:t>  ?a el:assignmentTitle ?title .</a:t>
            </a:r>
            <a:endParaRPr lang="en-US" sz="800" dirty="0"/>
          </a:p>
          <a:p>
            <a:pPr marL="0" indent="0">
              <a:buNone/>
            </a:pPr>
            <a:r>
              <a:rPr lang="en-US" sz="800" dirty="0">
                <a:solidFill>
                  <a:srgbClr val="D4F1F4"/>
                </a:solidFill>
                <a:latin typeface="Courier New" pitchFamily="34" charset="0"/>
                <a:ea typeface="Courier New" pitchFamily="34" charset="-122"/>
                <a:cs typeface="Courier New" pitchFamily="34" charset="-120"/>
              </a:rPr>
              <a:t>  ?sub el:submissionFor ?a ;</a:t>
            </a:r>
            <a:endParaRPr lang="en-US" sz="800" dirty="0"/>
          </a:p>
          <a:p>
            <a:pPr marL="0" indent="0">
              <a:buNone/>
            </a:pPr>
            <a:r>
              <a:rPr lang="en-US" sz="800" dirty="0">
                <a:solidFill>
                  <a:srgbClr val="D4F1F4"/>
                </a:solidFill>
                <a:latin typeface="Courier New" pitchFamily="34" charset="0"/>
                <a:ea typeface="Courier New" pitchFamily="34" charset="-122"/>
                <a:cs typeface="Courier New" pitchFamily="34" charset="-120"/>
              </a:rPr>
              <a:t>    el:hasGrade ?g .</a:t>
            </a:r>
            <a:endParaRPr lang="en-US" sz="800" dirty="0"/>
          </a:p>
          <a:p>
            <a:pPr marL="0" indent="0">
              <a:buNone/>
            </a:pPr>
            <a:r>
              <a:rPr lang="en-US" sz="800" dirty="0">
                <a:solidFill>
                  <a:srgbClr val="D4F1F4"/>
                </a:solidFill>
                <a:latin typeface="Courier New" pitchFamily="34" charset="0"/>
                <a:ea typeface="Courier New" pitchFamily="34" charset="-122"/>
                <a:cs typeface="Courier New" pitchFamily="34" charset="-120"/>
              </a:rPr>
              <a:t>  ?g el:score ?sc .</a:t>
            </a:r>
            <a:endParaRPr lang="en-US" sz="800" dirty="0"/>
          </a:p>
          <a:p>
            <a:pPr marL="0" indent="0">
              <a:buNone/>
            </a:pPr>
            <a:r>
              <a:rPr lang="en-US" sz="800" dirty="0">
                <a:solidFill>
                  <a:srgbClr val="D4F1F4"/>
                </a:solidFill>
                <a:latin typeface="Courier New" pitchFamily="34" charset="0"/>
                <a:ea typeface="Courier New" pitchFamily="34" charset="-122"/>
                <a:cs typeface="Courier New" pitchFamily="34" charset="-120"/>
              </a:rPr>
              <a:t>} GROUP BY ?title</a:t>
            </a:r>
            <a:endParaRPr lang="en-US" sz="800" dirty="0"/>
          </a:p>
        </p:txBody>
      </p:sp>
      <p:sp>
        <p:nvSpPr>
          <p:cNvPr id="20" name="Shape 18"/>
          <p:cNvSpPr/>
          <p:nvPr/>
        </p:nvSpPr>
        <p:spPr>
          <a:xfrm>
            <a:off x="6172200" y="3611880"/>
            <a:ext cx="2743200" cy="502920"/>
          </a:xfrm>
          <a:prstGeom prst="roundRect">
            <a:avLst>
              <a:gd name="adj" fmla="val 12727"/>
            </a:avLst>
          </a:prstGeom>
          <a:solidFill>
            <a:srgbClr val="E8F8F5"/>
          </a:solidFill>
          <a:ln w="12700">
            <a:solidFill>
              <a:srgbClr val="0E9AA7"/>
            </a:solidFill>
            <a:prstDash val="solid"/>
          </a:ln>
        </p:spPr>
      </p:sp>
      <p:sp>
        <p:nvSpPr>
          <p:cNvPr id="21" name="Text 19"/>
          <p:cNvSpPr/>
          <p:nvPr/>
        </p:nvSpPr>
        <p:spPr>
          <a:xfrm>
            <a:off x="6263640" y="3630168"/>
            <a:ext cx="2560320" cy="457200"/>
          </a:xfrm>
          <a:prstGeom prst="rect">
            <a:avLst/>
          </a:prstGeom>
          <a:noFill/>
          <a:ln/>
        </p:spPr>
        <p:txBody>
          <a:bodyPr wrap="square" lIns="0" tIns="0" rIns="0" bIns="0" rtlCol="0" anchor="ctr"/>
          <a:lstStyle/>
          <a:p>
            <a:pPr marL="0" indent="0">
              <a:buNone/>
            </a:pPr>
            <a:r>
              <a:rPr lang="en-US" sz="950" b="1" dirty="0">
                <a:solidFill>
                  <a:srgbClr val="2D3748"/>
                </a:solidFill>
                <a:latin typeface="Calibri" pitchFamily="34" charset="0"/>
                <a:ea typeface="Calibri" pitchFamily="34" charset="-122"/>
                <a:cs typeface="Calibri" pitchFamily="34" charset="-120"/>
              </a:rPr>
              <a:t>✓  Avg: 83.5 / Assignment</a:t>
            </a:r>
            <a:endParaRPr lang="en-US" sz="950" dirty="0"/>
          </a:p>
        </p:txBody>
      </p:sp>
      <p:sp>
        <p:nvSpPr>
          <p:cNvPr id="22" name="Shape 20"/>
          <p:cNvSpPr/>
          <p:nvPr/>
        </p:nvSpPr>
        <p:spPr>
          <a:xfrm>
            <a:off x="320040" y="4206240"/>
            <a:ext cx="8503920" cy="658368"/>
          </a:xfrm>
          <a:prstGeom prst="roundRect">
            <a:avLst>
              <a:gd name="adj" fmla="val 11111"/>
            </a:avLst>
          </a:prstGeom>
          <a:solidFill>
            <a:srgbClr val="1B2A4A"/>
          </a:solidFill>
          <a:ln w="12700">
            <a:solidFill>
              <a:srgbClr val="1B2A4A"/>
            </a:solidFill>
            <a:prstDash val="solid"/>
          </a:ln>
        </p:spPr>
      </p:sp>
      <p:sp>
        <p:nvSpPr>
          <p:cNvPr id="23" name="Text 21"/>
          <p:cNvSpPr/>
          <p:nvPr/>
        </p:nvSpPr>
        <p:spPr>
          <a:xfrm>
            <a:off x="365760" y="4251960"/>
            <a:ext cx="1645920" cy="566928"/>
          </a:xfrm>
          <a:prstGeom prst="rect">
            <a:avLst/>
          </a:prstGeom>
          <a:noFill/>
          <a:ln/>
        </p:spPr>
        <p:txBody>
          <a:bodyPr wrap="square" lIns="0" tIns="0" rIns="0" bIns="0" rtlCol="0" anchor="ctr"/>
          <a:lstStyle/>
          <a:p>
            <a:pPr marL="0" indent="0" algn="ctr">
              <a:buNone/>
            </a:pPr>
            <a:r>
              <a:rPr lang="en-US" sz="950" b="1" dirty="0">
                <a:solidFill>
                  <a:srgbClr val="0E9AA7"/>
                </a:solidFill>
                <a:latin typeface="Calibri" pitchFamily="34" charset="0"/>
                <a:ea typeface="Calibri" pitchFamily="34" charset="-122"/>
                <a:cs typeface="Calibri" pitchFamily="34" charset="-120"/>
              </a:rPr>
              <a:t>6 Basic Retrieval</a:t>
            </a:r>
            <a:endParaRPr lang="en-US" sz="950" dirty="0"/>
          </a:p>
        </p:txBody>
      </p:sp>
      <p:sp>
        <p:nvSpPr>
          <p:cNvPr id="24" name="Text 22"/>
          <p:cNvSpPr/>
          <p:nvPr/>
        </p:nvSpPr>
        <p:spPr>
          <a:xfrm>
            <a:off x="2057400" y="4251960"/>
            <a:ext cx="1645920" cy="566928"/>
          </a:xfrm>
          <a:prstGeom prst="rect">
            <a:avLst/>
          </a:prstGeom>
          <a:noFill/>
          <a:ln/>
        </p:spPr>
        <p:txBody>
          <a:bodyPr wrap="square" lIns="0" tIns="0" rIns="0" bIns="0" rtlCol="0" anchor="ctr"/>
          <a:lstStyle/>
          <a:p>
            <a:pPr marL="0" indent="0" algn="ctr">
              <a:buNone/>
            </a:pPr>
            <a:r>
              <a:rPr lang="en-US" sz="950" b="1" dirty="0">
                <a:solidFill>
                  <a:srgbClr val="0E9AA7"/>
                </a:solidFill>
                <a:latin typeface="Calibri" pitchFamily="34" charset="0"/>
                <a:ea typeface="Calibri" pitchFamily="34" charset="-122"/>
                <a:cs typeface="Calibri" pitchFamily="34" charset="-120"/>
              </a:rPr>
              <a:t>3 Reasoning Queries</a:t>
            </a:r>
            <a:endParaRPr lang="en-US" sz="950" dirty="0"/>
          </a:p>
        </p:txBody>
      </p:sp>
      <p:sp>
        <p:nvSpPr>
          <p:cNvPr id="25" name="Text 23"/>
          <p:cNvSpPr/>
          <p:nvPr/>
        </p:nvSpPr>
        <p:spPr>
          <a:xfrm>
            <a:off x="3749040" y="4251960"/>
            <a:ext cx="1645920" cy="566928"/>
          </a:xfrm>
          <a:prstGeom prst="rect">
            <a:avLst/>
          </a:prstGeom>
          <a:noFill/>
          <a:ln/>
        </p:spPr>
        <p:txBody>
          <a:bodyPr wrap="square" lIns="0" tIns="0" rIns="0" bIns="0" rtlCol="0" anchor="ctr"/>
          <a:lstStyle/>
          <a:p>
            <a:pPr marL="0" indent="0" algn="ctr">
              <a:buNone/>
            </a:pPr>
            <a:r>
              <a:rPr lang="en-US" sz="950" b="1" dirty="0">
                <a:solidFill>
                  <a:srgbClr val="0E9AA7"/>
                </a:solidFill>
                <a:latin typeface="Calibri" pitchFamily="34" charset="0"/>
                <a:ea typeface="Calibri" pitchFamily="34" charset="-122"/>
                <a:cs typeface="Calibri" pitchFamily="34" charset="-120"/>
              </a:rPr>
              <a:t>4 Aggregation</a:t>
            </a:r>
            <a:endParaRPr lang="en-US" sz="950" dirty="0"/>
          </a:p>
        </p:txBody>
      </p:sp>
      <p:sp>
        <p:nvSpPr>
          <p:cNvPr id="26" name="Text 24"/>
          <p:cNvSpPr/>
          <p:nvPr/>
        </p:nvSpPr>
        <p:spPr>
          <a:xfrm>
            <a:off x="5440680" y="4251960"/>
            <a:ext cx="1645920" cy="566928"/>
          </a:xfrm>
          <a:prstGeom prst="rect">
            <a:avLst/>
          </a:prstGeom>
          <a:noFill/>
          <a:ln/>
        </p:spPr>
        <p:txBody>
          <a:bodyPr wrap="square" lIns="0" tIns="0" rIns="0" bIns="0" rtlCol="0" anchor="ctr"/>
          <a:lstStyle/>
          <a:p>
            <a:pPr marL="0" indent="0" algn="ctr">
              <a:buNone/>
            </a:pPr>
            <a:r>
              <a:rPr lang="en-US" sz="950" b="1" dirty="0">
                <a:solidFill>
                  <a:srgbClr val="0E9AA7"/>
                </a:solidFill>
                <a:latin typeface="Calibri" pitchFamily="34" charset="0"/>
                <a:ea typeface="Calibri" pitchFamily="34" charset="-122"/>
                <a:cs typeface="Calibri" pitchFamily="34" charset="-120"/>
              </a:rPr>
              <a:t>3 Relationship Queries</a:t>
            </a:r>
            <a:endParaRPr lang="en-US" sz="950" dirty="0"/>
          </a:p>
        </p:txBody>
      </p:sp>
      <p:sp>
        <p:nvSpPr>
          <p:cNvPr id="27" name="Text 25"/>
          <p:cNvSpPr/>
          <p:nvPr/>
        </p:nvSpPr>
        <p:spPr>
          <a:xfrm>
            <a:off x="7132320" y="4251960"/>
            <a:ext cx="1645920" cy="566928"/>
          </a:xfrm>
          <a:prstGeom prst="rect">
            <a:avLst/>
          </a:prstGeom>
          <a:noFill/>
          <a:ln/>
        </p:spPr>
        <p:txBody>
          <a:bodyPr wrap="square" lIns="0" tIns="0" rIns="0" bIns="0" rtlCol="0" anchor="ctr"/>
          <a:lstStyle/>
          <a:p>
            <a:pPr marL="0" indent="0" algn="ctr">
              <a:buNone/>
            </a:pPr>
            <a:r>
              <a:rPr lang="en-US" sz="950" b="1" dirty="0">
                <a:solidFill>
                  <a:srgbClr val="0E9AA7"/>
                </a:solidFill>
                <a:latin typeface="Calibri" pitchFamily="34" charset="0"/>
                <a:ea typeface="Calibri" pitchFamily="34" charset="-122"/>
                <a:cs typeface="Calibri" pitchFamily="34" charset="-120"/>
              </a:rPr>
              <a:t>2 LateSubmission Queries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4A"/>
          </a:solidFill>
          <a:ln w="12700">
            <a:solidFill>
              <a:srgbClr val="1B2A4A"/>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SHACL Validation Framework</a:t>
            </a:r>
            <a:endParaRPr lang="en-US" sz="2200" dirty="0"/>
          </a:p>
        </p:txBody>
      </p:sp>
      <p:sp>
        <p:nvSpPr>
          <p:cNvPr id="4" name="Shape 2"/>
          <p:cNvSpPr/>
          <p:nvPr/>
        </p:nvSpPr>
        <p:spPr>
          <a:xfrm>
            <a:off x="320040" y="804672"/>
            <a:ext cx="4160520" cy="1847088"/>
          </a:xfrm>
          <a:prstGeom prst="roundRect">
            <a:avLst>
              <a:gd name="adj" fmla="val 4950"/>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sp>
        <p:nvSpPr>
          <p:cNvPr id="5" name="Shape 3"/>
          <p:cNvSpPr/>
          <p:nvPr/>
        </p:nvSpPr>
        <p:spPr>
          <a:xfrm>
            <a:off x="429768" y="896112"/>
            <a:ext cx="2560320" cy="301752"/>
          </a:xfrm>
          <a:prstGeom prst="roundRect">
            <a:avLst>
              <a:gd name="adj" fmla="val 15152"/>
            </a:avLst>
          </a:prstGeom>
          <a:solidFill>
            <a:srgbClr val="1B2A4A"/>
          </a:solidFill>
          <a:ln w="12700">
            <a:solidFill>
              <a:srgbClr val="1B2A4A"/>
            </a:solidFill>
            <a:prstDash val="solid"/>
          </a:ln>
        </p:spPr>
      </p:sp>
      <p:sp>
        <p:nvSpPr>
          <p:cNvPr id="6" name="Text 4"/>
          <p:cNvSpPr/>
          <p:nvPr/>
        </p:nvSpPr>
        <p:spPr>
          <a:xfrm>
            <a:off x="429768" y="896112"/>
            <a:ext cx="2560320" cy="301752"/>
          </a:xfrm>
          <a:prstGeom prst="rect">
            <a:avLst/>
          </a:prstGeom>
          <a:noFill/>
          <a:ln/>
        </p:spPr>
        <p:txBody>
          <a:bodyPr wrap="square" lIns="0" tIns="0" rIns="0" bIns="0" rtlCol="0" anchor="ctr"/>
          <a:lstStyle/>
          <a:p>
            <a:pPr marL="0" indent="0" algn="ctr">
              <a:buNone/>
            </a:pPr>
            <a:r>
              <a:rPr lang="en-US" sz="1000" b="1" dirty="0">
                <a:solidFill>
                  <a:srgbClr val="FFFFFF"/>
                </a:solidFill>
                <a:latin typeface="Cambria" pitchFamily="34" charset="0"/>
                <a:ea typeface="Cambria" pitchFamily="34" charset="-122"/>
                <a:cs typeface="Cambria" pitchFamily="34" charset="-120"/>
              </a:rPr>
              <a:t>StudentShape</a:t>
            </a:r>
            <a:endParaRPr lang="en-US" sz="1000" dirty="0"/>
          </a:p>
        </p:txBody>
      </p:sp>
      <p:sp>
        <p:nvSpPr>
          <p:cNvPr id="7" name="Text 5"/>
          <p:cNvSpPr/>
          <p:nvPr/>
        </p:nvSpPr>
        <p:spPr>
          <a:xfrm>
            <a:off x="429768" y="1243584"/>
            <a:ext cx="3931920" cy="256032"/>
          </a:xfrm>
          <a:prstGeom prst="rect">
            <a:avLst/>
          </a:prstGeom>
          <a:noFill/>
          <a:ln/>
        </p:spPr>
        <p:txBody>
          <a:bodyPr wrap="square" lIns="0" tIns="0" rIns="0" bIns="0" rtlCol="0" anchor="ctr"/>
          <a:lstStyle/>
          <a:p>
            <a:pPr marL="0" indent="0">
              <a:buNone/>
            </a:pPr>
            <a:r>
              <a:rPr lang="en-US" sz="900" dirty="0">
                <a:solidFill>
                  <a:srgbClr val="0E9AA7"/>
                </a:solidFill>
                <a:latin typeface="Courier New" pitchFamily="34" charset="0"/>
                <a:ea typeface="Courier New" pitchFamily="34" charset="-122"/>
                <a:cs typeface="Courier New" pitchFamily="34" charset="-120"/>
              </a:rPr>
              <a:t>sh:targetClass  el:Student</a:t>
            </a:r>
            <a:endParaRPr lang="en-US" sz="900" dirty="0"/>
          </a:p>
        </p:txBody>
      </p:sp>
      <p:sp>
        <p:nvSpPr>
          <p:cNvPr id="8" name="Text 6"/>
          <p:cNvSpPr/>
          <p:nvPr/>
        </p:nvSpPr>
        <p:spPr>
          <a:xfrm>
            <a:off x="429768" y="1536192"/>
            <a:ext cx="3931920" cy="292608"/>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  • hasName: minCount 1, xsd:string</a:t>
            </a:r>
            <a:endParaRPr lang="en-US" sz="950" dirty="0"/>
          </a:p>
        </p:txBody>
      </p:sp>
      <p:sp>
        <p:nvSpPr>
          <p:cNvPr id="9" name="Text 7"/>
          <p:cNvSpPr/>
          <p:nvPr/>
        </p:nvSpPr>
        <p:spPr>
          <a:xfrm>
            <a:off x="429768" y="1847088"/>
            <a:ext cx="3931920" cy="292608"/>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  • studentID: maxCount 1, xsd:string</a:t>
            </a:r>
            <a:endParaRPr lang="en-US" sz="950" dirty="0"/>
          </a:p>
        </p:txBody>
      </p:sp>
      <p:sp>
        <p:nvSpPr>
          <p:cNvPr id="10" name="Shape 8"/>
          <p:cNvSpPr/>
          <p:nvPr/>
        </p:nvSpPr>
        <p:spPr>
          <a:xfrm>
            <a:off x="3429000" y="896112"/>
            <a:ext cx="914400" cy="301752"/>
          </a:xfrm>
          <a:prstGeom prst="roundRect">
            <a:avLst>
              <a:gd name="adj" fmla="val 15152"/>
            </a:avLst>
          </a:prstGeom>
          <a:solidFill>
            <a:srgbClr val="27AE60"/>
          </a:solidFill>
          <a:ln w="12700">
            <a:solidFill>
              <a:srgbClr val="27AE60"/>
            </a:solidFill>
            <a:prstDash val="solid"/>
          </a:ln>
        </p:spPr>
      </p:sp>
      <p:sp>
        <p:nvSpPr>
          <p:cNvPr id="11" name="Text 9"/>
          <p:cNvSpPr/>
          <p:nvPr/>
        </p:nvSpPr>
        <p:spPr>
          <a:xfrm>
            <a:off x="3429000" y="896112"/>
            <a:ext cx="914400" cy="30175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PASSED</a:t>
            </a:r>
            <a:endParaRPr lang="en-US" sz="900" dirty="0"/>
          </a:p>
        </p:txBody>
      </p:sp>
      <p:sp>
        <p:nvSpPr>
          <p:cNvPr id="12" name="Text 10"/>
          <p:cNvSpPr/>
          <p:nvPr/>
        </p:nvSpPr>
        <p:spPr>
          <a:xfrm>
            <a:off x="429768" y="2286000"/>
            <a:ext cx="3931920" cy="292608"/>
          </a:xfrm>
          <a:prstGeom prst="rect">
            <a:avLst/>
          </a:prstGeom>
          <a:noFill/>
          <a:ln/>
        </p:spPr>
        <p:txBody>
          <a:bodyPr wrap="square" lIns="0" tIns="0" rIns="0" bIns="0" rtlCol="0" anchor="ctr"/>
          <a:lstStyle/>
          <a:p>
            <a:pPr marL="0" indent="0">
              <a:buNone/>
            </a:pPr>
            <a:r>
              <a:rPr lang="en-US" sz="900" i="1" dirty="0">
                <a:solidFill>
                  <a:srgbClr val="718096"/>
                </a:solidFill>
                <a:latin typeface="Calibri" pitchFamily="34" charset="0"/>
                <a:ea typeface="Calibri" pitchFamily="34" charset="-122"/>
                <a:cs typeface="Calibri" pitchFamily="34" charset="-120"/>
              </a:rPr>
              <a:t>All 7 students passed</a:t>
            </a:r>
            <a:endParaRPr lang="en-US" sz="900" dirty="0"/>
          </a:p>
        </p:txBody>
      </p:sp>
      <p:sp>
        <p:nvSpPr>
          <p:cNvPr id="13" name="Shape 11"/>
          <p:cNvSpPr/>
          <p:nvPr/>
        </p:nvSpPr>
        <p:spPr>
          <a:xfrm>
            <a:off x="4754880" y="804672"/>
            <a:ext cx="4160520" cy="1847088"/>
          </a:xfrm>
          <a:prstGeom prst="roundRect">
            <a:avLst>
              <a:gd name="adj" fmla="val 4950"/>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sp>
        <p:nvSpPr>
          <p:cNvPr id="14" name="Shape 12"/>
          <p:cNvSpPr/>
          <p:nvPr/>
        </p:nvSpPr>
        <p:spPr>
          <a:xfrm>
            <a:off x="4864608" y="896112"/>
            <a:ext cx="2560320" cy="301752"/>
          </a:xfrm>
          <a:prstGeom prst="roundRect">
            <a:avLst>
              <a:gd name="adj" fmla="val 15152"/>
            </a:avLst>
          </a:prstGeom>
          <a:solidFill>
            <a:srgbClr val="1B2A4A"/>
          </a:solidFill>
          <a:ln w="12700">
            <a:solidFill>
              <a:srgbClr val="1B2A4A"/>
            </a:solidFill>
            <a:prstDash val="solid"/>
          </a:ln>
        </p:spPr>
      </p:sp>
      <p:sp>
        <p:nvSpPr>
          <p:cNvPr id="15" name="Text 13"/>
          <p:cNvSpPr/>
          <p:nvPr/>
        </p:nvSpPr>
        <p:spPr>
          <a:xfrm>
            <a:off x="4864608" y="896112"/>
            <a:ext cx="2560320" cy="301752"/>
          </a:xfrm>
          <a:prstGeom prst="rect">
            <a:avLst/>
          </a:prstGeom>
          <a:noFill/>
          <a:ln/>
        </p:spPr>
        <p:txBody>
          <a:bodyPr wrap="square" lIns="0" tIns="0" rIns="0" bIns="0" rtlCol="0" anchor="ctr"/>
          <a:lstStyle/>
          <a:p>
            <a:pPr marL="0" indent="0" algn="ctr">
              <a:buNone/>
            </a:pPr>
            <a:r>
              <a:rPr lang="en-US" sz="1000" b="1" dirty="0">
                <a:solidFill>
                  <a:srgbClr val="FFFFFF"/>
                </a:solidFill>
                <a:latin typeface="Cambria" pitchFamily="34" charset="0"/>
                <a:ea typeface="Cambria" pitchFamily="34" charset="-122"/>
                <a:cs typeface="Cambria" pitchFamily="34" charset="-120"/>
              </a:rPr>
              <a:t>SubmissionShape</a:t>
            </a:r>
            <a:endParaRPr lang="en-US" sz="1000" dirty="0"/>
          </a:p>
        </p:txBody>
      </p:sp>
      <p:sp>
        <p:nvSpPr>
          <p:cNvPr id="16" name="Text 14"/>
          <p:cNvSpPr/>
          <p:nvPr/>
        </p:nvSpPr>
        <p:spPr>
          <a:xfrm>
            <a:off x="4864608" y="1243584"/>
            <a:ext cx="3931920" cy="256032"/>
          </a:xfrm>
          <a:prstGeom prst="rect">
            <a:avLst/>
          </a:prstGeom>
          <a:noFill/>
          <a:ln/>
        </p:spPr>
        <p:txBody>
          <a:bodyPr wrap="square" lIns="0" tIns="0" rIns="0" bIns="0" rtlCol="0" anchor="ctr"/>
          <a:lstStyle/>
          <a:p>
            <a:pPr marL="0" indent="0">
              <a:buNone/>
            </a:pPr>
            <a:r>
              <a:rPr lang="en-US" sz="900" dirty="0">
                <a:solidFill>
                  <a:srgbClr val="0E9AA7"/>
                </a:solidFill>
                <a:latin typeface="Courier New" pitchFamily="34" charset="0"/>
                <a:ea typeface="Courier New" pitchFamily="34" charset="-122"/>
                <a:cs typeface="Courier New" pitchFamily="34" charset="-120"/>
              </a:rPr>
              <a:t>sh:targetClass  el:Submission</a:t>
            </a:r>
            <a:endParaRPr lang="en-US" sz="900" dirty="0"/>
          </a:p>
        </p:txBody>
      </p:sp>
      <p:sp>
        <p:nvSpPr>
          <p:cNvPr id="17" name="Text 15"/>
          <p:cNvSpPr/>
          <p:nvPr/>
        </p:nvSpPr>
        <p:spPr>
          <a:xfrm>
            <a:off x="4864608" y="1536192"/>
            <a:ext cx="3931920" cy="292608"/>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  • submissionFor: min 1, max 1, → Assignment</a:t>
            </a:r>
            <a:endParaRPr lang="en-US" sz="950" dirty="0"/>
          </a:p>
        </p:txBody>
      </p:sp>
      <p:sp>
        <p:nvSpPr>
          <p:cNvPr id="18" name="Text 16"/>
          <p:cNvSpPr/>
          <p:nvPr/>
        </p:nvSpPr>
        <p:spPr>
          <a:xfrm>
            <a:off x="4864608" y="1847088"/>
            <a:ext cx="3931920" cy="292608"/>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  • submittedBy: min 1, max 1, → Student</a:t>
            </a:r>
            <a:endParaRPr lang="en-US" sz="950" dirty="0"/>
          </a:p>
        </p:txBody>
      </p:sp>
      <p:sp>
        <p:nvSpPr>
          <p:cNvPr id="19" name="Shape 17"/>
          <p:cNvSpPr/>
          <p:nvPr/>
        </p:nvSpPr>
        <p:spPr>
          <a:xfrm>
            <a:off x="7863840" y="896112"/>
            <a:ext cx="914400" cy="301752"/>
          </a:xfrm>
          <a:prstGeom prst="roundRect">
            <a:avLst>
              <a:gd name="adj" fmla="val 15152"/>
            </a:avLst>
          </a:prstGeom>
          <a:solidFill>
            <a:srgbClr val="27AE60"/>
          </a:solidFill>
          <a:ln w="12700">
            <a:solidFill>
              <a:srgbClr val="27AE60"/>
            </a:solidFill>
            <a:prstDash val="solid"/>
          </a:ln>
        </p:spPr>
      </p:sp>
      <p:sp>
        <p:nvSpPr>
          <p:cNvPr id="20" name="Text 18"/>
          <p:cNvSpPr/>
          <p:nvPr/>
        </p:nvSpPr>
        <p:spPr>
          <a:xfrm>
            <a:off x="7863840" y="896112"/>
            <a:ext cx="914400" cy="30175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PASSED</a:t>
            </a:r>
            <a:endParaRPr lang="en-US" sz="900" dirty="0"/>
          </a:p>
        </p:txBody>
      </p:sp>
      <p:sp>
        <p:nvSpPr>
          <p:cNvPr id="21" name="Text 19"/>
          <p:cNvSpPr/>
          <p:nvPr/>
        </p:nvSpPr>
        <p:spPr>
          <a:xfrm>
            <a:off x="4864608" y="2286000"/>
            <a:ext cx="3931920" cy="292608"/>
          </a:xfrm>
          <a:prstGeom prst="rect">
            <a:avLst/>
          </a:prstGeom>
          <a:noFill/>
          <a:ln/>
        </p:spPr>
        <p:txBody>
          <a:bodyPr wrap="square" lIns="0" tIns="0" rIns="0" bIns="0" rtlCol="0" anchor="ctr"/>
          <a:lstStyle/>
          <a:p>
            <a:pPr marL="0" indent="0">
              <a:buNone/>
            </a:pPr>
            <a:r>
              <a:rPr lang="en-US" sz="900" i="1" dirty="0">
                <a:solidFill>
                  <a:srgbClr val="718096"/>
                </a:solidFill>
                <a:latin typeface="Calibri" pitchFamily="34" charset="0"/>
                <a:ea typeface="Calibri" pitchFamily="34" charset="-122"/>
                <a:cs typeface="Calibri" pitchFamily="34" charset="-120"/>
              </a:rPr>
              <a:t>All 5 submissions passed</a:t>
            </a:r>
            <a:endParaRPr lang="en-US" sz="900" dirty="0"/>
          </a:p>
        </p:txBody>
      </p:sp>
      <p:sp>
        <p:nvSpPr>
          <p:cNvPr id="22" name="Shape 20"/>
          <p:cNvSpPr/>
          <p:nvPr/>
        </p:nvSpPr>
        <p:spPr>
          <a:xfrm>
            <a:off x="320040" y="2770632"/>
            <a:ext cx="4160520" cy="1847088"/>
          </a:xfrm>
          <a:prstGeom prst="roundRect">
            <a:avLst>
              <a:gd name="adj" fmla="val 4950"/>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sp>
        <p:nvSpPr>
          <p:cNvPr id="23" name="Shape 21"/>
          <p:cNvSpPr/>
          <p:nvPr/>
        </p:nvSpPr>
        <p:spPr>
          <a:xfrm>
            <a:off x="429768" y="2862072"/>
            <a:ext cx="2560320" cy="301752"/>
          </a:xfrm>
          <a:prstGeom prst="roundRect">
            <a:avLst>
              <a:gd name="adj" fmla="val 15152"/>
            </a:avLst>
          </a:prstGeom>
          <a:solidFill>
            <a:srgbClr val="1B2A4A"/>
          </a:solidFill>
          <a:ln w="12700">
            <a:solidFill>
              <a:srgbClr val="1B2A4A"/>
            </a:solidFill>
            <a:prstDash val="solid"/>
          </a:ln>
        </p:spPr>
      </p:sp>
      <p:sp>
        <p:nvSpPr>
          <p:cNvPr id="24" name="Text 22"/>
          <p:cNvSpPr/>
          <p:nvPr/>
        </p:nvSpPr>
        <p:spPr>
          <a:xfrm>
            <a:off x="429768" y="2862072"/>
            <a:ext cx="2560320" cy="301752"/>
          </a:xfrm>
          <a:prstGeom prst="rect">
            <a:avLst/>
          </a:prstGeom>
          <a:noFill/>
          <a:ln/>
        </p:spPr>
        <p:txBody>
          <a:bodyPr wrap="square" lIns="0" tIns="0" rIns="0" bIns="0" rtlCol="0" anchor="ctr"/>
          <a:lstStyle/>
          <a:p>
            <a:pPr marL="0" indent="0" algn="ctr">
              <a:buNone/>
            </a:pPr>
            <a:r>
              <a:rPr lang="en-US" sz="1000" b="1" dirty="0">
                <a:solidFill>
                  <a:srgbClr val="FFFFFF"/>
                </a:solidFill>
                <a:latin typeface="Cambria" pitchFamily="34" charset="0"/>
                <a:ea typeface="Cambria" pitchFamily="34" charset="-122"/>
                <a:cs typeface="Cambria" pitchFamily="34" charset="-120"/>
              </a:rPr>
              <a:t>GradeShape</a:t>
            </a:r>
            <a:endParaRPr lang="en-US" sz="1000" dirty="0"/>
          </a:p>
        </p:txBody>
      </p:sp>
      <p:sp>
        <p:nvSpPr>
          <p:cNvPr id="25" name="Text 23"/>
          <p:cNvSpPr/>
          <p:nvPr/>
        </p:nvSpPr>
        <p:spPr>
          <a:xfrm>
            <a:off x="429768" y="3209544"/>
            <a:ext cx="3931920" cy="256032"/>
          </a:xfrm>
          <a:prstGeom prst="rect">
            <a:avLst/>
          </a:prstGeom>
          <a:noFill/>
          <a:ln/>
        </p:spPr>
        <p:txBody>
          <a:bodyPr wrap="square" lIns="0" tIns="0" rIns="0" bIns="0" rtlCol="0" anchor="ctr"/>
          <a:lstStyle/>
          <a:p>
            <a:pPr marL="0" indent="0">
              <a:buNone/>
            </a:pPr>
            <a:r>
              <a:rPr lang="en-US" sz="900" dirty="0">
                <a:solidFill>
                  <a:srgbClr val="0E9AA7"/>
                </a:solidFill>
                <a:latin typeface="Courier New" pitchFamily="34" charset="0"/>
                <a:ea typeface="Courier New" pitchFamily="34" charset="-122"/>
                <a:cs typeface="Courier New" pitchFamily="34" charset="-120"/>
              </a:rPr>
              <a:t>sh:targetClass  el:Grade</a:t>
            </a:r>
            <a:endParaRPr lang="en-US" sz="900" dirty="0"/>
          </a:p>
        </p:txBody>
      </p:sp>
      <p:sp>
        <p:nvSpPr>
          <p:cNvPr id="26" name="Text 24"/>
          <p:cNvSpPr/>
          <p:nvPr/>
        </p:nvSpPr>
        <p:spPr>
          <a:xfrm>
            <a:off x="429768" y="3502152"/>
            <a:ext cx="3931920" cy="292608"/>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  • score: min 1, max 1, xsd:float</a:t>
            </a:r>
            <a:endParaRPr lang="en-US" sz="950" dirty="0"/>
          </a:p>
        </p:txBody>
      </p:sp>
      <p:sp>
        <p:nvSpPr>
          <p:cNvPr id="27" name="Text 25"/>
          <p:cNvSpPr/>
          <p:nvPr/>
        </p:nvSpPr>
        <p:spPr>
          <a:xfrm>
            <a:off x="429768" y="3813048"/>
            <a:ext cx="3931920" cy="292608"/>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  • minInclusive 0.0 · maxInclusive 100.0</a:t>
            </a:r>
            <a:endParaRPr lang="en-US" sz="950" dirty="0"/>
          </a:p>
        </p:txBody>
      </p:sp>
      <p:sp>
        <p:nvSpPr>
          <p:cNvPr id="28" name="Shape 26"/>
          <p:cNvSpPr/>
          <p:nvPr/>
        </p:nvSpPr>
        <p:spPr>
          <a:xfrm>
            <a:off x="3429000" y="2862072"/>
            <a:ext cx="914400" cy="301752"/>
          </a:xfrm>
          <a:prstGeom prst="roundRect">
            <a:avLst>
              <a:gd name="adj" fmla="val 15152"/>
            </a:avLst>
          </a:prstGeom>
          <a:solidFill>
            <a:srgbClr val="27AE60"/>
          </a:solidFill>
          <a:ln w="12700">
            <a:solidFill>
              <a:srgbClr val="27AE60"/>
            </a:solidFill>
            <a:prstDash val="solid"/>
          </a:ln>
        </p:spPr>
      </p:sp>
      <p:sp>
        <p:nvSpPr>
          <p:cNvPr id="29" name="Text 27"/>
          <p:cNvSpPr/>
          <p:nvPr/>
        </p:nvSpPr>
        <p:spPr>
          <a:xfrm>
            <a:off x="3429000" y="2862072"/>
            <a:ext cx="914400" cy="30175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PASSED</a:t>
            </a:r>
            <a:endParaRPr lang="en-US" sz="900" dirty="0"/>
          </a:p>
        </p:txBody>
      </p:sp>
      <p:sp>
        <p:nvSpPr>
          <p:cNvPr id="30" name="Text 28"/>
          <p:cNvSpPr/>
          <p:nvPr/>
        </p:nvSpPr>
        <p:spPr>
          <a:xfrm>
            <a:off x="429768" y="4251960"/>
            <a:ext cx="3931920" cy="292608"/>
          </a:xfrm>
          <a:prstGeom prst="rect">
            <a:avLst/>
          </a:prstGeom>
          <a:noFill/>
          <a:ln/>
        </p:spPr>
        <p:txBody>
          <a:bodyPr wrap="square" lIns="0" tIns="0" rIns="0" bIns="0" rtlCol="0" anchor="ctr"/>
          <a:lstStyle/>
          <a:p>
            <a:pPr marL="0" indent="0">
              <a:buNone/>
            </a:pPr>
            <a:r>
              <a:rPr lang="en-US" sz="900" i="1" dirty="0">
                <a:solidFill>
                  <a:srgbClr val="718096"/>
                </a:solidFill>
                <a:latin typeface="Calibri" pitchFamily="34" charset="0"/>
                <a:ea typeface="Calibri" pitchFamily="34" charset="-122"/>
                <a:cs typeface="Calibri" pitchFamily="34" charset="-120"/>
              </a:rPr>
              <a:t>Deliberate 110.0 → VIOLATION ✓</a:t>
            </a:r>
            <a:endParaRPr lang="en-US" sz="900" dirty="0"/>
          </a:p>
        </p:txBody>
      </p:sp>
      <p:sp>
        <p:nvSpPr>
          <p:cNvPr id="31" name="Shape 29"/>
          <p:cNvSpPr/>
          <p:nvPr/>
        </p:nvSpPr>
        <p:spPr>
          <a:xfrm>
            <a:off x="4754880" y="2770632"/>
            <a:ext cx="4160520" cy="1847088"/>
          </a:xfrm>
          <a:prstGeom prst="roundRect">
            <a:avLst>
              <a:gd name="adj" fmla="val 4950"/>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sp>
        <p:nvSpPr>
          <p:cNvPr id="32" name="Shape 30"/>
          <p:cNvSpPr/>
          <p:nvPr/>
        </p:nvSpPr>
        <p:spPr>
          <a:xfrm>
            <a:off x="4864608" y="2862072"/>
            <a:ext cx="2560320" cy="301752"/>
          </a:xfrm>
          <a:prstGeom prst="roundRect">
            <a:avLst>
              <a:gd name="adj" fmla="val 15152"/>
            </a:avLst>
          </a:prstGeom>
          <a:solidFill>
            <a:srgbClr val="1B2A4A"/>
          </a:solidFill>
          <a:ln w="12700">
            <a:solidFill>
              <a:srgbClr val="1B2A4A"/>
            </a:solidFill>
            <a:prstDash val="solid"/>
          </a:ln>
        </p:spPr>
      </p:sp>
      <p:sp>
        <p:nvSpPr>
          <p:cNvPr id="33" name="Text 31"/>
          <p:cNvSpPr/>
          <p:nvPr/>
        </p:nvSpPr>
        <p:spPr>
          <a:xfrm>
            <a:off x="4864608" y="2862072"/>
            <a:ext cx="2560320" cy="301752"/>
          </a:xfrm>
          <a:prstGeom prst="rect">
            <a:avLst/>
          </a:prstGeom>
          <a:noFill/>
          <a:ln/>
        </p:spPr>
        <p:txBody>
          <a:bodyPr wrap="square" lIns="0" tIns="0" rIns="0" bIns="0" rtlCol="0" anchor="ctr"/>
          <a:lstStyle/>
          <a:p>
            <a:pPr marL="0" indent="0" algn="ctr">
              <a:buNone/>
            </a:pPr>
            <a:r>
              <a:rPr lang="en-US" sz="1000" b="1" dirty="0">
                <a:solidFill>
                  <a:srgbClr val="FFFFFF"/>
                </a:solidFill>
                <a:latin typeface="Cambria" pitchFamily="34" charset="0"/>
                <a:ea typeface="Cambria" pitchFamily="34" charset="-122"/>
                <a:cs typeface="Cambria" pitchFamily="34" charset="-120"/>
              </a:rPr>
              <a:t>AssignmentShape</a:t>
            </a:r>
            <a:endParaRPr lang="en-US" sz="1000" dirty="0"/>
          </a:p>
        </p:txBody>
      </p:sp>
      <p:sp>
        <p:nvSpPr>
          <p:cNvPr id="34" name="Text 32"/>
          <p:cNvSpPr/>
          <p:nvPr/>
        </p:nvSpPr>
        <p:spPr>
          <a:xfrm>
            <a:off x="4864608" y="3209544"/>
            <a:ext cx="3931920" cy="256032"/>
          </a:xfrm>
          <a:prstGeom prst="rect">
            <a:avLst/>
          </a:prstGeom>
          <a:noFill/>
          <a:ln/>
        </p:spPr>
        <p:txBody>
          <a:bodyPr wrap="square" lIns="0" tIns="0" rIns="0" bIns="0" rtlCol="0" anchor="ctr"/>
          <a:lstStyle/>
          <a:p>
            <a:pPr marL="0" indent="0">
              <a:buNone/>
            </a:pPr>
            <a:r>
              <a:rPr lang="en-US" sz="900" dirty="0">
                <a:solidFill>
                  <a:srgbClr val="0E9AA7"/>
                </a:solidFill>
                <a:latin typeface="Courier New" pitchFamily="34" charset="0"/>
                <a:ea typeface="Courier New" pitchFamily="34" charset="-122"/>
                <a:cs typeface="Courier New" pitchFamily="34" charset="-120"/>
              </a:rPr>
              <a:t>sh:targetClass  el:Assignment</a:t>
            </a:r>
            <a:endParaRPr lang="en-US" sz="900" dirty="0"/>
          </a:p>
        </p:txBody>
      </p:sp>
      <p:sp>
        <p:nvSpPr>
          <p:cNvPr id="35" name="Text 33"/>
          <p:cNvSpPr/>
          <p:nvPr/>
        </p:nvSpPr>
        <p:spPr>
          <a:xfrm>
            <a:off x="4864608" y="3502152"/>
            <a:ext cx="3931920" cy="292608"/>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  • dueDate: minCount 1, xsd:dateTime</a:t>
            </a:r>
            <a:endParaRPr lang="en-US" sz="950" dirty="0"/>
          </a:p>
        </p:txBody>
      </p:sp>
      <p:sp>
        <p:nvSpPr>
          <p:cNvPr id="36" name="Text 34"/>
          <p:cNvSpPr/>
          <p:nvPr/>
        </p:nvSpPr>
        <p:spPr>
          <a:xfrm>
            <a:off x="4864608" y="3813048"/>
            <a:ext cx="3931920" cy="292608"/>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  • Required for LateSubmission reasoning</a:t>
            </a:r>
            <a:endParaRPr lang="en-US" sz="950" dirty="0"/>
          </a:p>
        </p:txBody>
      </p:sp>
      <p:sp>
        <p:nvSpPr>
          <p:cNvPr id="37" name="Shape 35"/>
          <p:cNvSpPr/>
          <p:nvPr/>
        </p:nvSpPr>
        <p:spPr>
          <a:xfrm>
            <a:off x="7863840" y="2862072"/>
            <a:ext cx="914400" cy="301752"/>
          </a:xfrm>
          <a:prstGeom prst="roundRect">
            <a:avLst>
              <a:gd name="adj" fmla="val 15152"/>
            </a:avLst>
          </a:prstGeom>
          <a:solidFill>
            <a:srgbClr val="27AE60"/>
          </a:solidFill>
          <a:ln w="12700">
            <a:solidFill>
              <a:srgbClr val="27AE60"/>
            </a:solidFill>
            <a:prstDash val="solid"/>
          </a:ln>
        </p:spPr>
      </p:sp>
      <p:sp>
        <p:nvSpPr>
          <p:cNvPr id="38" name="Text 36"/>
          <p:cNvSpPr/>
          <p:nvPr/>
        </p:nvSpPr>
        <p:spPr>
          <a:xfrm>
            <a:off x="7863840" y="2862072"/>
            <a:ext cx="914400" cy="30175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PASSED</a:t>
            </a:r>
            <a:endParaRPr lang="en-US" sz="900" dirty="0"/>
          </a:p>
        </p:txBody>
      </p:sp>
      <p:sp>
        <p:nvSpPr>
          <p:cNvPr id="39" name="Text 37"/>
          <p:cNvSpPr/>
          <p:nvPr/>
        </p:nvSpPr>
        <p:spPr>
          <a:xfrm>
            <a:off x="4864608" y="4251960"/>
            <a:ext cx="3931920" cy="292608"/>
          </a:xfrm>
          <a:prstGeom prst="rect">
            <a:avLst/>
          </a:prstGeom>
          <a:noFill/>
          <a:ln/>
        </p:spPr>
        <p:txBody>
          <a:bodyPr wrap="square" lIns="0" tIns="0" rIns="0" bIns="0" rtlCol="0" anchor="ctr"/>
          <a:lstStyle/>
          <a:p>
            <a:pPr marL="0" indent="0">
              <a:buNone/>
            </a:pPr>
            <a:r>
              <a:rPr lang="en-US" sz="900" i="1" dirty="0">
                <a:solidFill>
                  <a:srgbClr val="718096"/>
                </a:solidFill>
                <a:latin typeface="Calibri" pitchFamily="34" charset="0"/>
                <a:ea typeface="Calibri" pitchFamily="34" charset="-122"/>
                <a:cs typeface="Calibri" pitchFamily="34" charset="-120"/>
              </a:rPr>
              <a:t>All 4 assignments passed</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4A"/>
          </a:solidFill>
          <a:ln w="12700">
            <a:solidFill>
              <a:srgbClr val="1B2A4A"/>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LLM Integration Architecture</a:t>
            </a:r>
            <a:endParaRPr lang="en-US" sz="2200" dirty="0"/>
          </a:p>
        </p:txBody>
      </p:sp>
      <p:sp>
        <p:nvSpPr>
          <p:cNvPr id="4" name="Shape 2"/>
          <p:cNvSpPr/>
          <p:nvPr/>
        </p:nvSpPr>
        <p:spPr>
          <a:xfrm>
            <a:off x="201168" y="841248"/>
            <a:ext cx="1097280" cy="914400"/>
          </a:xfrm>
          <a:prstGeom prst="roundRect">
            <a:avLst>
              <a:gd name="adj" fmla="val 9000"/>
            </a:avLst>
          </a:prstGeom>
          <a:solidFill>
            <a:srgbClr val="1B2A4A"/>
          </a:solidFill>
          <a:ln w="12700">
            <a:solidFill>
              <a:srgbClr val="1B2A4A"/>
            </a:solidFill>
            <a:prstDash val="solid"/>
          </a:ln>
          <a:effectLst>
            <a:outerShdw blurRad="101600" dist="25400" dir="2700000" algn="bl" rotWithShape="0">
              <a:srgbClr val="000000">
                <a:alpha val="12000"/>
              </a:srgbClr>
            </a:outerShdw>
          </a:effectLst>
        </p:spPr>
      </p:sp>
      <p:sp>
        <p:nvSpPr>
          <p:cNvPr id="5" name="Text 3"/>
          <p:cNvSpPr/>
          <p:nvPr/>
        </p:nvSpPr>
        <p:spPr>
          <a:xfrm>
            <a:off x="201168" y="868680"/>
            <a:ext cx="1097280" cy="5029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Educational</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Text Input</a:t>
            </a:r>
            <a:endParaRPr lang="en-US" sz="850" dirty="0"/>
          </a:p>
        </p:txBody>
      </p:sp>
      <p:sp>
        <p:nvSpPr>
          <p:cNvPr id="6" name="Text 4"/>
          <p:cNvSpPr/>
          <p:nvPr/>
        </p:nvSpPr>
        <p:spPr>
          <a:xfrm>
            <a:off x="201168" y="1371600"/>
            <a:ext cx="1097280" cy="347472"/>
          </a:xfrm>
          <a:prstGeom prst="rect">
            <a:avLst/>
          </a:prstGeom>
          <a:noFill/>
          <a:ln/>
        </p:spPr>
        <p:txBody>
          <a:bodyPr wrap="square" lIns="0" tIns="0" rIns="0" bIns="0" rtlCol="0" anchor="t"/>
          <a:lstStyle/>
          <a:p>
            <a:pPr marL="0" indent="0" algn="ctr">
              <a:buNone/>
            </a:pPr>
            <a:r>
              <a:rPr lang="en-US" sz="750" dirty="0">
                <a:solidFill>
                  <a:srgbClr val="D4F1F4"/>
                </a:solidFill>
                <a:latin typeface="Calibri" pitchFamily="34" charset="0"/>
                <a:ea typeface="Calibri" pitchFamily="34" charset="-122"/>
                <a:cs typeface="Calibri" pitchFamily="34" charset="-120"/>
              </a:rPr>
              <a:t>Syllabi, LMS logs</a:t>
            </a:r>
            <a:endParaRPr lang="en-US" sz="750" dirty="0"/>
          </a:p>
          <a:p>
            <a:pPr marL="0" indent="0" algn="ctr">
              <a:buNone/>
            </a:pPr>
            <a:r>
              <a:rPr lang="en-US" sz="750" dirty="0">
                <a:solidFill>
                  <a:srgbClr val="D4F1F4"/>
                </a:solidFill>
                <a:latin typeface="Calibri" pitchFamily="34" charset="0"/>
                <a:ea typeface="Calibri" pitchFamily="34" charset="-122"/>
                <a:cs typeface="Calibri" pitchFamily="34" charset="-120"/>
              </a:rPr>
              <a:t>assignment briefs</a:t>
            </a:r>
            <a:endParaRPr lang="en-US" sz="750" dirty="0"/>
          </a:p>
        </p:txBody>
      </p:sp>
      <p:sp>
        <p:nvSpPr>
          <p:cNvPr id="7" name="Text 5"/>
          <p:cNvSpPr/>
          <p:nvPr/>
        </p:nvSpPr>
        <p:spPr>
          <a:xfrm>
            <a:off x="1298448" y="1097280"/>
            <a:ext cx="155448" cy="32004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dirty="0"/>
          </a:p>
        </p:txBody>
      </p:sp>
      <p:sp>
        <p:nvSpPr>
          <p:cNvPr id="8" name="Shape 6"/>
          <p:cNvSpPr/>
          <p:nvPr/>
        </p:nvSpPr>
        <p:spPr>
          <a:xfrm>
            <a:off x="1453896" y="841248"/>
            <a:ext cx="1097280" cy="914400"/>
          </a:xfrm>
          <a:prstGeom prst="roundRect">
            <a:avLst>
              <a:gd name="adj" fmla="val 9000"/>
            </a:avLst>
          </a:prstGeom>
          <a:solidFill>
            <a:srgbClr val="0E9AA7"/>
          </a:solidFill>
          <a:ln w="12700">
            <a:solidFill>
              <a:srgbClr val="1B2A4A"/>
            </a:solidFill>
            <a:prstDash val="solid"/>
          </a:ln>
          <a:effectLst>
            <a:outerShdw blurRad="101600" dist="25400" dir="2700000" algn="bl" rotWithShape="0">
              <a:srgbClr val="000000">
                <a:alpha val="12000"/>
              </a:srgbClr>
            </a:outerShdw>
          </a:effectLst>
        </p:spPr>
      </p:sp>
      <p:sp>
        <p:nvSpPr>
          <p:cNvPr id="9" name="Text 7"/>
          <p:cNvSpPr/>
          <p:nvPr/>
        </p:nvSpPr>
        <p:spPr>
          <a:xfrm>
            <a:off x="1453896" y="868680"/>
            <a:ext cx="1097280" cy="5029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Schema-Aware</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Prompting</a:t>
            </a:r>
            <a:endParaRPr lang="en-US" sz="850" dirty="0"/>
          </a:p>
        </p:txBody>
      </p:sp>
      <p:sp>
        <p:nvSpPr>
          <p:cNvPr id="10" name="Text 8"/>
          <p:cNvSpPr/>
          <p:nvPr/>
        </p:nvSpPr>
        <p:spPr>
          <a:xfrm>
            <a:off x="1453896" y="1371600"/>
            <a:ext cx="1097280" cy="347472"/>
          </a:xfrm>
          <a:prstGeom prst="rect">
            <a:avLst/>
          </a:prstGeom>
          <a:noFill/>
          <a:ln/>
        </p:spPr>
        <p:txBody>
          <a:bodyPr wrap="square" lIns="0" tIns="0" rIns="0" bIns="0" rtlCol="0" anchor="t"/>
          <a:lstStyle/>
          <a:p>
            <a:pPr marL="0" indent="0" algn="ctr">
              <a:buNone/>
            </a:pPr>
            <a:r>
              <a:rPr lang="en-US" sz="750" dirty="0">
                <a:solidFill>
                  <a:srgbClr val="D4F1F4"/>
                </a:solidFill>
                <a:latin typeface="Calibri" pitchFamily="34" charset="0"/>
                <a:ea typeface="Calibri" pitchFamily="34" charset="-122"/>
                <a:cs typeface="Calibri" pitchFamily="34" charset="-120"/>
              </a:rPr>
              <a:t>Class &amp; property</a:t>
            </a:r>
            <a:endParaRPr lang="en-US" sz="750" dirty="0"/>
          </a:p>
          <a:p>
            <a:pPr marL="0" indent="0" algn="ctr">
              <a:buNone/>
            </a:pPr>
            <a:r>
              <a:rPr lang="en-US" sz="750" dirty="0">
                <a:solidFill>
                  <a:srgbClr val="D4F1F4"/>
                </a:solidFill>
                <a:latin typeface="Calibri" pitchFamily="34" charset="0"/>
                <a:ea typeface="Calibri" pitchFamily="34" charset="-122"/>
                <a:cs typeface="Calibri" pitchFamily="34" charset="-120"/>
              </a:rPr>
              <a:t>names injected</a:t>
            </a:r>
            <a:endParaRPr lang="en-US" sz="750" dirty="0"/>
          </a:p>
        </p:txBody>
      </p:sp>
      <p:sp>
        <p:nvSpPr>
          <p:cNvPr id="11" name="Text 9"/>
          <p:cNvSpPr/>
          <p:nvPr/>
        </p:nvSpPr>
        <p:spPr>
          <a:xfrm>
            <a:off x="2551176" y="1097280"/>
            <a:ext cx="155448" cy="32004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dirty="0"/>
          </a:p>
        </p:txBody>
      </p:sp>
      <p:sp>
        <p:nvSpPr>
          <p:cNvPr id="12" name="Shape 10"/>
          <p:cNvSpPr/>
          <p:nvPr/>
        </p:nvSpPr>
        <p:spPr>
          <a:xfrm>
            <a:off x="2706624" y="841248"/>
            <a:ext cx="1097280" cy="914400"/>
          </a:xfrm>
          <a:prstGeom prst="roundRect">
            <a:avLst>
              <a:gd name="adj" fmla="val 9000"/>
            </a:avLst>
          </a:prstGeom>
          <a:solidFill>
            <a:srgbClr val="1B2A4A"/>
          </a:solidFill>
          <a:ln w="12700">
            <a:solidFill>
              <a:srgbClr val="1B2A4A"/>
            </a:solidFill>
            <a:prstDash val="solid"/>
          </a:ln>
          <a:effectLst>
            <a:outerShdw blurRad="101600" dist="25400" dir="2700000" algn="bl" rotWithShape="0">
              <a:srgbClr val="000000">
                <a:alpha val="12000"/>
              </a:srgbClr>
            </a:outerShdw>
          </a:effectLst>
        </p:spPr>
      </p:sp>
      <p:sp>
        <p:nvSpPr>
          <p:cNvPr id="13" name="Text 11"/>
          <p:cNvSpPr/>
          <p:nvPr/>
        </p:nvSpPr>
        <p:spPr>
          <a:xfrm>
            <a:off x="2706624" y="868680"/>
            <a:ext cx="1097280" cy="5029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LLM Entity</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Extraction</a:t>
            </a:r>
            <a:endParaRPr lang="en-US" sz="850" dirty="0"/>
          </a:p>
        </p:txBody>
      </p:sp>
      <p:sp>
        <p:nvSpPr>
          <p:cNvPr id="14" name="Text 12"/>
          <p:cNvSpPr/>
          <p:nvPr/>
        </p:nvSpPr>
        <p:spPr>
          <a:xfrm>
            <a:off x="2706624" y="1371600"/>
            <a:ext cx="1097280" cy="347472"/>
          </a:xfrm>
          <a:prstGeom prst="rect">
            <a:avLst/>
          </a:prstGeom>
          <a:noFill/>
          <a:ln/>
        </p:spPr>
        <p:txBody>
          <a:bodyPr wrap="square" lIns="0" tIns="0" rIns="0" bIns="0" rtlCol="0" anchor="t"/>
          <a:lstStyle/>
          <a:p>
            <a:pPr marL="0" indent="0" algn="ctr">
              <a:buNone/>
            </a:pPr>
            <a:r>
              <a:rPr lang="en-US" sz="750" dirty="0">
                <a:solidFill>
                  <a:srgbClr val="D4F1F4"/>
                </a:solidFill>
                <a:latin typeface="Calibri" pitchFamily="34" charset="0"/>
                <a:ea typeface="Calibri" pitchFamily="34" charset="-122"/>
                <a:cs typeface="Calibri" pitchFamily="34" charset="-120"/>
              </a:rPr>
              <a:t>Structured output</a:t>
            </a:r>
            <a:endParaRPr lang="en-US" sz="750" dirty="0"/>
          </a:p>
          <a:p>
            <a:pPr marL="0" indent="0" algn="ctr">
              <a:buNone/>
            </a:pPr>
            <a:r>
              <a:rPr lang="en-US" sz="750" dirty="0">
                <a:solidFill>
                  <a:srgbClr val="D4F1F4"/>
                </a:solidFill>
                <a:latin typeface="Calibri" pitchFamily="34" charset="0"/>
                <a:ea typeface="Calibri" pitchFamily="34" charset="-122"/>
                <a:cs typeface="Calibri" pitchFamily="34" charset="-120"/>
              </a:rPr>
              <a:t>requested</a:t>
            </a:r>
            <a:endParaRPr lang="en-US" sz="750" dirty="0"/>
          </a:p>
        </p:txBody>
      </p:sp>
      <p:sp>
        <p:nvSpPr>
          <p:cNvPr id="15" name="Text 13"/>
          <p:cNvSpPr/>
          <p:nvPr/>
        </p:nvSpPr>
        <p:spPr>
          <a:xfrm>
            <a:off x="3803904" y="1097280"/>
            <a:ext cx="155448" cy="32004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dirty="0"/>
          </a:p>
        </p:txBody>
      </p:sp>
      <p:sp>
        <p:nvSpPr>
          <p:cNvPr id="16" name="Shape 14"/>
          <p:cNvSpPr/>
          <p:nvPr/>
        </p:nvSpPr>
        <p:spPr>
          <a:xfrm>
            <a:off x="3959352" y="841248"/>
            <a:ext cx="1097280" cy="914400"/>
          </a:xfrm>
          <a:prstGeom prst="roundRect">
            <a:avLst>
              <a:gd name="adj" fmla="val 9000"/>
            </a:avLst>
          </a:prstGeom>
          <a:solidFill>
            <a:srgbClr val="0E9AA7"/>
          </a:solidFill>
          <a:ln w="12700">
            <a:solidFill>
              <a:srgbClr val="1B2A4A"/>
            </a:solidFill>
            <a:prstDash val="solid"/>
          </a:ln>
          <a:effectLst>
            <a:outerShdw blurRad="101600" dist="25400" dir="2700000" algn="bl" rotWithShape="0">
              <a:srgbClr val="000000">
                <a:alpha val="12000"/>
              </a:srgbClr>
            </a:outerShdw>
          </a:effectLst>
        </p:spPr>
      </p:sp>
      <p:sp>
        <p:nvSpPr>
          <p:cNvPr id="17" name="Text 15"/>
          <p:cNvSpPr/>
          <p:nvPr/>
        </p:nvSpPr>
        <p:spPr>
          <a:xfrm>
            <a:off x="3959352" y="868680"/>
            <a:ext cx="1097280" cy="5029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JSON</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Generation</a:t>
            </a:r>
            <a:endParaRPr lang="en-US" sz="850" dirty="0"/>
          </a:p>
        </p:txBody>
      </p:sp>
      <p:sp>
        <p:nvSpPr>
          <p:cNvPr id="18" name="Text 16"/>
          <p:cNvSpPr/>
          <p:nvPr/>
        </p:nvSpPr>
        <p:spPr>
          <a:xfrm>
            <a:off x="3959352" y="1371600"/>
            <a:ext cx="1097280" cy="347472"/>
          </a:xfrm>
          <a:prstGeom prst="rect">
            <a:avLst/>
          </a:prstGeom>
          <a:noFill/>
          <a:ln/>
        </p:spPr>
        <p:txBody>
          <a:bodyPr wrap="square" lIns="0" tIns="0" rIns="0" bIns="0" rtlCol="0" anchor="t"/>
          <a:lstStyle/>
          <a:p>
            <a:pPr marL="0" indent="0" algn="ctr">
              <a:buNone/>
            </a:pPr>
            <a:r>
              <a:rPr lang="en-US" sz="750" dirty="0">
                <a:solidFill>
                  <a:srgbClr val="D4F1F4"/>
                </a:solidFill>
                <a:latin typeface="Calibri" pitchFamily="34" charset="0"/>
                <a:ea typeface="Calibri" pitchFamily="34" charset="-122"/>
                <a:cs typeface="Calibri" pitchFamily="34" charset="-120"/>
              </a:rPr>
              <a:t>class, id, properties</a:t>
            </a:r>
            <a:endParaRPr lang="en-US" sz="750" dirty="0"/>
          </a:p>
          <a:p>
            <a:pPr marL="0" indent="0" algn="ctr">
              <a:buNone/>
            </a:pPr>
            <a:r>
              <a:rPr lang="en-US" sz="750" dirty="0">
                <a:solidFill>
                  <a:srgbClr val="D4F1F4"/>
                </a:solidFill>
                <a:latin typeface="Calibri" pitchFamily="34" charset="0"/>
                <a:ea typeface="Calibri" pitchFamily="34" charset="-122"/>
                <a:cs typeface="Calibri" pitchFamily="34" charset="-120"/>
              </a:rPr>
              <a:t>relationships</a:t>
            </a:r>
            <a:endParaRPr lang="en-US" sz="750" dirty="0"/>
          </a:p>
        </p:txBody>
      </p:sp>
      <p:sp>
        <p:nvSpPr>
          <p:cNvPr id="19" name="Text 17"/>
          <p:cNvSpPr/>
          <p:nvPr/>
        </p:nvSpPr>
        <p:spPr>
          <a:xfrm>
            <a:off x="5056632" y="1097280"/>
            <a:ext cx="155448" cy="32004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dirty="0"/>
          </a:p>
        </p:txBody>
      </p:sp>
      <p:sp>
        <p:nvSpPr>
          <p:cNvPr id="20" name="Shape 18"/>
          <p:cNvSpPr/>
          <p:nvPr/>
        </p:nvSpPr>
        <p:spPr>
          <a:xfrm>
            <a:off x="5212080" y="841248"/>
            <a:ext cx="1097280" cy="914400"/>
          </a:xfrm>
          <a:prstGeom prst="roundRect">
            <a:avLst>
              <a:gd name="adj" fmla="val 9000"/>
            </a:avLst>
          </a:prstGeom>
          <a:solidFill>
            <a:srgbClr val="1B2A4A"/>
          </a:solidFill>
          <a:ln w="12700">
            <a:solidFill>
              <a:srgbClr val="1B2A4A"/>
            </a:solidFill>
            <a:prstDash val="solid"/>
          </a:ln>
          <a:effectLst>
            <a:outerShdw blurRad="101600" dist="25400" dir="2700000" algn="bl" rotWithShape="0">
              <a:srgbClr val="000000">
                <a:alpha val="12000"/>
              </a:srgbClr>
            </a:outerShdw>
          </a:effectLst>
        </p:spPr>
      </p:sp>
      <p:sp>
        <p:nvSpPr>
          <p:cNvPr id="21" name="Text 19"/>
          <p:cNvSpPr/>
          <p:nvPr/>
        </p:nvSpPr>
        <p:spPr>
          <a:xfrm>
            <a:off x="5212080" y="868680"/>
            <a:ext cx="1097280" cy="5029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OWL/RDF</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Conversion</a:t>
            </a:r>
            <a:endParaRPr lang="en-US" sz="850" dirty="0"/>
          </a:p>
        </p:txBody>
      </p:sp>
      <p:sp>
        <p:nvSpPr>
          <p:cNvPr id="22" name="Text 20"/>
          <p:cNvSpPr/>
          <p:nvPr/>
        </p:nvSpPr>
        <p:spPr>
          <a:xfrm>
            <a:off x="5212080" y="1371600"/>
            <a:ext cx="1097280" cy="347472"/>
          </a:xfrm>
          <a:prstGeom prst="rect">
            <a:avLst/>
          </a:prstGeom>
          <a:noFill/>
          <a:ln/>
        </p:spPr>
        <p:txBody>
          <a:bodyPr wrap="square" lIns="0" tIns="0" rIns="0" bIns="0" rtlCol="0" anchor="t"/>
          <a:lstStyle/>
          <a:p>
            <a:pPr marL="0" indent="0" algn="ctr">
              <a:buNone/>
            </a:pPr>
            <a:r>
              <a:rPr lang="en-US" sz="750" dirty="0">
                <a:solidFill>
                  <a:srgbClr val="D4F1F4"/>
                </a:solidFill>
                <a:latin typeface="Calibri" pitchFamily="34" charset="0"/>
                <a:ea typeface="Calibri" pitchFamily="34" charset="-122"/>
                <a:cs typeface="Calibri" pitchFamily="34" charset="-120"/>
              </a:rPr>
              <a:t>Python post-</a:t>
            </a:r>
            <a:endParaRPr lang="en-US" sz="750" dirty="0"/>
          </a:p>
          <a:p>
            <a:pPr marL="0" indent="0" algn="ctr">
              <a:buNone/>
            </a:pPr>
            <a:r>
              <a:rPr lang="en-US" sz="750" dirty="0">
                <a:solidFill>
                  <a:srgbClr val="D4F1F4"/>
                </a:solidFill>
                <a:latin typeface="Calibri" pitchFamily="34" charset="0"/>
                <a:ea typeface="Calibri" pitchFamily="34" charset="-122"/>
                <a:cs typeface="Calibri" pitchFamily="34" charset="-120"/>
              </a:rPr>
              <a:t>processor</a:t>
            </a:r>
            <a:endParaRPr lang="en-US" sz="750" dirty="0"/>
          </a:p>
        </p:txBody>
      </p:sp>
      <p:sp>
        <p:nvSpPr>
          <p:cNvPr id="23" name="Text 21"/>
          <p:cNvSpPr/>
          <p:nvPr/>
        </p:nvSpPr>
        <p:spPr>
          <a:xfrm>
            <a:off x="6309360" y="1097280"/>
            <a:ext cx="155448" cy="32004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dirty="0"/>
          </a:p>
        </p:txBody>
      </p:sp>
      <p:sp>
        <p:nvSpPr>
          <p:cNvPr id="24" name="Shape 22"/>
          <p:cNvSpPr/>
          <p:nvPr/>
        </p:nvSpPr>
        <p:spPr>
          <a:xfrm>
            <a:off x="6464808" y="841248"/>
            <a:ext cx="1097280" cy="914400"/>
          </a:xfrm>
          <a:prstGeom prst="roundRect">
            <a:avLst>
              <a:gd name="adj" fmla="val 9000"/>
            </a:avLst>
          </a:prstGeom>
          <a:solidFill>
            <a:srgbClr val="0E9AA7"/>
          </a:solidFill>
          <a:ln w="12700">
            <a:solidFill>
              <a:srgbClr val="1B2A4A"/>
            </a:solidFill>
            <a:prstDash val="solid"/>
          </a:ln>
          <a:effectLst>
            <a:outerShdw blurRad="101600" dist="25400" dir="2700000" algn="bl" rotWithShape="0">
              <a:srgbClr val="000000">
                <a:alpha val="12000"/>
              </a:srgbClr>
            </a:outerShdw>
          </a:effectLst>
        </p:spPr>
      </p:sp>
      <p:sp>
        <p:nvSpPr>
          <p:cNvPr id="25" name="Text 23"/>
          <p:cNvSpPr/>
          <p:nvPr/>
        </p:nvSpPr>
        <p:spPr>
          <a:xfrm>
            <a:off x="6464808" y="868680"/>
            <a:ext cx="1097280" cy="5029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Reasoner</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Validation</a:t>
            </a:r>
            <a:endParaRPr lang="en-US" sz="850" dirty="0"/>
          </a:p>
        </p:txBody>
      </p:sp>
      <p:sp>
        <p:nvSpPr>
          <p:cNvPr id="26" name="Text 24"/>
          <p:cNvSpPr/>
          <p:nvPr/>
        </p:nvSpPr>
        <p:spPr>
          <a:xfrm>
            <a:off x="6464808" y="1371600"/>
            <a:ext cx="1097280" cy="347472"/>
          </a:xfrm>
          <a:prstGeom prst="rect">
            <a:avLst/>
          </a:prstGeom>
          <a:noFill/>
          <a:ln/>
        </p:spPr>
        <p:txBody>
          <a:bodyPr wrap="square" lIns="0" tIns="0" rIns="0" bIns="0" rtlCol="0" anchor="t"/>
          <a:lstStyle/>
          <a:p>
            <a:pPr marL="0" indent="0" algn="ctr">
              <a:buNone/>
            </a:pPr>
            <a:r>
              <a:rPr lang="en-US" sz="750" dirty="0">
                <a:solidFill>
                  <a:srgbClr val="D4F1F4"/>
                </a:solidFill>
                <a:latin typeface="Calibri" pitchFamily="34" charset="0"/>
                <a:ea typeface="Calibri" pitchFamily="34" charset="-122"/>
                <a:cs typeface="Calibri" pitchFamily="34" charset="-120"/>
              </a:rPr>
              <a:t>HermiT checks</a:t>
            </a:r>
            <a:endParaRPr lang="en-US" sz="750" dirty="0"/>
          </a:p>
          <a:p>
            <a:pPr marL="0" indent="0" algn="ctr">
              <a:buNone/>
            </a:pPr>
            <a:r>
              <a:rPr lang="en-US" sz="750" dirty="0">
                <a:solidFill>
                  <a:srgbClr val="D4F1F4"/>
                </a:solidFill>
                <a:latin typeface="Calibri" pitchFamily="34" charset="0"/>
                <a:ea typeface="Calibri" pitchFamily="34" charset="-122"/>
                <a:cs typeface="Calibri" pitchFamily="34" charset="-120"/>
              </a:rPr>
              <a:t>consistency</a:t>
            </a:r>
            <a:endParaRPr lang="en-US" sz="750" dirty="0"/>
          </a:p>
        </p:txBody>
      </p:sp>
      <p:sp>
        <p:nvSpPr>
          <p:cNvPr id="27" name="Text 25"/>
          <p:cNvSpPr/>
          <p:nvPr/>
        </p:nvSpPr>
        <p:spPr>
          <a:xfrm>
            <a:off x="7562088" y="1097280"/>
            <a:ext cx="155448" cy="32004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dirty="0"/>
          </a:p>
        </p:txBody>
      </p:sp>
      <p:sp>
        <p:nvSpPr>
          <p:cNvPr id="28" name="Shape 26"/>
          <p:cNvSpPr/>
          <p:nvPr/>
        </p:nvSpPr>
        <p:spPr>
          <a:xfrm>
            <a:off x="7717536" y="841248"/>
            <a:ext cx="1097280" cy="914400"/>
          </a:xfrm>
          <a:prstGeom prst="roundRect">
            <a:avLst>
              <a:gd name="adj" fmla="val 9000"/>
            </a:avLst>
          </a:prstGeom>
          <a:solidFill>
            <a:srgbClr val="1B2A4A"/>
          </a:solidFill>
          <a:ln w="12700">
            <a:solidFill>
              <a:srgbClr val="1B2A4A"/>
            </a:solidFill>
            <a:prstDash val="solid"/>
          </a:ln>
          <a:effectLst>
            <a:outerShdw blurRad="101600" dist="25400" dir="2700000" algn="bl" rotWithShape="0">
              <a:srgbClr val="000000">
                <a:alpha val="12000"/>
              </a:srgbClr>
            </a:outerShdw>
          </a:effectLst>
        </p:spPr>
      </p:sp>
      <p:sp>
        <p:nvSpPr>
          <p:cNvPr id="29" name="Text 27"/>
          <p:cNvSpPr/>
          <p:nvPr/>
        </p:nvSpPr>
        <p:spPr>
          <a:xfrm>
            <a:off x="7717536" y="868680"/>
            <a:ext cx="1097280" cy="5029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SPARQL</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Querying</a:t>
            </a:r>
            <a:endParaRPr lang="en-US" sz="850" dirty="0"/>
          </a:p>
        </p:txBody>
      </p:sp>
      <p:sp>
        <p:nvSpPr>
          <p:cNvPr id="30" name="Text 28"/>
          <p:cNvSpPr/>
          <p:nvPr/>
        </p:nvSpPr>
        <p:spPr>
          <a:xfrm>
            <a:off x="7717536" y="1371600"/>
            <a:ext cx="1097280" cy="347472"/>
          </a:xfrm>
          <a:prstGeom prst="rect">
            <a:avLst/>
          </a:prstGeom>
          <a:noFill/>
          <a:ln/>
        </p:spPr>
        <p:txBody>
          <a:bodyPr wrap="square" lIns="0" tIns="0" rIns="0" bIns="0" rtlCol="0" anchor="t"/>
          <a:lstStyle/>
          <a:p>
            <a:pPr marL="0" indent="0" algn="ctr">
              <a:buNone/>
            </a:pPr>
            <a:r>
              <a:rPr lang="en-US" sz="750" dirty="0">
                <a:solidFill>
                  <a:srgbClr val="D4F1F4"/>
                </a:solidFill>
                <a:latin typeface="Calibri" pitchFamily="34" charset="0"/>
                <a:ea typeface="Calibri" pitchFamily="34" charset="-122"/>
                <a:cs typeface="Calibri" pitchFamily="34" charset="-120"/>
              </a:rPr>
              <a:t>Competency</a:t>
            </a:r>
            <a:endParaRPr lang="en-US" sz="750" dirty="0"/>
          </a:p>
          <a:p>
            <a:pPr marL="0" indent="0" algn="ctr">
              <a:buNone/>
            </a:pPr>
            <a:r>
              <a:rPr lang="en-US" sz="750" dirty="0">
                <a:solidFill>
                  <a:srgbClr val="D4F1F4"/>
                </a:solidFill>
                <a:latin typeface="Calibri" pitchFamily="34" charset="0"/>
                <a:ea typeface="Calibri" pitchFamily="34" charset="-122"/>
                <a:cs typeface="Calibri" pitchFamily="34" charset="-120"/>
              </a:rPr>
              <a:t>questions answered</a:t>
            </a:r>
            <a:endParaRPr lang="en-US" sz="750" dirty="0"/>
          </a:p>
        </p:txBody>
      </p:sp>
      <p:sp>
        <p:nvSpPr>
          <p:cNvPr id="31" name="Shape 29"/>
          <p:cNvSpPr/>
          <p:nvPr/>
        </p:nvSpPr>
        <p:spPr>
          <a:xfrm>
            <a:off x="320040" y="1920240"/>
            <a:ext cx="4023360" cy="2834640"/>
          </a:xfrm>
          <a:prstGeom prst="roundRect">
            <a:avLst>
              <a:gd name="adj" fmla="val 3226"/>
            </a:avLst>
          </a:prstGeom>
          <a:solidFill>
            <a:srgbClr val="2D3748"/>
          </a:solidFill>
          <a:ln w="12700">
            <a:solidFill>
              <a:srgbClr val="1B2A4A"/>
            </a:solidFill>
            <a:prstDash val="solid"/>
          </a:ln>
          <a:effectLst>
            <a:outerShdw blurRad="101600" dist="25400" dir="2700000" algn="bl" rotWithShape="0">
              <a:srgbClr val="000000">
                <a:alpha val="12000"/>
              </a:srgbClr>
            </a:outerShdw>
          </a:effectLst>
        </p:spPr>
      </p:sp>
      <p:sp>
        <p:nvSpPr>
          <p:cNvPr id="32" name="Text 30"/>
          <p:cNvSpPr/>
          <p:nvPr/>
        </p:nvSpPr>
        <p:spPr>
          <a:xfrm>
            <a:off x="457200" y="1965960"/>
            <a:ext cx="3657600" cy="292608"/>
          </a:xfrm>
          <a:prstGeom prst="rect">
            <a:avLst/>
          </a:prstGeom>
          <a:noFill/>
          <a:ln/>
        </p:spPr>
        <p:txBody>
          <a:bodyPr wrap="square" lIns="0" tIns="0" rIns="0" bIns="0" rtlCol="0" anchor="ctr"/>
          <a:lstStyle/>
          <a:p>
            <a:pPr marL="0" indent="0">
              <a:buNone/>
            </a:pPr>
            <a:r>
              <a:rPr lang="en-US" sz="1000" b="1" dirty="0">
                <a:solidFill>
                  <a:srgbClr val="0E9AA7"/>
                </a:solidFill>
                <a:latin typeface="Cambria" pitchFamily="34" charset="0"/>
                <a:ea typeface="Cambria" pitchFamily="34" charset="-122"/>
                <a:cs typeface="Cambria" pitchFamily="34" charset="-120"/>
              </a:rPr>
              <a:t>Input text → LLM JSON output</a:t>
            </a:r>
            <a:endParaRPr lang="en-US" sz="1000" dirty="0"/>
          </a:p>
        </p:txBody>
      </p:sp>
      <p:sp>
        <p:nvSpPr>
          <p:cNvPr id="33" name="Text 31"/>
          <p:cNvSpPr/>
          <p:nvPr/>
        </p:nvSpPr>
        <p:spPr>
          <a:xfrm>
            <a:off x="457200" y="2331720"/>
            <a:ext cx="3749040" cy="210312"/>
          </a:xfrm>
          <a:prstGeom prst="rect">
            <a:avLst/>
          </a:prstGeom>
          <a:noFill/>
          <a:ln/>
        </p:spPr>
        <p:txBody>
          <a:bodyPr wrap="square" lIns="0" tIns="0" rIns="0" bIns="0" rtlCol="0" anchor="ctr"/>
          <a:lstStyle/>
          <a:p>
            <a:pPr marL="0" indent="0">
              <a:buNone/>
            </a:pPr>
            <a:r>
              <a:rPr lang="en-US" sz="780" dirty="0">
                <a:solidFill>
                  <a:srgbClr val="D4F1F4"/>
                </a:solidFill>
                <a:latin typeface="Courier New" pitchFamily="34" charset="0"/>
                <a:ea typeface="Courier New" pitchFamily="34" charset="-122"/>
                <a:cs typeface="Courier New" pitchFamily="34" charset="-120"/>
              </a:rPr>
              <a:t>// Input:</a:t>
            </a:r>
            <a:endParaRPr lang="en-US" sz="780" dirty="0"/>
          </a:p>
        </p:txBody>
      </p:sp>
      <p:sp>
        <p:nvSpPr>
          <p:cNvPr id="34" name="Text 32"/>
          <p:cNvSpPr/>
          <p:nvPr/>
        </p:nvSpPr>
        <p:spPr>
          <a:xfrm>
            <a:off x="457200" y="2551176"/>
            <a:ext cx="3749040" cy="210312"/>
          </a:xfrm>
          <a:prstGeom prst="rect">
            <a:avLst/>
          </a:prstGeom>
          <a:noFill/>
          <a:ln/>
        </p:spPr>
        <p:txBody>
          <a:bodyPr wrap="square" lIns="0" tIns="0" rIns="0" bIns="0" rtlCol="0" anchor="ctr"/>
          <a:lstStyle/>
          <a:p>
            <a:pPr marL="0" indent="0">
              <a:buNone/>
            </a:pPr>
            <a:r>
              <a:rPr lang="en-US" sz="780" dirty="0">
                <a:solidFill>
                  <a:srgbClr val="D4F1F4"/>
                </a:solidFill>
                <a:latin typeface="Courier New" pitchFamily="34" charset="0"/>
                <a:ea typeface="Courier New" pitchFamily="34" charset="-122"/>
                <a:cs typeface="Courier New" pitchFamily="34" charset="-120"/>
              </a:rPr>
              <a:t>"Fatma Alsaghir (STU-1001) enrolled in CS-550."</a:t>
            </a:r>
            <a:endParaRPr lang="en-US" sz="780" dirty="0"/>
          </a:p>
        </p:txBody>
      </p:sp>
      <p:sp>
        <p:nvSpPr>
          <p:cNvPr id="35" name="Text 33"/>
          <p:cNvSpPr/>
          <p:nvPr/>
        </p:nvSpPr>
        <p:spPr>
          <a:xfrm>
            <a:off x="457200" y="2770632"/>
            <a:ext cx="3749040" cy="210312"/>
          </a:xfrm>
          <a:prstGeom prst="rect">
            <a:avLst/>
          </a:prstGeom>
          <a:noFill/>
          <a:ln/>
        </p:spPr>
        <p:txBody>
          <a:bodyPr wrap="square" lIns="0" tIns="0" rIns="0" bIns="0" rtlCol="0" anchor="ctr"/>
          <a:lstStyle/>
          <a:p>
            <a:pPr marL="0" indent="0">
              <a:buNone/>
            </a:pPr>
            <a:endParaRPr lang="en-US" sz="780" dirty="0"/>
          </a:p>
        </p:txBody>
      </p:sp>
      <p:sp>
        <p:nvSpPr>
          <p:cNvPr id="36" name="Text 34"/>
          <p:cNvSpPr/>
          <p:nvPr/>
        </p:nvSpPr>
        <p:spPr>
          <a:xfrm>
            <a:off x="457200" y="2990088"/>
            <a:ext cx="3749040" cy="210312"/>
          </a:xfrm>
          <a:prstGeom prst="rect">
            <a:avLst/>
          </a:prstGeom>
          <a:noFill/>
          <a:ln/>
        </p:spPr>
        <p:txBody>
          <a:bodyPr wrap="square" lIns="0" tIns="0" rIns="0" bIns="0" rtlCol="0" anchor="ctr"/>
          <a:lstStyle/>
          <a:p>
            <a:pPr marL="0" indent="0">
              <a:buNone/>
            </a:pPr>
            <a:r>
              <a:rPr lang="en-US" sz="780" dirty="0">
                <a:solidFill>
                  <a:srgbClr val="D4F1F4"/>
                </a:solidFill>
                <a:latin typeface="Courier New" pitchFamily="34" charset="0"/>
                <a:ea typeface="Courier New" pitchFamily="34" charset="-122"/>
                <a:cs typeface="Courier New" pitchFamily="34" charset="-120"/>
              </a:rPr>
              <a:t>// LLM returns:</a:t>
            </a:r>
            <a:endParaRPr lang="en-US" sz="780" dirty="0"/>
          </a:p>
        </p:txBody>
      </p:sp>
      <p:sp>
        <p:nvSpPr>
          <p:cNvPr id="37" name="Text 35"/>
          <p:cNvSpPr/>
          <p:nvPr/>
        </p:nvSpPr>
        <p:spPr>
          <a:xfrm>
            <a:off x="457200" y="3209544"/>
            <a:ext cx="3749040" cy="210312"/>
          </a:xfrm>
          <a:prstGeom prst="rect">
            <a:avLst/>
          </a:prstGeom>
          <a:noFill/>
          <a:ln/>
        </p:spPr>
        <p:txBody>
          <a:bodyPr wrap="square" lIns="0" tIns="0" rIns="0" bIns="0" rtlCol="0" anchor="ctr"/>
          <a:lstStyle/>
          <a:p>
            <a:pPr marL="0" indent="0">
              <a:buNone/>
            </a:pPr>
            <a:r>
              <a:rPr lang="en-US" sz="780" dirty="0">
                <a:solidFill>
                  <a:srgbClr val="D4F1F4"/>
                </a:solidFill>
                <a:latin typeface="Courier New" pitchFamily="34" charset="0"/>
                <a:ea typeface="Courier New" pitchFamily="34" charset="-122"/>
                <a:cs typeface="Courier New" pitchFamily="34" charset="-120"/>
              </a:rPr>
              <a:t>{ "class": "Student",</a:t>
            </a:r>
            <a:endParaRPr lang="en-US" sz="780" dirty="0"/>
          </a:p>
        </p:txBody>
      </p:sp>
      <p:sp>
        <p:nvSpPr>
          <p:cNvPr id="38" name="Text 36"/>
          <p:cNvSpPr/>
          <p:nvPr/>
        </p:nvSpPr>
        <p:spPr>
          <a:xfrm>
            <a:off x="457200" y="3429000"/>
            <a:ext cx="3749040" cy="210312"/>
          </a:xfrm>
          <a:prstGeom prst="rect">
            <a:avLst/>
          </a:prstGeom>
          <a:noFill/>
          <a:ln/>
        </p:spPr>
        <p:txBody>
          <a:bodyPr wrap="square" lIns="0" tIns="0" rIns="0" bIns="0" rtlCol="0" anchor="ctr"/>
          <a:lstStyle/>
          <a:p>
            <a:pPr marL="0" indent="0">
              <a:buNone/>
            </a:pPr>
            <a:r>
              <a:rPr lang="en-US" sz="780" dirty="0">
                <a:solidFill>
                  <a:srgbClr val="D4F1F4"/>
                </a:solidFill>
                <a:latin typeface="Courier New" pitchFamily="34" charset="0"/>
                <a:ea typeface="Courier New" pitchFamily="34" charset="-122"/>
                <a:cs typeface="Courier New" pitchFamily="34" charset="-120"/>
              </a:rPr>
              <a:t>  "individualID": "Student_FatmaAlsaghir",</a:t>
            </a:r>
            <a:endParaRPr lang="en-US" sz="780" dirty="0"/>
          </a:p>
        </p:txBody>
      </p:sp>
      <p:sp>
        <p:nvSpPr>
          <p:cNvPr id="39" name="Text 37"/>
          <p:cNvSpPr/>
          <p:nvPr/>
        </p:nvSpPr>
        <p:spPr>
          <a:xfrm>
            <a:off x="457200" y="3648456"/>
            <a:ext cx="3749040" cy="210312"/>
          </a:xfrm>
          <a:prstGeom prst="rect">
            <a:avLst/>
          </a:prstGeom>
          <a:noFill/>
          <a:ln/>
        </p:spPr>
        <p:txBody>
          <a:bodyPr wrap="square" lIns="0" tIns="0" rIns="0" bIns="0" rtlCol="0" anchor="ctr"/>
          <a:lstStyle/>
          <a:p>
            <a:pPr marL="0" indent="0">
              <a:buNone/>
            </a:pPr>
            <a:r>
              <a:rPr lang="en-US" sz="780" dirty="0">
                <a:solidFill>
                  <a:srgbClr val="D4F1F4"/>
                </a:solidFill>
                <a:latin typeface="Courier New" pitchFamily="34" charset="0"/>
                <a:ea typeface="Courier New" pitchFamily="34" charset="-122"/>
                <a:cs typeface="Courier New" pitchFamily="34" charset="-120"/>
              </a:rPr>
              <a:t>  "properties": { "hasName": "Fatma Alsaghir",</a:t>
            </a:r>
            <a:endParaRPr lang="en-US" sz="780" dirty="0"/>
          </a:p>
        </p:txBody>
      </p:sp>
      <p:sp>
        <p:nvSpPr>
          <p:cNvPr id="40" name="Text 38"/>
          <p:cNvSpPr/>
          <p:nvPr/>
        </p:nvSpPr>
        <p:spPr>
          <a:xfrm>
            <a:off x="457200" y="3867912"/>
            <a:ext cx="3749040" cy="210312"/>
          </a:xfrm>
          <a:prstGeom prst="rect">
            <a:avLst/>
          </a:prstGeom>
          <a:noFill/>
          <a:ln/>
        </p:spPr>
        <p:txBody>
          <a:bodyPr wrap="square" lIns="0" tIns="0" rIns="0" bIns="0" rtlCol="0" anchor="ctr"/>
          <a:lstStyle/>
          <a:p>
            <a:pPr marL="0" indent="0">
              <a:buNone/>
            </a:pPr>
            <a:r>
              <a:rPr lang="en-US" sz="780" dirty="0">
                <a:solidFill>
                  <a:srgbClr val="D4F1F4"/>
                </a:solidFill>
                <a:latin typeface="Courier New" pitchFamily="34" charset="0"/>
                <a:ea typeface="Courier New" pitchFamily="34" charset="-122"/>
                <a:cs typeface="Courier New" pitchFamily="34" charset="-120"/>
              </a:rPr>
              <a:t>                   "studentID": "STU-1001" },</a:t>
            </a:r>
            <a:endParaRPr lang="en-US" sz="780" dirty="0"/>
          </a:p>
        </p:txBody>
      </p:sp>
      <p:sp>
        <p:nvSpPr>
          <p:cNvPr id="41" name="Text 39"/>
          <p:cNvSpPr/>
          <p:nvPr/>
        </p:nvSpPr>
        <p:spPr>
          <a:xfrm>
            <a:off x="457200" y="4087368"/>
            <a:ext cx="3749040" cy="210312"/>
          </a:xfrm>
          <a:prstGeom prst="rect">
            <a:avLst/>
          </a:prstGeom>
          <a:noFill/>
          <a:ln/>
        </p:spPr>
        <p:txBody>
          <a:bodyPr wrap="square" lIns="0" tIns="0" rIns="0" bIns="0" rtlCol="0" anchor="ctr"/>
          <a:lstStyle/>
          <a:p>
            <a:pPr marL="0" indent="0">
              <a:buNone/>
            </a:pPr>
            <a:r>
              <a:rPr lang="en-US" sz="780" dirty="0">
                <a:solidFill>
                  <a:srgbClr val="D4F1F4"/>
                </a:solidFill>
                <a:latin typeface="Courier New" pitchFamily="34" charset="0"/>
                <a:ea typeface="Courier New" pitchFamily="34" charset="-122"/>
                <a:cs typeface="Courier New" pitchFamily="34" charset="-120"/>
              </a:rPr>
              <a:t>  "relationships": {</a:t>
            </a:r>
            <a:endParaRPr lang="en-US" sz="780" dirty="0"/>
          </a:p>
        </p:txBody>
      </p:sp>
      <p:sp>
        <p:nvSpPr>
          <p:cNvPr id="42" name="Text 40"/>
          <p:cNvSpPr/>
          <p:nvPr/>
        </p:nvSpPr>
        <p:spPr>
          <a:xfrm>
            <a:off x="457200" y="4306824"/>
            <a:ext cx="3749040" cy="210312"/>
          </a:xfrm>
          <a:prstGeom prst="rect">
            <a:avLst/>
          </a:prstGeom>
          <a:noFill/>
          <a:ln/>
        </p:spPr>
        <p:txBody>
          <a:bodyPr wrap="square" lIns="0" tIns="0" rIns="0" bIns="0" rtlCol="0" anchor="ctr"/>
          <a:lstStyle/>
          <a:p>
            <a:pPr marL="0" indent="0">
              <a:buNone/>
            </a:pPr>
            <a:r>
              <a:rPr lang="en-US" sz="780" dirty="0">
                <a:solidFill>
                  <a:srgbClr val="D4F1F4"/>
                </a:solidFill>
                <a:latin typeface="Courier New" pitchFamily="34" charset="0"/>
                <a:ea typeface="Courier New" pitchFamily="34" charset="-122"/>
                <a:cs typeface="Courier New" pitchFamily="34" charset="-120"/>
              </a:rPr>
              <a:t>    "enrolledIn": "Course_CS550" } }</a:t>
            </a:r>
            <a:endParaRPr lang="en-US" sz="780" dirty="0"/>
          </a:p>
        </p:txBody>
      </p:sp>
      <p:sp>
        <p:nvSpPr>
          <p:cNvPr id="43" name="Shape 41"/>
          <p:cNvSpPr/>
          <p:nvPr/>
        </p:nvSpPr>
        <p:spPr>
          <a:xfrm>
            <a:off x="4526280" y="1920240"/>
            <a:ext cx="4297680" cy="2834640"/>
          </a:xfrm>
          <a:prstGeom prst="roundRect">
            <a:avLst>
              <a:gd name="adj" fmla="val 3226"/>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sp>
        <p:nvSpPr>
          <p:cNvPr id="44" name="Text 42"/>
          <p:cNvSpPr/>
          <p:nvPr/>
        </p:nvSpPr>
        <p:spPr>
          <a:xfrm>
            <a:off x="4663440" y="1984248"/>
            <a:ext cx="3931920" cy="320040"/>
          </a:xfrm>
          <a:prstGeom prst="rect">
            <a:avLst/>
          </a:prstGeom>
          <a:noFill/>
          <a:ln/>
        </p:spPr>
        <p:txBody>
          <a:bodyPr wrap="square" lIns="0" tIns="0" rIns="0" bIns="0" rtlCol="0" anchor="ctr"/>
          <a:lstStyle/>
          <a:p>
            <a:pPr marL="0" indent="0">
              <a:buNone/>
            </a:pPr>
            <a:r>
              <a:rPr lang="en-US" sz="1100" b="1" dirty="0">
                <a:solidFill>
                  <a:srgbClr val="1B2A4A"/>
                </a:solidFill>
                <a:latin typeface="Cambria" pitchFamily="34" charset="0"/>
                <a:ea typeface="Cambria" pitchFamily="34" charset="-122"/>
                <a:cs typeface="Cambria" pitchFamily="34" charset="-120"/>
              </a:rPr>
              <a:t>Hallucination Mitigation</a:t>
            </a:r>
            <a:endParaRPr lang="en-US" sz="1100" dirty="0"/>
          </a:p>
        </p:txBody>
      </p:sp>
      <p:sp>
        <p:nvSpPr>
          <p:cNvPr id="45" name="Shape 43"/>
          <p:cNvSpPr/>
          <p:nvPr/>
        </p:nvSpPr>
        <p:spPr>
          <a:xfrm>
            <a:off x="4663440" y="2423160"/>
            <a:ext cx="201168" cy="201168"/>
          </a:xfrm>
          <a:prstGeom prst="ellipse">
            <a:avLst/>
          </a:prstGeom>
          <a:solidFill>
            <a:srgbClr val="0E9AA7"/>
          </a:solidFill>
          <a:ln w="12700">
            <a:solidFill>
              <a:srgbClr val="0E9AA7"/>
            </a:solidFill>
            <a:prstDash val="solid"/>
          </a:ln>
        </p:spPr>
      </p:sp>
      <p:sp>
        <p:nvSpPr>
          <p:cNvPr id="46" name="Text 44"/>
          <p:cNvSpPr/>
          <p:nvPr/>
        </p:nvSpPr>
        <p:spPr>
          <a:xfrm>
            <a:off x="4937760" y="2395728"/>
            <a:ext cx="3749040" cy="228600"/>
          </a:xfrm>
          <a:prstGeom prst="rect">
            <a:avLst/>
          </a:prstGeom>
          <a:noFill/>
          <a:ln/>
        </p:spPr>
        <p:txBody>
          <a:bodyPr wrap="square" lIns="0" tIns="0" rIns="0" bIns="0" rtlCol="0" anchor="ctr"/>
          <a:lstStyle/>
          <a:p>
            <a:pPr marL="0" indent="0">
              <a:buNone/>
            </a:pPr>
            <a:r>
              <a:rPr lang="en-US" sz="1000" b="1" dirty="0">
                <a:solidFill>
                  <a:srgbClr val="2D3748"/>
                </a:solidFill>
                <a:latin typeface="Calibri" pitchFamily="34" charset="0"/>
                <a:ea typeface="Calibri" pitchFamily="34" charset="-122"/>
                <a:cs typeface="Calibri" pitchFamily="34" charset="-120"/>
              </a:rPr>
              <a:t>Schema-Constrained Prompting</a:t>
            </a:r>
            <a:endParaRPr lang="en-US" sz="1000" dirty="0"/>
          </a:p>
        </p:txBody>
      </p:sp>
      <p:sp>
        <p:nvSpPr>
          <p:cNvPr id="47" name="Text 45"/>
          <p:cNvSpPr/>
          <p:nvPr/>
        </p:nvSpPr>
        <p:spPr>
          <a:xfrm>
            <a:off x="4937760" y="2633472"/>
            <a:ext cx="3749040" cy="292608"/>
          </a:xfrm>
          <a:prstGeom prst="rect">
            <a:avLst/>
          </a:prstGeom>
          <a:noFill/>
          <a:ln/>
        </p:spPr>
        <p:txBody>
          <a:bodyPr wrap="square" lIns="0" tIns="0" rIns="0" bIns="0" rtlCol="0" anchor="ctr"/>
          <a:lstStyle/>
          <a:p>
            <a:pPr marL="0" indent="0">
              <a:buNone/>
            </a:pPr>
            <a:r>
              <a:rPr lang="en-US" sz="900" dirty="0">
                <a:solidFill>
                  <a:srgbClr val="718096"/>
                </a:solidFill>
                <a:latin typeface="Calibri" pitchFamily="34" charset="0"/>
                <a:ea typeface="Calibri" pitchFamily="34" charset="-122"/>
                <a:cs typeface="Calibri" pitchFamily="34" charset="-120"/>
              </a:rPr>
              <a:t>Class + property names injected into system prompt reduce output space</a:t>
            </a:r>
            <a:endParaRPr lang="en-US" sz="900" dirty="0"/>
          </a:p>
        </p:txBody>
      </p:sp>
      <p:sp>
        <p:nvSpPr>
          <p:cNvPr id="48" name="Shape 46"/>
          <p:cNvSpPr/>
          <p:nvPr/>
        </p:nvSpPr>
        <p:spPr>
          <a:xfrm>
            <a:off x="4663440" y="2990088"/>
            <a:ext cx="201168" cy="201168"/>
          </a:xfrm>
          <a:prstGeom prst="ellipse">
            <a:avLst/>
          </a:prstGeom>
          <a:solidFill>
            <a:srgbClr val="0E9AA7"/>
          </a:solidFill>
          <a:ln w="12700">
            <a:solidFill>
              <a:srgbClr val="0E9AA7"/>
            </a:solidFill>
            <a:prstDash val="solid"/>
          </a:ln>
        </p:spPr>
      </p:sp>
      <p:sp>
        <p:nvSpPr>
          <p:cNvPr id="49" name="Text 47"/>
          <p:cNvSpPr/>
          <p:nvPr/>
        </p:nvSpPr>
        <p:spPr>
          <a:xfrm>
            <a:off x="4937760" y="2962656"/>
            <a:ext cx="3749040" cy="228600"/>
          </a:xfrm>
          <a:prstGeom prst="rect">
            <a:avLst/>
          </a:prstGeom>
          <a:noFill/>
          <a:ln/>
        </p:spPr>
        <p:txBody>
          <a:bodyPr wrap="square" lIns="0" tIns="0" rIns="0" bIns="0" rtlCol="0" anchor="ctr"/>
          <a:lstStyle/>
          <a:p>
            <a:pPr marL="0" indent="0">
              <a:buNone/>
            </a:pPr>
            <a:r>
              <a:rPr lang="en-US" sz="1000" b="1" dirty="0">
                <a:solidFill>
                  <a:srgbClr val="2D3748"/>
                </a:solidFill>
                <a:latin typeface="Calibri" pitchFamily="34" charset="0"/>
                <a:ea typeface="Calibri" pitchFamily="34" charset="-122"/>
                <a:cs typeface="Calibri" pitchFamily="34" charset="-120"/>
              </a:rPr>
              <a:t>OWL Reasoner as Validator</a:t>
            </a:r>
            <a:endParaRPr lang="en-US" sz="1000" dirty="0"/>
          </a:p>
        </p:txBody>
      </p:sp>
      <p:sp>
        <p:nvSpPr>
          <p:cNvPr id="50" name="Text 48"/>
          <p:cNvSpPr/>
          <p:nvPr/>
        </p:nvSpPr>
        <p:spPr>
          <a:xfrm>
            <a:off x="4937760" y="3200400"/>
            <a:ext cx="3749040" cy="292608"/>
          </a:xfrm>
          <a:prstGeom prst="rect">
            <a:avLst/>
          </a:prstGeom>
          <a:noFill/>
          <a:ln/>
        </p:spPr>
        <p:txBody>
          <a:bodyPr wrap="square" lIns="0" tIns="0" rIns="0" bIns="0" rtlCol="0" anchor="ctr"/>
          <a:lstStyle/>
          <a:p>
            <a:pPr marL="0" indent="0">
              <a:buNone/>
            </a:pPr>
            <a:r>
              <a:rPr lang="en-US" sz="900" dirty="0">
                <a:solidFill>
                  <a:srgbClr val="718096"/>
                </a:solidFill>
                <a:latin typeface="Calibri" pitchFamily="34" charset="0"/>
                <a:ea typeface="Calibri" pitchFamily="34" charset="-122"/>
                <a:cs typeface="Calibri" pitchFamily="34" charset="-120"/>
              </a:rPr>
              <a:t>Domain/range violations and disjointness breaches caught immediately</a:t>
            </a:r>
            <a:endParaRPr lang="en-US" sz="900" dirty="0"/>
          </a:p>
        </p:txBody>
      </p:sp>
      <p:sp>
        <p:nvSpPr>
          <p:cNvPr id="51" name="Shape 49"/>
          <p:cNvSpPr/>
          <p:nvPr/>
        </p:nvSpPr>
        <p:spPr>
          <a:xfrm>
            <a:off x="4663440" y="3557016"/>
            <a:ext cx="201168" cy="201168"/>
          </a:xfrm>
          <a:prstGeom prst="ellipse">
            <a:avLst/>
          </a:prstGeom>
          <a:solidFill>
            <a:srgbClr val="0E9AA7"/>
          </a:solidFill>
          <a:ln w="12700">
            <a:solidFill>
              <a:srgbClr val="0E9AA7"/>
            </a:solidFill>
            <a:prstDash val="solid"/>
          </a:ln>
        </p:spPr>
      </p:sp>
      <p:sp>
        <p:nvSpPr>
          <p:cNvPr id="52" name="Text 50"/>
          <p:cNvSpPr/>
          <p:nvPr/>
        </p:nvSpPr>
        <p:spPr>
          <a:xfrm>
            <a:off x="4937760" y="3529584"/>
            <a:ext cx="3749040" cy="228600"/>
          </a:xfrm>
          <a:prstGeom prst="rect">
            <a:avLst/>
          </a:prstGeom>
          <a:noFill/>
          <a:ln/>
        </p:spPr>
        <p:txBody>
          <a:bodyPr wrap="square" lIns="0" tIns="0" rIns="0" bIns="0" rtlCol="0" anchor="ctr"/>
          <a:lstStyle/>
          <a:p>
            <a:pPr marL="0" indent="0">
              <a:buNone/>
            </a:pPr>
            <a:r>
              <a:rPr lang="en-US" sz="1000" b="1" dirty="0">
                <a:solidFill>
                  <a:srgbClr val="2D3748"/>
                </a:solidFill>
                <a:latin typeface="Calibri" pitchFamily="34" charset="0"/>
                <a:ea typeface="Calibri" pitchFamily="34" charset="-122"/>
                <a:cs typeface="Calibri" pitchFamily="34" charset="-120"/>
              </a:rPr>
              <a:t>Functional Property Guards</a:t>
            </a:r>
            <a:endParaRPr lang="en-US" sz="1000" dirty="0"/>
          </a:p>
        </p:txBody>
      </p:sp>
      <p:sp>
        <p:nvSpPr>
          <p:cNvPr id="53" name="Text 51"/>
          <p:cNvSpPr/>
          <p:nvPr/>
        </p:nvSpPr>
        <p:spPr>
          <a:xfrm>
            <a:off x="4937760" y="3767328"/>
            <a:ext cx="3749040" cy="292608"/>
          </a:xfrm>
          <a:prstGeom prst="rect">
            <a:avLst/>
          </a:prstGeom>
          <a:noFill/>
          <a:ln/>
        </p:spPr>
        <p:txBody>
          <a:bodyPr wrap="square" lIns="0" tIns="0" rIns="0" bIns="0" rtlCol="0" anchor="ctr"/>
          <a:lstStyle/>
          <a:p>
            <a:pPr marL="0" indent="0">
              <a:buNone/>
            </a:pPr>
            <a:r>
              <a:rPr lang="en-US" sz="900" dirty="0">
                <a:solidFill>
                  <a:srgbClr val="718096"/>
                </a:solidFill>
                <a:latin typeface="Calibri" pitchFamily="34" charset="0"/>
                <a:ea typeface="Calibri" pitchFamily="34" charset="-122"/>
                <a:cs typeface="Calibri" pitchFamily="34" charset="-120"/>
              </a:rPr>
              <a:t>hasGrade functional → duplicate assertions flagged as inconsistencies</a:t>
            </a:r>
            <a:endParaRPr lang="en-US" sz="900" dirty="0"/>
          </a:p>
        </p:txBody>
      </p:sp>
      <p:sp>
        <p:nvSpPr>
          <p:cNvPr id="54" name="Shape 52"/>
          <p:cNvSpPr/>
          <p:nvPr/>
        </p:nvSpPr>
        <p:spPr>
          <a:xfrm>
            <a:off x="4663440" y="4123944"/>
            <a:ext cx="201168" cy="201168"/>
          </a:xfrm>
          <a:prstGeom prst="ellipse">
            <a:avLst/>
          </a:prstGeom>
          <a:solidFill>
            <a:srgbClr val="0E9AA7"/>
          </a:solidFill>
          <a:ln w="12700">
            <a:solidFill>
              <a:srgbClr val="0E9AA7"/>
            </a:solidFill>
            <a:prstDash val="solid"/>
          </a:ln>
        </p:spPr>
      </p:sp>
      <p:sp>
        <p:nvSpPr>
          <p:cNvPr id="55" name="Text 53"/>
          <p:cNvSpPr/>
          <p:nvPr/>
        </p:nvSpPr>
        <p:spPr>
          <a:xfrm>
            <a:off x="4937760" y="4096512"/>
            <a:ext cx="3749040" cy="228600"/>
          </a:xfrm>
          <a:prstGeom prst="rect">
            <a:avLst/>
          </a:prstGeom>
          <a:noFill/>
          <a:ln/>
        </p:spPr>
        <p:txBody>
          <a:bodyPr wrap="square" lIns="0" tIns="0" rIns="0" bIns="0" rtlCol="0" anchor="ctr"/>
          <a:lstStyle/>
          <a:p>
            <a:pPr marL="0" indent="0">
              <a:buNone/>
            </a:pPr>
            <a:r>
              <a:rPr lang="en-US" sz="1000" b="1" dirty="0">
                <a:solidFill>
                  <a:srgbClr val="2D3748"/>
                </a:solidFill>
                <a:latin typeface="Calibri" pitchFamily="34" charset="0"/>
                <a:ea typeface="Calibri" pitchFamily="34" charset="-122"/>
                <a:cs typeface="Calibri" pitchFamily="34" charset="-120"/>
              </a:rPr>
              <a:t>Human Expert Review</a:t>
            </a:r>
            <a:endParaRPr lang="en-US" sz="1000" dirty="0"/>
          </a:p>
        </p:txBody>
      </p:sp>
      <p:sp>
        <p:nvSpPr>
          <p:cNvPr id="56" name="Text 54"/>
          <p:cNvSpPr/>
          <p:nvPr/>
        </p:nvSpPr>
        <p:spPr>
          <a:xfrm>
            <a:off x="4937760" y="4334256"/>
            <a:ext cx="3749040" cy="292608"/>
          </a:xfrm>
          <a:prstGeom prst="rect">
            <a:avLst/>
          </a:prstGeom>
          <a:noFill/>
          <a:ln/>
        </p:spPr>
        <p:txBody>
          <a:bodyPr wrap="square" lIns="0" tIns="0" rIns="0" bIns="0" rtlCol="0" anchor="ctr"/>
          <a:lstStyle/>
          <a:p>
            <a:pPr marL="0" indent="0">
              <a:buNone/>
            </a:pPr>
            <a:r>
              <a:rPr lang="en-US" sz="900" dirty="0">
                <a:solidFill>
                  <a:srgbClr val="718096"/>
                </a:solidFill>
                <a:latin typeface="Calibri" pitchFamily="34" charset="0"/>
                <a:ea typeface="Calibri" pitchFamily="34" charset="-122"/>
                <a:cs typeface="Calibri" pitchFamily="34" charset="-120"/>
              </a:rPr>
              <a:t>Final step recommended; reasoner can't catch factually wrong but logically valid assertions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4A"/>
          </a:solidFill>
          <a:ln w="12700">
            <a:solidFill>
              <a:srgbClr val="1B2A4A"/>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System Demonstration &amp; Results</a:t>
            </a:r>
            <a:endParaRPr lang="en-US" sz="2200" dirty="0"/>
          </a:p>
        </p:txBody>
      </p:sp>
      <p:graphicFrame>
        <p:nvGraphicFramePr>
          <p:cNvPr id="4" name="Chart 0"/>
          <p:cNvGraphicFramePr/>
          <p:nvPr/>
        </p:nvGraphicFramePr>
        <p:xfrm>
          <a:off x="320040" y="804672"/>
          <a:ext cx="502920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532120" y="804672"/>
            <a:ext cx="3291840" cy="868680"/>
          </a:xfrm>
          <a:prstGeom prst="roundRect">
            <a:avLst>
              <a:gd name="adj" fmla="val 10526"/>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sp>
        <p:nvSpPr>
          <p:cNvPr id="6" name="Text 3"/>
          <p:cNvSpPr/>
          <p:nvPr/>
        </p:nvSpPr>
        <p:spPr>
          <a:xfrm>
            <a:off x="5669280" y="868680"/>
            <a:ext cx="1828800" cy="347472"/>
          </a:xfrm>
          <a:prstGeom prst="rect">
            <a:avLst/>
          </a:prstGeom>
          <a:noFill/>
          <a:ln/>
        </p:spPr>
        <p:txBody>
          <a:bodyPr wrap="square" lIns="0" tIns="0" rIns="0" bIns="0" rtlCol="0" anchor="ctr"/>
          <a:lstStyle/>
          <a:p>
            <a:pPr marL="0" indent="0">
              <a:buNone/>
            </a:pPr>
            <a:r>
              <a:rPr lang="en-US" sz="1000" b="1" dirty="0">
                <a:solidFill>
                  <a:srgbClr val="1B2A4A"/>
                </a:solidFill>
                <a:latin typeface="Cambria" pitchFamily="34" charset="0"/>
                <a:ea typeface="Cambria" pitchFamily="34" charset="-122"/>
                <a:cs typeface="Cambria" pitchFamily="34" charset="-120"/>
              </a:rPr>
              <a:t>HermiT Consistency</a:t>
            </a:r>
            <a:endParaRPr lang="en-US" sz="1000" dirty="0"/>
          </a:p>
        </p:txBody>
      </p:sp>
      <p:sp>
        <p:nvSpPr>
          <p:cNvPr id="7" name="Text 4"/>
          <p:cNvSpPr/>
          <p:nvPr/>
        </p:nvSpPr>
        <p:spPr>
          <a:xfrm>
            <a:off x="7406640" y="850392"/>
            <a:ext cx="1280160" cy="384048"/>
          </a:xfrm>
          <a:prstGeom prst="rect">
            <a:avLst/>
          </a:prstGeom>
          <a:noFill/>
          <a:ln/>
        </p:spPr>
        <p:txBody>
          <a:bodyPr wrap="square" lIns="0" tIns="0" rIns="0" bIns="0" rtlCol="0" anchor="ctr"/>
          <a:lstStyle/>
          <a:p>
            <a:pPr marL="0" indent="0" algn="r">
              <a:buNone/>
            </a:pPr>
            <a:r>
              <a:rPr lang="en-US" sz="1800" b="1" dirty="0">
                <a:solidFill>
                  <a:srgbClr val="0E9AA7"/>
                </a:solidFill>
                <a:latin typeface="Cambria" pitchFamily="34" charset="0"/>
                <a:ea typeface="Cambria" pitchFamily="34" charset="-122"/>
                <a:cs typeface="Cambria" pitchFamily="34" charset="-120"/>
              </a:rPr>
              <a:t>PASS</a:t>
            </a:r>
            <a:endParaRPr lang="en-US" sz="1800" dirty="0"/>
          </a:p>
        </p:txBody>
      </p:sp>
      <p:sp>
        <p:nvSpPr>
          <p:cNvPr id="8" name="Text 5"/>
          <p:cNvSpPr/>
          <p:nvPr/>
        </p:nvSpPr>
        <p:spPr>
          <a:xfrm>
            <a:off x="5669280" y="1280160"/>
            <a:ext cx="3017520" cy="438912"/>
          </a:xfrm>
          <a:prstGeom prst="rect">
            <a:avLst/>
          </a:prstGeom>
          <a:noFill/>
          <a:ln/>
        </p:spPr>
        <p:txBody>
          <a:bodyPr wrap="square" lIns="0" tIns="0" rIns="0" bIns="0" rtlCol="0" anchor="ctr"/>
          <a:lstStyle/>
          <a:p>
            <a:pPr marL="0" indent="0">
              <a:buNone/>
            </a:pPr>
            <a:r>
              <a:rPr lang="en-US" sz="900" dirty="0">
                <a:solidFill>
                  <a:srgbClr val="718096"/>
                </a:solidFill>
                <a:latin typeface="Calibri" pitchFamily="34" charset="0"/>
                <a:ea typeface="Calibri" pitchFamily="34" charset="-122"/>
                <a:cs typeface="Calibri" pitchFamily="34" charset="-120"/>
              </a:rPr>
              <a:t>No unsatisfiable classes</a:t>
            </a:r>
            <a:endParaRPr lang="en-US" sz="900" dirty="0"/>
          </a:p>
          <a:p>
            <a:pPr marL="0" indent="0">
              <a:buNone/>
            </a:pPr>
            <a:r>
              <a:rPr lang="en-US" sz="900" dirty="0">
                <a:solidFill>
                  <a:srgbClr val="718096"/>
                </a:solidFill>
                <a:latin typeface="Calibri" pitchFamily="34" charset="0"/>
                <a:ea typeface="Calibri" pitchFamily="34" charset="-122"/>
                <a:cs typeface="Calibri" pitchFamily="34" charset="-120"/>
              </a:rPr>
              <a:t>All disjointness axioms hold</a:t>
            </a:r>
            <a:endParaRPr lang="en-US" sz="900" dirty="0"/>
          </a:p>
        </p:txBody>
      </p:sp>
      <p:sp>
        <p:nvSpPr>
          <p:cNvPr id="9" name="Shape 6"/>
          <p:cNvSpPr/>
          <p:nvPr/>
        </p:nvSpPr>
        <p:spPr>
          <a:xfrm>
            <a:off x="5532120" y="1764792"/>
            <a:ext cx="3291840" cy="868680"/>
          </a:xfrm>
          <a:prstGeom prst="roundRect">
            <a:avLst>
              <a:gd name="adj" fmla="val 10526"/>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sp>
        <p:nvSpPr>
          <p:cNvPr id="10" name="Text 7"/>
          <p:cNvSpPr/>
          <p:nvPr/>
        </p:nvSpPr>
        <p:spPr>
          <a:xfrm>
            <a:off x="5669280" y="1828800"/>
            <a:ext cx="1828800" cy="347472"/>
          </a:xfrm>
          <a:prstGeom prst="rect">
            <a:avLst/>
          </a:prstGeom>
          <a:noFill/>
          <a:ln/>
        </p:spPr>
        <p:txBody>
          <a:bodyPr wrap="square" lIns="0" tIns="0" rIns="0" bIns="0" rtlCol="0" anchor="ctr"/>
          <a:lstStyle/>
          <a:p>
            <a:pPr marL="0" indent="0">
              <a:buNone/>
            </a:pPr>
            <a:r>
              <a:rPr lang="en-US" sz="1000" b="1" dirty="0">
                <a:solidFill>
                  <a:srgbClr val="1B2A4A"/>
                </a:solidFill>
                <a:latin typeface="Cambria" pitchFamily="34" charset="0"/>
                <a:ea typeface="Cambria" pitchFamily="34" charset="-122"/>
                <a:cs typeface="Cambria" pitchFamily="34" charset="-120"/>
              </a:rPr>
              <a:t>LateSubmission</a:t>
            </a:r>
            <a:endParaRPr lang="en-US" sz="1000" dirty="0"/>
          </a:p>
        </p:txBody>
      </p:sp>
      <p:sp>
        <p:nvSpPr>
          <p:cNvPr id="11" name="Text 8"/>
          <p:cNvSpPr/>
          <p:nvPr/>
        </p:nvSpPr>
        <p:spPr>
          <a:xfrm>
            <a:off x="7406640" y="1810512"/>
            <a:ext cx="1280160" cy="384048"/>
          </a:xfrm>
          <a:prstGeom prst="rect">
            <a:avLst/>
          </a:prstGeom>
          <a:noFill/>
          <a:ln/>
        </p:spPr>
        <p:txBody>
          <a:bodyPr wrap="square" lIns="0" tIns="0" rIns="0" bIns="0" rtlCol="0" anchor="ctr"/>
          <a:lstStyle/>
          <a:p>
            <a:pPr marL="0" indent="0" algn="r">
              <a:buNone/>
            </a:pPr>
            <a:r>
              <a:rPr lang="en-US" sz="1800" b="1" dirty="0">
                <a:solidFill>
                  <a:srgbClr val="0E9AA7"/>
                </a:solidFill>
                <a:latin typeface="Cambria" pitchFamily="34" charset="0"/>
                <a:ea typeface="Cambria" pitchFamily="34" charset="-122"/>
                <a:cs typeface="Cambria" pitchFamily="34" charset="-120"/>
              </a:rPr>
              <a:t>1 / 5</a:t>
            </a:r>
            <a:endParaRPr lang="en-US" sz="1800" dirty="0"/>
          </a:p>
        </p:txBody>
      </p:sp>
      <p:sp>
        <p:nvSpPr>
          <p:cNvPr id="12" name="Text 9"/>
          <p:cNvSpPr/>
          <p:nvPr/>
        </p:nvSpPr>
        <p:spPr>
          <a:xfrm>
            <a:off x="5669280" y="2240280"/>
            <a:ext cx="3017520" cy="438912"/>
          </a:xfrm>
          <a:prstGeom prst="rect">
            <a:avLst/>
          </a:prstGeom>
          <a:noFill/>
          <a:ln/>
        </p:spPr>
        <p:txBody>
          <a:bodyPr wrap="square" lIns="0" tIns="0" rIns="0" bIns="0" rtlCol="0" anchor="ctr"/>
          <a:lstStyle/>
          <a:p>
            <a:pPr marL="0" indent="0">
              <a:buNone/>
            </a:pPr>
            <a:r>
              <a:rPr lang="en-US" sz="900" dirty="0">
                <a:solidFill>
                  <a:srgbClr val="718096"/>
                </a:solidFill>
                <a:latin typeface="Calibri" pitchFamily="34" charset="0"/>
                <a:ea typeface="Calibri" pitchFamily="34" charset="-122"/>
                <a:cs typeface="Calibri" pitchFamily="34" charset="-120"/>
              </a:rPr>
              <a:t>Jalil Guliyev detected</a:t>
            </a:r>
            <a:endParaRPr lang="en-US" sz="900" dirty="0"/>
          </a:p>
          <a:p>
            <a:pPr marL="0" indent="0">
              <a:buNone/>
            </a:pPr>
            <a:r>
              <a:rPr lang="en-US" sz="900" dirty="0">
                <a:solidFill>
                  <a:srgbClr val="718096"/>
                </a:solidFill>
                <a:latin typeface="Calibri" pitchFamily="34" charset="0"/>
                <a:ea typeface="Calibri" pitchFamily="34" charset="-122"/>
                <a:cs typeface="Calibri" pitchFamily="34" charset="-120"/>
              </a:rPr>
              <a:t>via automated inference</a:t>
            </a:r>
            <a:endParaRPr lang="en-US" sz="900" dirty="0"/>
          </a:p>
        </p:txBody>
      </p:sp>
      <p:sp>
        <p:nvSpPr>
          <p:cNvPr id="13" name="Shape 10"/>
          <p:cNvSpPr/>
          <p:nvPr/>
        </p:nvSpPr>
        <p:spPr>
          <a:xfrm>
            <a:off x="5532120" y="2724912"/>
            <a:ext cx="3291840" cy="868680"/>
          </a:xfrm>
          <a:prstGeom prst="roundRect">
            <a:avLst>
              <a:gd name="adj" fmla="val 10526"/>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sp>
        <p:nvSpPr>
          <p:cNvPr id="14" name="Text 11"/>
          <p:cNvSpPr/>
          <p:nvPr/>
        </p:nvSpPr>
        <p:spPr>
          <a:xfrm>
            <a:off x="5669280" y="2788920"/>
            <a:ext cx="1828800" cy="347472"/>
          </a:xfrm>
          <a:prstGeom prst="rect">
            <a:avLst/>
          </a:prstGeom>
          <a:noFill/>
          <a:ln/>
        </p:spPr>
        <p:txBody>
          <a:bodyPr wrap="square" lIns="0" tIns="0" rIns="0" bIns="0" rtlCol="0" anchor="ctr"/>
          <a:lstStyle/>
          <a:p>
            <a:pPr marL="0" indent="0">
              <a:buNone/>
            </a:pPr>
            <a:r>
              <a:rPr lang="en-US" sz="1000" b="1" dirty="0">
                <a:solidFill>
                  <a:srgbClr val="1B2A4A"/>
                </a:solidFill>
                <a:latin typeface="Cambria" pitchFamily="34" charset="0"/>
                <a:ea typeface="Cambria" pitchFamily="34" charset="-122"/>
                <a:cs typeface="Cambria" pitchFamily="34" charset="-120"/>
              </a:rPr>
              <a:t>SHACL Validation</a:t>
            </a:r>
            <a:endParaRPr lang="en-US" sz="1000" dirty="0"/>
          </a:p>
        </p:txBody>
      </p:sp>
      <p:sp>
        <p:nvSpPr>
          <p:cNvPr id="15" name="Text 12"/>
          <p:cNvSpPr/>
          <p:nvPr/>
        </p:nvSpPr>
        <p:spPr>
          <a:xfrm>
            <a:off x="7406640" y="2770632"/>
            <a:ext cx="1280160" cy="384048"/>
          </a:xfrm>
          <a:prstGeom prst="rect">
            <a:avLst/>
          </a:prstGeom>
          <a:noFill/>
          <a:ln/>
        </p:spPr>
        <p:txBody>
          <a:bodyPr wrap="square" lIns="0" tIns="0" rIns="0" bIns="0" rtlCol="0" anchor="ctr"/>
          <a:lstStyle/>
          <a:p>
            <a:pPr marL="0" indent="0" algn="r">
              <a:buNone/>
            </a:pPr>
            <a:r>
              <a:rPr lang="en-US" sz="1800" b="1" dirty="0">
                <a:solidFill>
                  <a:srgbClr val="0E9AA7"/>
                </a:solidFill>
                <a:latin typeface="Cambria" pitchFamily="34" charset="0"/>
                <a:ea typeface="Cambria" pitchFamily="34" charset="-122"/>
                <a:cs typeface="Cambria" pitchFamily="34" charset="-120"/>
              </a:rPr>
              <a:t>4 / 4</a:t>
            </a:r>
            <a:endParaRPr lang="en-US" sz="1800" dirty="0"/>
          </a:p>
        </p:txBody>
      </p:sp>
      <p:sp>
        <p:nvSpPr>
          <p:cNvPr id="16" name="Text 13"/>
          <p:cNvSpPr/>
          <p:nvPr/>
        </p:nvSpPr>
        <p:spPr>
          <a:xfrm>
            <a:off x="5669280" y="3200400"/>
            <a:ext cx="3017520" cy="438912"/>
          </a:xfrm>
          <a:prstGeom prst="rect">
            <a:avLst/>
          </a:prstGeom>
          <a:noFill/>
          <a:ln/>
        </p:spPr>
        <p:txBody>
          <a:bodyPr wrap="square" lIns="0" tIns="0" rIns="0" bIns="0" rtlCol="0" anchor="ctr"/>
          <a:lstStyle/>
          <a:p>
            <a:pPr marL="0" indent="0">
              <a:buNone/>
            </a:pPr>
            <a:r>
              <a:rPr lang="en-US" sz="900" dirty="0">
                <a:solidFill>
                  <a:srgbClr val="718096"/>
                </a:solidFill>
                <a:latin typeface="Calibri" pitchFamily="34" charset="0"/>
                <a:ea typeface="Calibri" pitchFamily="34" charset="-122"/>
                <a:cs typeface="Calibri" pitchFamily="34" charset="-120"/>
              </a:rPr>
              <a:t>All shapes passed</a:t>
            </a:r>
            <a:endParaRPr lang="en-US" sz="900" dirty="0"/>
          </a:p>
          <a:p>
            <a:pPr marL="0" indent="0">
              <a:buNone/>
            </a:pPr>
            <a:r>
              <a:rPr lang="en-US" sz="900" dirty="0">
                <a:solidFill>
                  <a:srgbClr val="718096"/>
                </a:solidFill>
                <a:latin typeface="Calibri" pitchFamily="34" charset="0"/>
                <a:ea typeface="Calibri" pitchFamily="34" charset="-122"/>
                <a:cs typeface="Calibri" pitchFamily="34" charset="-120"/>
              </a:rPr>
              <a:t>1 deliberate violation caught</a:t>
            </a:r>
            <a:endParaRPr lang="en-US" sz="900" dirty="0"/>
          </a:p>
        </p:txBody>
      </p:sp>
      <p:sp>
        <p:nvSpPr>
          <p:cNvPr id="17" name="Shape 14"/>
          <p:cNvSpPr/>
          <p:nvPr/>
        </p:nvSpPr>
        <p:spPr>
          <a:xfrm>
            <a:off x="5532120" y="3685032"/>
            <a:ext cx="3291840" cy="868680"/>
          </a:xfrm>
          <a:prstGeom prst="roundRect">
            <a:avLst>
              <a:gd name="adj" fmla="val 10526"/>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sp>
        <p:nvSpPr>
          <p:cNvPr id="18" name="Text 15"/>
          <p:cNvSpPr/>
          <p:nvPr/>
        </p:nvSpPr>
        <p:spPr>
          <a:xfrm>
            <a:off x="5669280" y="3749040"/>
            <a:ext cx="1828800" cy="347472"/>
          </a:xfrm>
          <a:prstGeom prst="rect">
            <a:avLst/>
          </a:prstGeom>
          <a:noFill/>
          <a:ln/>
        </p:spPr>
        <p:txBody>
          <a:bodyPr wrap="square" lIns="0" tIns="0" rIns="0" bIns="0" rtlCol="0" anchor="ctr"/>
          <a:lstStyle/>
          <a:p>
            <a:pPr marL="0" indent="0">
              <a:buNone/>
            </a:pPr>
            <a:r>
              <a:rPr lang="en-US" sz="1000" b="1" dirty="0">
                <a:solidFill>
                  <a:srgbClr val="1B2A4A"/>
                </a:solidFill>
                <a:latin typeface="Cambria" pitchFamily="34" charset="0"/>
                <a:ea typeface="Cambria" pitchFamily="34" charset="-122"/>
                <a:cs typeface="Cambria" pitchFamily="34" charset="-120"/>
              </a:rPr>
              <a:t>CQs Answered</a:t>
            </a:r>
            <a:endParaRPr lang="en-US" sz="1000" dirty="0"/>
          </a:p>
        </p:txBody>
      </p:sp>
      <p:sp>
        <p:nvSpPr>
          <p:cNvPr id="19" name="Text 16"/>
          <p:cNvSpPr/>
          <p:nvPr/>
        </p:nvSpPr>
        <p:spPr>
          <a:xfrm>
            <a:off x="7406640" y="3730752"/>
            <a:ext cx="1280160" cy="384048"/>
          </a:xfrm>
          <a:prstGeom prst="rect">
            <a:avLst/>
          </a:prstGeom>
          <a:noFill/>
          <a:ln/>
        </p:spPr>
        <p:txBody>
          <a:bodyPr wrap="square" lIns="0" tIns="0" rIns="0" bIns="0" rtlCol="0" anchor="ctr"/>
          <a:lstStyle/>
          <a:p>
            <a:pPr marL="0" indent="0" algn="r">
              <a:buNone/>
            </a:pPr>
            <a:r>
              <a:rPr lang="en-US" sz="1800" b="1" dirty="0">
                <a:solidFill>
                  <a:srgbClr val="0E9AA7"/>
                </a:solidFill>
                <a:latin typeface="Cambria" pitchFamily="34" charset="0"/>
                <a:ea typeface="Cambria" pitchFamily="34" charset="-122"/>
                <a:cs typeface="Cambria" pitchFamily="34" charset="-120"/>
              </a:rPr>
              <a:t>18 / 18</a:t>
            </a:r>
            <a:endParaRPr lang="en-US" sz="1800" dirty="0"/>
          </a:p>
        </p:txBody>
      </p:sp>
      <p:sp>
        <p:nvSpPr>
          <p:cNvPr id="20" name="Text 17"/>
          <p:cNvSpPr/>
          <p:nvPr/>
        </p:nvSpPr>
        <p:spPr>
          <a:xfrm>
            <a:off x="5669280" y="4160520"/>
            <a:ext cx="3017520" cy="438912"/>
          </a:xfrm>
          <a:prstGeom prst="rect">
            <a:avLst/>
          </a:prstGeom>
          <a:noFill/>
          <a:ln/>
        </p:spPr>
        <p:txBody>
          <a:bodyPr wrap="square" lIns="0" tIns="0" rIns="0" bIns="0" rtlCol="0" anchor="ctr"/>
          <a:lstStyle/>
          <a:p>
            <a:pPr marL="0" indent="0">
              <a:buNone/>
            </a:pPr>
            <a:r>
              <a:rPr lang="en-US" sz="900" dirty="0">
                <a:solidFill>
                  <a:srgbClr val="718096"/>
                </a:solidFill>
                <a:latin typeface="Calibri" pitchFamily="34" charset="0"/>
                <a:ea typeface="Calibri" pitchFamily="34" charset="-122"/>
                <a:cs typeface="Calibri" pitchFamily="34" charset="-120"/>
              </a:rPr>
              <a:t>All competency questions</a:t>
            </a:r>
            <a:endParaRPr lang="en-US" sz="900" dirty="0"/>
          </a:p>
          <a:p>
            <a:pPr marL="0" indent="0">
              <a:buNone/>
            </a:pPr>
            <a:r>
              <a:rPr lang="en-US" sz="900" dirty="0">
                <a:solidFill>
                  <a:srgbClr val="718096"/>
                </a:solidFill>
                <a:latin typeface="Calibri" pitchFamily="34" charset="0"/>
                <a:ea typeface="Calibri" pitchFamily="34" charset="-122"/>
                <a:cs typeface="Calibri" pitchFamily="34" charset="-120"/>
              </a:rPr>
              <a:t>via SPARQL over reasoned KG</a:t>
            </a:r>
            <a:endParaRPr lang="en-US" sz="900" dirty="0"/>
          </a:p>
        </p:txBody>
      </p:sp>
      <p:sp>
        <p:nvSpPr>
          <p:cNvPr id="21" name="Text 18"/>
          <p:cNvSpPr/>
          <p:nvPr/>
        </p:nvSpPr>
        <p:spPr>
          <a:xfrm>
            <a:off x="320040" y="3794760"/>
            <a:ext cx="5029200" cy="274320"/>
          </a:xfrm>
          <a:prstGeom prst="rect">
            <a:avLst/>
          </a:prstGeom>
          <a:noFill/>
          <a:ln/>
        </p:spPr>
        <p:txBody>
          <a:bodyPr wrap="square" lIns="0" tIns="0" rIns="0" bIns="0" rtlCol="0" anchor="ctr"/>
          <a:lstStyle/>
          <a:p>
            <a:pPr marL="0" indent="0">
              <a:buNone/>
            </a:pPr>
            <a:r>
              <a:rPr lang="en-US" sz="900" i="1" dirty="0">
                <a:solidFill>
                  <a:srgbClr val="718096"/>
                </a:solidFill>
                <a:latin typeface="Calibri" pitchFamily="34" charset="0"/>
                <a:ea typeface="Calibri" pitchFamily="34" charset="-122"/>
                <a:cs typeface="Calibri" pitchFamily="34" charset="-120"/>
              </a:rPr>
              <a:t>Representative ABox grades — Jalil (red) reflects late penalty</a:t>
            </a:r>
            <a:endParaRPr lang="en-US" sz="900" dirty="0"/>
          </a:p>
        </p:txBody>
      </p:sp>
      <p:sp>
        <p:nvSpPr>
          <p:cNvPr id="22" name="Shape 19"/>
          <p:cNvSpPr/>
          <p:nvPr/>
        </p:nvSpPr>
        <p:spPr>
          <a:xfrm>
            <a:off x="320040" y="4160520"/>
            <a:ext cx="8503920" cy="658368"/>
          </a:xfrm>
          <a:prstGeom prst="roundRect">
            <a:avLst>
              <a:gd name="adj" fmla="val 11111"/>
            </a:avLst>
          </a:prstGeom>
          <a:solidFill>
            <a:srgbClr val="1B2A4A"/>
          </a:solidFill>
          <a:ln w="12700">
            <a:solidFill>
              <a:srgbClr val="1B2A4A"/>
            </a:solidFill>
            <a:prstDash val="solid"/>
          </a:ln>
        </p:spPr>
      </p:sp>
      <p:sp>
        <p:nvSpPr>
          <p:cNvPr id="23" name="Text 20"/>
          <p:cNvSpPr/>
          <p:nvPr/>
        </p:nvSpPr>
        <p:spPr>
          <a:xfrm>
            <a:off x="457200" y="4206240"/>
            <a:ext cx="1371600" cy="566928"/>
          </a:xfrm>
          <a:prstGeom prst="rect">
            <a:avLst/>
          </a:prstGeom>
          <a:noFill/>
          <a:ln/>
        </p:spPr>
        <p:txBody>
          <a:bodyPr wrap="square" lIns="0" tIns="0" rIns="0" bIns="0" rtlCol="0" anchor="ctr"/>
          <a:lstStyle/>
          <a:p>
            <a:pPr marL="0" indent="0" algn="ctr">
              <a:buNone/>
            </a:pPr>
            <a:r>
              <a:rPr lang="en-US" sz="1000" b="1" dirty="0">
                <a:solidFill>
                  <a:srgbClr val="0E9AA7"/>
                </a:solidFill>
                <a:latin typeface="Calibri" pitchFamily="34" charset="0"/>
                <a:ea typeface="Calibri" pitchFamily="34" charset="-122"/>
                <a:cs typeface="Calibri" pitchFamily="34" charset="-120"/>
              </a:rPr>
              <a:t>11 Classes</a:t>
            </a:r>
            <a:endParaRPr lang="en-US" sz="1000" dirty="0"/>
          </a:p>
        </p:txBody>
      </p:sp>
      <p:sp>
        <p:nvSpPr>
          <p:cNvPr id="24" name="Text 21"/>
          <p:cNvSpPr/>
          <p:nvPr/>
        </p:nvSpPr>
        <p:spPr>
          <a:xfrm>
            <a:off x="1874520" y="4206240"/>
            <a:ext cx="1371600" cy="566928"/>
          </a:xfrm>
          <a:prstGeom prst="rect">
            <a:avLst/>
          </a:prstGeom>
          <a:noFill/>
          <a:ln/>
        </p:spPr>
        <p:txBody>
          <a:bodyPr wrap="square" lIns="0" tIns="0" rIns="0" bIns="0" rtlCol="0" anchor="ctr"/>
          <a:lstStyle/>
          <a:p>
            <a:pPr marL="0" indent="0" algn="ctr">
              <a:buNone/>
            </a:pPr>
            <a:r>
              <a:rPr lang="en-US" sz="1000" b="1" dirty="0">
                <a:solidFill>
                  <a:srgbClr val="0E9AA7"/>
                </a:solidFill>
                <a:latin typeface="Calibri" pitchFamily="34" charset="0"/>
                <a:ea typeface="Calibri" pitchFamily="34" charset="-122"/>
                <a:cs typeface="Calibri" pitchFamily="34" charset="-120"/>
              </a:rPr>
              <a:t>18 Object Props</a:t>
            </a:r>
            <a:endParaRPr lang="en-US" sz="1000" dirty="0"/>
          </a:p>
        </p:txBody>
      </p:sp>
      <p:sp>
        <p:nvSpPr>
          <p:cNvPr id="25" name="Text 22"/>
          <p:cNvSpPr/>
          <p:nvPr/>
        </p:nvSpPr>
        <p:spPr>
          <a:xfrm>
            <a:off x="3291840" y="4206240"/>
            <a:ext cx="1371600" cy="566928"/>
          </a:xfrm>
          <a:prstGeom prst="rect">
            <a:avLst/>
          </a:prstGeom>
          <a:noFill/>
          <a:ln/>
        </p:spPr>
        <p:txBody>
          <a:bodyPr wrap="square" lIns="0" tIns="0" rIns="0" bIns="0" rtlCol="0" anchor="ctr"/>
          <a:lstStyle/>
          <a:p>
            <a:pPr marL="0" indent="0" algn="ctr">
              <a:buNone/>
            </a:pPr>
            <a:r>
              <a:rPr lang="en-US" sz="1000" b="1" dirty="0">
                <a:solidFill>
                  <a:srgbClr val="0E9AA7"/>
                </a:solidFill>
                <a:latin typeface="Calibri" pitchFamily="34" charset="0"/>
                <a:ea typeface="Calibri" pitchFamily="34" charset="-122"/>
                <a:cs typeface="Calibri" pitchFamily="34" charset="-120"/>
              </a:rPr>
              <a:t>15 Datatype Props</a:t>
            </a:r>
            <a:endParaRPr lang="en-US" sz="1000" dirty="0"/>
          </a:p>
        </p:txBody>
      </p:sp>
      <p:sp>
        <p:nvSpPr>
          <p:cNvPr id="26" name="Text 23"/>
          <p:cNvSpPr/>
          <p:nvPr/>
        </p:nvSpPr>
        <p:spPr>
          <a:xfrm>
            <a:off x="4709160" y="4206240"/>
            <a:ext cx="1371600" cy="566928"/>
          </a:xfrm>
          <a:prstGeom prst="rect">
            <a:avLst/>
          </a:prstGeom>
          <a:noFill/>
          <a:ln/>
        </p:spPr>
        <p:txBody>
          <a:bodyPr wrap="square" lIns="0" tIns="0" rIns="0" bIns="0" rtlCol="0" anchor="ctr"/>
          <a:lstStyle/>
          <a:p>
            <a:pPr marL="0" indent="0" algn="ctr">
              <a:buNone/>
            </a:pPr>
            <a:r>
              <a:rPr lang="en-US" sz="1000" b="1" dirty="0">
                <a:solidFill>
                  <a:srgbClr val="0E9AA7"/>
                </a:solidFill>
                <a:latin typeface="Calibri" pitchFamily="34" charset="0"/>
                <a:ea typeface="Calibri" pitchFamily="34" charset="-122"/>
                <a:cs typeface="Calibri" pitchFamily="34" charset="-120"/>
              </a:rPr>
              <a:t>OWL 2 DL</a:t>
            </a:r>
            <a:endParaRPr lang="en-US" sz="1000" dirty="0"/>
          </a:p>
        </p:txBody>
      </p:sp>
      <p:sp>
        <p:nvSpPr>
          <p:cNvPr id="27" name="Text 24"/>
          <p:cNvSpPr/>
          <p:nvPr/>
        </p:nvSpPr>
        <p:spPr>
          <a:xfrm>
            <a:off x="6126480" y="4206240"/>
            <a:ext cx="1371600" cy="566928"/>
          </a:xfrm>
          <a:prstGeom prst="rect">
            <a:avLst/>
          </a:prstGeom>
          <a:noFill/>
          <a:ln/>
        </p:spPr>
        <p:txBody>
          <a:bodyPr wrap="square" lIns="0" tIns="0" rIns="0" bIns="0" rtlCol="0" anchor="ctr"/>
          <a:lstStyle/>
          <a:p>
            <a:pPr marL="0" indent="0" algn="ctr">
              <a:buNone/>
            </a:pPr>
            <a:r>
              <a:rPr lang="en-US" sz="1000" b="1" dirty="0">
                <a:solidFill>
                  <a:srgbClr val="0E9AA7"/>
                </a:solidFill>
                <a:latin typeface="Calibri" pitchFamily="34" charset="0"/>
                <a:ea typeface="Calibri" pitchFamily="34" charset="-122"/>
                <a:cs typeface="Calibri" pitchFamily="34" charset="-120"/>
              </a:rPr>
              <a:t>Version 2.0</a:t>
            </a:r>
            <a:endParaRPr lang="en-US" sz="1000" dirty="0"/>
          </a:p>
        </p:txBody>
      </p:sp>
      <p:sp>
        <p:nvSpPr>
          <p:cNvPr id="28" name="Text 25"/>
          <p:cNvSpPr/>
          <p:nvPr/>
        </p:nvSpPr>
        <p:spPr>
          <a:xfrm>
            <a:off x="7543800" y="4206240"/>
            <a:ext cx="1371600" cy="566928"/>
          </a:xfrm>
          <a:prstGeom prst="rect">
            <a:avLst/>
          </a:prstGeom>
          <a:noFill/>
          <a:ln/>
        </p:spPr>
        <p:txBody>
          <a:bodyPr wrap="square" lIns="0" tIns="0" rIns="0" bIns="0" rtlCol="0" anchor="ctr"/>
          <a:lstStyle/>
          <a:p>
            <a:pPr marL="0" indent="0" algn="ctr">
              <a:buNone/>
            </a:pPr>
            <a:r>
              <a:rPr lang="en-US" sz="1000" b="1" dirty="0">
                <a:solidFill>
                  <a:srgbClr val="0E9AA7"/>
                </a:solidFill>
                <a:latin typeface="Calibri" pitchFamily="34" charset="0"/>
                <a:ea typeface="Calibri" pitchFamily="34" charset="-122"/>
                <a:cs typeface="Calibri" pitchFamily="34" charset="-120"/>
              </a:rPr>
              <a:t>GitHub + WIDOCO</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4A"/>
          </a:solidFill>
          <a:ln w="12700">
            <a:solidFill>
              <a:srgbClr val="1B2A4A"/>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Evaluation &amp; Limitations</a:t>
            </a:r>
            <a:endParaRPr lang="en-US" sz="2200" dirty="0"/>
          </a:p>
        </p:txBody>
      </p:sp>
      <p:sp>
        <p:nvSpPr>
          <p:cNvPr id="4" name="Shape 2"/>
          <p:cNvSpPr/>
          <p:nvPr/>
        </p:nvSpPr>
        <p:spPr>
          <a:xfrm>
            <a:off x="320040" y="804672"/>
            <a:ext cx="4114800" cy="3749040"/>
          </a:xfrm>
          <a:prstGeom prst="roundRect">
            <a:avLst>
              <a:gd name="adj" fmla="val 2439"/>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sp>
        <p:nvSpPr>
          <p:cNvPr id="5" name="Text 3"/>
          <p:cNvSpPr/>
          <p:nvPr/>
        </p:nvSpPr>
        <p:spPr>
          <a:xfrm>
            <a:off x="457200" y="868680"/>
            <a:ext cx="3840480" cy="347472"/>
          </a:xfrm>
          <a:prstGeom prst="rect">
            <a:avLst/>
          </a:prstGeom>
          <a:noFill/>
          <a:ln/>
        </p:spPr>
        <p:txBody>
          <a:bodyPr wrap="square" lIns="0" tIns="0" rIns="0" bIns="0" rtlCol="0" anchor="ctr"/>
          <a:lstStyle/>
          <a:p>
            <a:pPr marL="0" indent="0">
              <a:buNone/>
            </a:pPr>
            <a:r>
              <a:rPr lang="en-US" sz="1400" b="1" dirty="0">
                <a:solidFill>
                  <a:srgbClr val="0E9AA7"/>
                </a:solidFill>
                <a:latin typeface="Cambria" pitchFamily="34" charset="0"/>
                <a:ea typeface="Cambria" pitchFamily="34" charset="-122"/>
                <a:cs typeface="Cambria" pitchFamily="34" charset="-120"/>
              </a:rPr>
              <a:t>Strengths</a:t>
            </a:r>
            <a:endParaRPr lang="en-US" sz="1400" dirty="0"/>
          </a:p>
        </p:txBody>
      </p:sp>
      <p:sp>
        <p:nvSpPr>
          <p:cNvPr id="6" name="Text 4"/>
          <p:cNvSpPr/>
          <p:nvPr/>
        </p:nvSpPr>
        <p:spPr>
          <a:xfrm>
            <a:off x="457200" y="1298448"/>
            <a:ext cx="3840480" cy="411480"/>
          </a:xfrm>
          <a:prstGeom prst="rect">
            <a:avLst/>
          </a:prstGeom>
          <a:noFill/>
          <a:ln/>
        </p:spPr>
        <p:txBody>
          <a:bodyPr wrap="square" lIns="0" tIns="0" rIns="0" bIns="0" rtlCol="0" anchor="ctr"/>
          <a:lstStyle/>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Logically consistent — HermiT verified, no unsatisfiable classes</a:t>
            </a:r>
            <a:endParaRPr lang="en-US" sz="1050" dirty="0"/>
          </a:p>
        </p:txBody>
      </p:sp>
      <p:sp>
        <p:nvSpPr>
          <p:cNvPr id="7" name="Text 5"/>
          <p:cNvSpPr/>
          <p:nvPr/>
        </p:nvSpPr>
        <p:spPr>
          <a:xfrm>
            <a:off x="457200" y="1737360"/>
            <a:ext cx="3840480" cy="411480"/>
          </a:xfrm>
          <a:prstGeom prst="rect">
            <a:avLst/>
          </a:prstGeom>
          <a:noFill/>
          <a:ln/>
        </p:spPr>
        <p:txBody>
          <a:bodyPr wrap="square" lIns="0" tIns="0" rIns="0" bIns="0" rtlCol="0" anchor="ctr"/>
          <a:lstStyle/>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All 18 competency questions answered via SPARQL</a:t>
            </a:r>
            <a:endParaRPr lang="en-US" sz="1050" dirty="0"/>
          </a:p>
        </p:txBody>
      </p:sp>
      <p:sp>
        <p:nvSpPr>
          <p:cNvPr id="8" name="Text 6"/>
          <p:cNvSpPr/>
          <p:nvPr/>
        </p:nvSpPr>
        <p:spPr>
          <a:xfrm>
            <a:off x="457200" y="2176272"/>
            <a:ext cx="3840480" cy="411480"/>
          </a:xfrm>
          <a:prstGeom prst="rect">
            <a:avLst/>
          </a:prstGeom>
          <a:noFill/>
          <a:ln/>
        </p:spPr>
        <p:txBody>
          <a:bodyPr wrap="square" lIns="0" tIns="0" rIns="0" bIns="0" rtlCol="0" anchor="ctr"/>
          <a:lstStyle/>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Automatic LateSubmission inference without manual assertion</a:t>
            </a:r>
            <a:endParaRPr lang="en-US" sz="1050" dirty="0"/>
          </a:p>
        </p:txBody>
      </p:sp>
      <p:sp>
        <p:nvSpPr>
          <p:cNvPr id="9" name="Text 7"/>
          <p:cNvSpPr/>
          <p:nvPr/>
        </p:nvSpPr>
        <p:spPr>
          <a:xfrm>
            <a:off x="457200" y="2615184"/>
            <a:ext cx="3840480" cy="411480"/>
          </a:xfrm>
          <a:prstGeom prst="rect">
            <a:avLst/>
          </a:prstGeom>
          <a:noFill/>
          <a:ln/>
        </p:spPr>
        <p:txBody>
          <a:bodyPr wrap="square" lIns="0" tIns="0" rIns="0" bIns="0" rtlCol="0" anchor="ctr"/>
          <a:lstStyle/>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SHACL structural validation with deliberate violation testing</a:t>
            </a:r>
            <a:endParaRPr lang="en-US" sz="1050" dirty="0"/>
          </a:p>
        </p:txBody>
      </p:sp>
      <p:sp>
        <p:nvSpPr>
          <p:cNvPr id="10" name="Text 8"/>
          <p:cNvSpPr/>
          <p:nvPr/>
        </p:nvSpPr>
        <p:spPr>
          <a:xfrm>
            <a:off x="457200" y="3054096"/>
            <a:ext cx="3840480" cy="411480"/>
          </a:xfrm>
          <a:prstGeom prst="rect">
            <a:avLst/>
          </a:prstGeom>
          <a:noFill/>
          <a:ln/>
        </p:spPr>
        <p:txBody>
          <a:bodyPr wrap="square" lIns="0" tIns="0" rIns="0" bIns="0" rtlCol="0" anchor="ctr"/>
          <a:lstStyle/>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LLM pipeline with 3-layer hallucination mitigation</a:t>
            </a:r>
            <a:endParaRPr lang="en-US" sz="1050" dirty="0"/>
          </a:p>
        </p:txBody>
      </p:sp>
      <p:sp>
        <p:nvSpPr>
          <p:cNvPr id="11" name="Text 9"/>
          <p:cNvSpPr/>
          <p:nvPr/>
        </p:nvSpPr>
        <p:spPr>
          <a:xfrm>
            <a:off x="457200" y="3493008"/>
            <a:ext cx="3840480" cy="411480"/>
          </a:xfrm>
          <a:prstGeom prst="rect">
            <a:avLst/>
          </a:prstGeom>
          <a:noFill/>
          <a:ln/>
        </p:spPr>
        <p:txBody>
          <a:bodyPr wrap="square" lIns="0" tIns="0" rIns="0" bIns="0" rtlCol="0" anchor="ctr"/>
          <a:lstStyle/>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Full WIDOCO documentation and GitHub versioning</a:t>
            </a:r>
            <a:endParaRPr lang="en-US" sz="1050" dirty="0"/>
          </a:p>
        </p:txBody>
      </p:sp>
      <p:sp>
        <p:nvSpPr>
          <p:cNvPr id="12" name="Text 10"/>
          <p:cNvSpPr/>
          <p:nvPr/>
        </p:nvSpPr>
        <p:spPr>
          <a:xfrm>
            <a:off x="457200" y="3931920"/>
            <a:ext cx="3840480" cy="411480"/>
          </a:xfrm>
          <a:prstGeom prst="rect">
            <a:avLst/>
          </a:prstGeom>
          <a:noFill/>
          <a:ln/>
        </p:spPr>
        <p:txBody>
          <a:bodyPr wrap="square" lIns="0" tIns="0" rIns="0" bIns="0" rtlCol="0" anchor="ctr"/>
          <a:lstStyle/>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Well-justified modeling decisions (functional, transitive, disjoint axioms)</a:t>
            </a:r>
            <a:endParaRPr lang="en-US" sz="1050" dirty="0"/>
          </a:p>
        </p:txBody>
      </p:sp>
      <p:sp>
        <p:nvSpPr>
          <p:cNvPr id="13" name="Shape 11"/>
          <p:cNvSpPr/>
          <p:nvPr/>
        </p:nvSpPr>
        <p:spPr>
          <a:xfrm>
            <a:off x="4663440" y="804672"/>
            <a:ext cx="4160520" cy="3749040"/>
          </a:xfrm>
          <a:prstGeom prst="roundRect">
            <a:avLst>
              <a:gd name="adj" fmla="val 2439"/>
            </a:avLst>
          </a:prstGeom>
          <a:solidFill>
            <a:srgbClr val="FFF8F8"/>
          </a:solidFill>
          <a:ln w="12700">
            <a:solidFill>
              <a:srgbClr val="FCA5A5"/>
            </a:solidFill>
            <a:prstDash val="solid"/>
          </a:ln>
          <a:effectLst>
            <a:outerShdw blurRad="101600" dist="25400" dir="2700000" algn="bl" rotWithShape="0">
              <a:srgbClr val="000000">
                <a:alpha val="12000"/>
              </a:srgbClr>
            </a:outerShdw>
          </a:effectLst>
        </p:spPr>
      </p:sp>
      <p:sp>
        <p:nvSpPr>
          <p:cNvPr id="14" name="Text 12"/>
          <p:cNvSpPr/>
          <p:nvPr/>
        </p:nvSpPr>
        <p:spPr>
          <a:xfrm>
            <a:off x="4800600" y="868680"/>
            <a:ext cx="3840480" cy="347472"/>
          </a:xfrm>
          <a:prstGeom prst="rect">
            <a:avLst/>
          </a:prstGeom>
          <a:noFill/>
          <a:ln/>
        </p:spPr>
        <p:txBody>
          <a:bodyPr wrap="square" lIns="0" tIns="0" rIns="0" bIns="0" rtlCol="0" anchor="ctr"/>
          <a:lstStyle/>
          <a:p>
            <a:pPr marL="0" indent="0">
              <a:buNone/>
            </a:pPr>
            <a:r>
              <a:rPr lang="en-US" sz="1400" b="1" dirty="0">
                <a:solidFill>
                  <a:srgbClr val="C53030"/>
                </a:solidFill>
                <a:latin typeface="Cambria" pitchFamily="34" charset="0"/>
                <a:ea typeface="Cambria" pitchFamily="34" charset="-122"/>
                <a:cs typeface="Cambria" pitchFamily="34" charset="-120"/>
              </a:rPr>
              <a:t>Limitations</a:t>
            </a:r>
            <a:endParaRPr lang="en-US" sz="1400" dirty="0"/>
          </a:p>
        </p:txBody>
      </p:sp>
      <p:sp>
        <p:nvSpPr>
          <p:cNvPr id="15" name="Text 13"/>
          <p:cNvSpPr/>
          <p:nvPr/>
        </p:nvSpPr>
        <p:spPr>
          <a:xfrm>
            <a:off x="4800600" y="1298448"/>
            <a:ext cx="3840480" cy="274320"/>
          </a:xfrm>
          <a:prstGeom prst="rect">
            <a:avLst/>
          </a:prstGeom>
          <a:noFill/>
          <a:ln/>
        </p:spPr>
        <p:txBody>
          <a:bodyPr wrap="square" lIns="0" tIns="0" rIns="0" bIns="0" rtlCol="0" anchor="ctr"/>
          <a:lstStyle/>
          <a:p>
            <a:pPr marL="0" indent="0">
              <a:buNone/>
            </a:pPr>
            <a:r>
              <a:rPr lang="en-US" sz="1100" b="1" dirty="0">
                <a:solidFill>
                  <a:srgbClr val="C53030"/>
                </a:solidFill>
                <a:latin typeface="Calibri" pitchFamily="34" charset="0"/>
                <a:ea typeface="Calibri" pitchFamily="34" charset="-122"/>
                <a:cs typeface="Calibri" pitchFamily="34" charset="-120"/>
              </a:rPr>
              <a:t>Small ABox scale</a:t>
            </a:r>
            <a:endParaRPr lang="en-US" sz="1100" dirty="0"/>
          </a:p>
        </p:txBody>
      </p:sp>
      <p:sp>
        <p:nvSpPr>
          <p:cNvPr id="16" name="Text 14"/>
          <p:cNvSpPr/>
          <p:nvPr/>
        </p:nvSpPr>
        <p:spPr>
          <a:xfrm>
            <a:off x="4800600" y="1572768"/>
            <a:ext cx="3840480" cy="41148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7 students and 5 submissions insufficient for real institutional scenarios</a:t>
            </a:r>
            <a:endParaRPr lang="en-US" sz="1000" dirty="0"/>
          </a:p>
        </p:txBody>
      </p:sp>
      <p:sp>
        <p:nvSpPr>
          <p:cNvPr id="17" name="Text 15"/>
          <p:cNvSpPr/>
          <p:nvPr/>
        </p:nvSpPr>
        <p:spPr>
          <a:xfrm>
            <a:off x="4800600" y="2103120"/>
            <a:ext cx="3840480" cy="274320"/>
          </a:xfrm>
          <a:prstGeom prst="rect">
            <a:avLst/>
          </a:prstGeom>
          <a:noFill/>
          <a:ln/>
        </p:spPr>
        <p:txBody>
          <a:bodyPr wrap="square" lIns="0" tIns="0" rIns="0" bIns="0" rtlCol="0" anchor="ctr"/>
          <a:lstStyle/>
          <a:p>
            <a:pPr marL="0" indent="0">
              <a:buNone/>
            </a:pPr>
            <a:r>
              <a:rPr lang="en-US" sz="1100" b="1" dirty="0">
                <a:solidFill>
                  <a:srgbClr val="C53030"/>
                </a:solidFill>
                <a:latin typeface="Calibri" pitchFamily="34" charset="0"/>
                <a:ea typeface="Calibri" pitchFamily="34" charset="-122"/>
                <a:cs typeface="Calibri" pitchFamily="34" charset="-120"/>
              </a:rPr>
              <a:t>LLM pipeline partial</a:t>
            </a:r>
            <a:endParaRPr lang="en-US" sz="1100" dirty="0"/>
          </a:p>
        </p:txBody>
      </p:sp>
      <p:sp>
        <p:nvSpPr>
          <p:cNvPr id="18" name="Text 16"/>
          <p:cNvSpPr/>
          <p:nvPr/>
        </p:nvSpPr>
        <p:spPr>
          <a:xfrm>
            <a:off x="4800600" y="2377440"/>
            <a:ext cx="3840480" cy="41148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Full end-to-end pipeline over real institutional documents not yet deployed</a:t>
            </a:r>
            <a:endParaRPr lang="en-US" sz="1000" dirty="0"/>
          </a:p>
        </p:txBody>
      </p:sp>
      <p:sp>
        <p:nvSpPr>
          <p:cNvPr id="19" name="Text 17"/>
          <p:cNvSpPr/>
          <p:nvPr/>
        </p:nvSpPr>
        <p:spPr>
          <a:xfrm>
            <a:off x="4800600" y="2907792"/>
            <a:ext cx="3840480" cy="274320"/>
          </a:xfrm>
          <a:prstGeom prst="rect">
            <a:avLst/>
          </a:prstGeom>
          <a:noFill/>
          <a:ln/>
        </p:spPr>
        <p:txBody>
          <a:bodyPr wrap="square" lIns="0" tIns="0" rIns="0" bIns="0" rtlCol="0" anchor="ctr"/>
          <a:lstStyle/>
          <a:p>
            <a:pPr marL="0" indent="0">
              <a:buNone/>
            </a:pPr>
            <a:r>
              <a:rPr lang="en-US" sz="1100" b="1" dirty="0">
                <a:solidFill>
                  <a:srgbClr val="C53030"/>
                </a:solidFill>
                <a:latin typeface="Calibri" pitchFamily="34" charset="0"/>
                <a:ea typeface="Calibri" pitchFamily="34" charset="-122"/>
                <a:cs typeface="Calibri" pitchFamily="34" charset="-120"/>
              </a:rPr>
              <a:t>Reasoner scalability</a:t>
            </a:r>
            <a:endParaRPr lang="en-US" sz="1100" dirty="0"/>
          </a:p>
        </p:txBody>
      </p:sp>
      <p:sp>
        <p:nvSpPr>
          <p:cNvPr id="20" name="Text 18"/>
          <p:cNvSpPr/>
          <p:nvPr/>
        </p:nvSpPr>
        <p:spPr>
          <a:xfrm>
            <a:off x="4800600" y="3182112"/>
            <a:ext cx="3840480" cy="41148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HermiT computational cost grows with ABox; may need optimisation for production</a:t>
            </a:r>
            <a:endParaRPr lang="en-US" sz="1000" dirty="0"/>
          </a:p>
        </p:txBody>
      </p:sp>
      <p:sp>
        <p:nvSpPr>
          <p:cNvPr id="21" name="Text 19"/>
          <p:cNvSpPr/>
          <p:nvPr/>
        </p:nvSpPr>
        <p:spPr>
          <a:xfrm>
            <a:off x="4800600" y="3712464"/>
            <a:ext cx="3840480" cy="274320"/>
          </a:xfrm>
          <a:prstGeom prst="rect">
            <a:avLst/>
          </a:prstGeom>
          <a:noFill/>
          <a:ln/>
        </p:spPr>
        <p:txBody>
          <a:bodyPr wrap="square" lIns="0" tIns="0" rIns="0" bIns="0" rtlCol="0" anchor="ctr"/>
          <a:lstStyle/>
          <a:p>
            <a:pPr marL="0" indent="0">
              <a:buNone/>
            </a:pPr>
            <a:r>
              <a:rPr lang="en-US" sz="1100" b="1" dirty="0">
                <a:solidFill>
                  <a:srgbClr val="C53030"/>
                </a:solidFill>
                <a:latin typeface="Calibri" pitchFamily="34" charset="0"/>
                <a:ea typeface="Calibri" pitchFamily="34" charset="-122"/>
                <a:cs typeface="Calibri" pitchFamily="34" charset="-120"/>
              </a:rPr>
              <a:t>Hallucination risk</a:t>
            </a:r>
            <a:endParaRPr lang="en-US" sz="1100" dirty="0"/>
          </a:p>
        </p:txBody>
      </p:sp>
      <p:sp>
        <p:nvSpPr>
          <p:cNvPr id="22" name="Text 20"/>
          <p:cNvSpPr/>
          <p:nvPr/>
        </p:nvSpPr>
        <p:spPr>
          <a:xfrm>
            <a:off x="4800600" y="3986784"/>
            <a:ext cx="3840480" cy="41148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Logically valid but factually wrong assertions evade reasoner detection</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2A4A"/>
          </a:solidFill>
          <a:ln w="12700">
            <a:solidFill>
              <a:srgbClr val="1B2A4A"/>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Future Work</a:t>
            </a:r>
            <a:endParaRPr lang="en-US" sz="2200" dirty="0"/>
          </a:p>
        </p:txBody>
      </p:sp>
      <p:sp>
        <p:nvSpPr>
          <p:cNvPr id="4" name="Shape 2"/>
          <p:cNvSpPr/>
          <p:nvPr/>
        </p:nvSpPr>
        <p:spPr>
          <a:xfrm>
            <a:off x="320040" y="804672"/>
            <a:ext cx="2743200" cy="1920240"/>
          </a:xfrm>
          <a:prstGeom prst="roundRect">
            <a:avLst>
              <a:gd name="adj" fmla="val 4762"/>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pic>
        <p:nvPicPr>
          <p:cNvPr id="5" name="Image 0" descr="preencoded.png"/>
          <p:cNvPicPr>
            <a:picLocks noChangeAspect="1"/>
          </p:cNvPicPr>
          <p:nvPr/>
        </p:nvPicPr>
        <p:blipFill>
          <a:blip r:embed="rId3"/>
          <a:stretch>
            <a:fillRect/>
          </a:stretch>
        </p:blipFill>
        <p:spPr>
          <a:xfrm>
            <a:off x="457200" y="923544"/>
            <a:ext cx="320040" cy="320040"/>
          </a:xfrm>
          <a:prstGeom prst="rect">
            <a:avLst/>
          </a:prstGeom>
        </p:spPr>
      </p:pic>
      <p:sp>
        <p:nvSpPr>
          <p:cNvPr id="6" name="Shape 3"/>
          <p:cNvSpPr/>
          <p:nvPr/>
        </p:nvSpPr>
        <p:spPr>
          <a:xfrm>
            <a:off x="2560320" y="923544"/>
            <a:ext cx="411480" cy="201168"/>
          </a:xfrm>
          <a:prstGeom prst="roundRect">
            <a:avLst>
              <a:gd name="adj" fmla="val 18182"/>
            </a:avLst>
          </a:prstGeom>
          <a:solidFill>
            <a:srgbClr val="E53E3E"/>
          </a:solidFill>
          <a:ln w="12700">
            <a:solidFill>
              <a:srgbClr val="E53E3E"/>
            </a:solidFill>
            <a:prstDash val="solid"/>
          </a:ln>
        </p:spPr>
      </p:sp>
      <p:sp>
        <p:nvSpPr>
          <p:cNvPr id="7" name="Text 4"/>
          <p:cNvSpPr/>
          <p:nvPr/>
        </p:nvSpPr>
        <p:spPr>
          <a:xfrm>
            <a:off x="2560320" y="923544"/>
            <a:ext cx="4114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8" name="Text 5"/>
          <p:cNvSpPr/>
          <p:nvPr/>
        </p:nvSpPr>
        <p:spPr>
          <a:xfrm>
            <a:off x="850392" y="896112"/>
            <a:ext cx="2084832" cy="438912"/>
          </a:xfrm>
          <a:prstGeom prst="rect">
            <a:avLst/>
          </a:prstGeom>
          <a:noFill/>
          <a:ln/>
        </p:spPr>
        <p:txBody>
          <a:bodyPr wrap="square" lIns="0" tIns="0" rIns="0" bIns="0" rtlCol="0" anchor="ctr"/>
          <a:lstStyle/>
          <a:p>
            <a:pPr marL="0" indent="0">
              <a:buNone/>
            </a:pPr>
            <a:r>
              <a:rPr lang="en-US" sz="1100" b="1" dirty="0">
                <a:solidFill>
                  <a:srgbClr val="1B2A4A"/>
                </a:solidFill>
                <a:latin typeface="Cambria" pitchFamily="34" charset="0"/>
                <a:ea typeface="Cambria" pitchFamily="34" charset="-122"/>
                <a:cs typeface="Cambria" pitchFamily="34" charset="-120"/>
              </a:rPr>
              <a:t>Real Institutional Deployment</a:t>
            </a:r>
            <a:endParaRPr lang="en-US" sz="1100" dirty="0"/>
          </a:p>
        </p:txBody>
      </p:sp>
      <p:sp>
        <p:nvSpPr>
          <p:cNvPr id="9" name="Text 6"/>
          <p:cNvSpPr/>
          <p:nvPr/>
        </p:nvSpPr>
        <p:spPr>
          <a:xfrm>
            <a:off x="457200" y="1399032"/>
            <a:ext cx="2487168" cy="1234440"/>
          </a:xfrm>
          <a:prstGeom prst="rect">
            <a:avLst/>
          </a:prstGeom>
          <a:noFill/>
          <a:ln/>
        </p:spPr>
        <p:txBody>
          <a:bodyPr wrap="square" lIns="0" tIns="0" rIns="0" bIns="0" rtlCol="0" anchor="t"/>
          <a:lstStyle/>
          <a:p>
            <a:pPr marL="0" indent="0">
              <a:buNone/>
            </a:pPr>
            <a:r>
              <a:rPr lang="en-US" sz="950" dirty="0">
                <a:solidFill>
                  <a:srgbClr val="4A5568"/>
                </a:solidFill>
                <a:latin typeface="Calibri" pitchFamily="34" charset="0"/>
                <a:ea typeface="Calibri" pitchFamily="34" charset="-122"/>
                <a:cs typeface="Calibri" pitchFamily="34" charset="-120"/>
              </a:rPr>
              <a:t>Replace simulated ABox with real LMS data (OULAD or institutional exports). Deploy the LLM population pipeline end-to-end over live course catalogues and gradebooks.</a:t>
            </a:r>
            <a:endParaRPr lang="en-US" sz="950" dirty="0"/>
          </a:p>
        </p:txBody>
      </p:sp>
      <p:sp>
        <p:nvSpPr>
          <p:cNvPr id="10" name="Shape 7"/>
          <p:cNvSpPr/>
          <p:nvPr/>
        </p:nvSpPr>
        <p:spPr>
          <a:xfrm>
            <a:off x="3264408" y="804672"/>
            <a:ext cx="2743200" cy="1920240"/>
          </a:xfrm>
          <a:prstGeom prst="roundRect">
            <a:avLst>
              <a:gd name="adj" fmla="val 4762"/>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pic>
        <p:nvPicPr>
          <p:cNvPr id="11" name="Image 1" descr="preencoded.png"/>
          <p:cNvPicPr>
            <a:picLocks noChangeAspect="1"/>
          </p:cNvPicPr>
          <p:nvPr/>
        </p:nvPicPr>
        <p:blipFill>
          <a:blip r:embed="rId4"/>
          <a:stretch>
            <a:fillRect/>
          </a:stretch>
        </p:blipFill>
        <p:spPr>
          <a:xfrm>
            <a:off x="3401568" y="923544"/>
            <a:ext cx="320040" cy="320040"/>
          </a:xfrm>
          <a:prstGeom prst="rect">
            <a:avLst/>
          </a:prstGeom>
        </p:spPr>
      </p:pic>
      <p:sp>
        <p:nvSpPr>
          <p:cNvPr id="12" name="Shape 8"/>
          <p:cNvSpPr/>
          <p:nvPr/>
        </p:nvSpPr>
        <p:spPr>
          <a:xfrm>
            <a:off x="5504688" y="923544"/>
            <a:ext cx="411480" cy="201168"/>
          </a:xfrm>
          <a:prstGeom prst="roundRect">
            <a:avLst>
              <a:gd name="adj" fmla="val 18182"/>
            </a:avLst>
          </a:prstGeom>
          <a:solidFill>
            <a:srgbClr val="E53E3E"/>
          </a:solidFill>
          <a:ln w="12700">
            <a:solidFill>
              <a:srgbClr val="E53E3E"/>
            </a:solidFill>
            <a:prstDash val="solid"/>
          </a:ln>
        </p:spPr>
      </p:sp>
      <p:sp>
        <p:nvSpPr>
          <p:cNvPr id="13" name="Text 9"/>
          <p:cNvSpPr/>
          <p:nvPr/>
        </p:nvSpPr>
        <p:spPr>
          <a:xfrm>
            <a:off x="5504688" y="923544"/>
            <a:ext cx="4114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14" name="Text 10"/>
          <p:cNvSpPr/>
          <p:nvPr/>
        </p:nvSpPr>
        <p:spPr>
          <a:xfrm>
            <a:off x="3794760" y="896112"/>
            <a:ext cx="2084832" cy="438912"/>
          </a:xfrm>
          <a:prstGeom prst="rect">
            <a:avLst/>
          </a:prstGeom>
          <a:noFill/>
          <a:ln/>
        </p:spPr>
        <p:txBody>
          <a:bodyPr wrap="square" lIns="0" tIns="0" rIns="0" bIns="0" rtlCol="0" anchor="ctr"/>
          <a:lstStyle/>
          <a:p>
            <a:pPr marL="0" indent="0">
              <a:buNone/>
            </a:pPr>
            <a:r>
              <a:rPr lang="en-US" sz="1100" b="1" dirty="0">
                <a:solidFill>
                  <a:srgbClr val="1B2A4A"/>
                </a:solidFill>
                <a:latin typeface="Cambria" pitchFamily="34" charset="0"/>
                <a:ea typeface="Cambria" pitchFamily="34" charset="-122"/>
                <a:cs typeface="Cambria" pitchFamily="34" charset="-120"/>
              </a:rPr>
              <a:t>SPARQL Analytics Dashboard</a:t>
            </a:r>
            <a:endParaRPr lang="en-US" sz="1100" dirty="0"/>
          </a:p>
        </p:txBody>
      </p:sp>
      <p:sp>
        <p:nvSpPr>
          <p:cNvPr id="15" name="Text 11"/>
          <p:cNvSpPr/>
          <p:nvPr/>
        </p:nvSpPr>
        <p:spPr>
          <a:xfrm>
            <a:off x="3401568" y="1399032"/>
            <a:ext cx="2487168" cy="1234440"/>
          </a:xfrm>
          <a:prstGeom prst="rect">
            <a:avLst/>
          </a:prstGeom>
          <a:noFill/>
          <a:ln/>
        </p:spPr>
        <p:txBody>
          <a:bodyPr wrap="square" lIns="0" tIns="0" rIns="0" bIns="0" rtlCol="0" anchor="t"/>
          <a:lstStyle/>
          <a:p>
            <a:pPr marL="0" indent="0">
              <a:buNone/>
            </a:pPr>
            <a:r>
              <a:rPr lang="en-US" sz="950" dirty="0">
                <a:solidFill>
                  <a:srgbClr val="4A5568"/>
                </a:solidFill>
                <a:latin typeface="Calibri" pitchFamily="34" charset="0"/>
                <a:ea typeface="Calibri" pitchFamily="34" charset="-122"/>
                <a:cs typeface="Calibri" pitchFamily="34" charset="-120"/>
              </a:rPr>
              <a:t>Integrate a web-based analytics frontend over a GraphDB or Apache Jena Fuseki triplestore. Provide real-time course performance monitoring and student progress tracking.</a:t>
            </a:r>
            <a:endParaRPr lang="en-US" sz="950" dirty="0"/>
          </a:p>
        </p:txBody>
      </p:sp>
      <p:sp>
        <p:nvSpPr>
          <p:cNvPr id="16" name="Shape 12"/>
          <p:cNvSpPr/>
          <p:nvPr/>
        </p:nvSpPr>
        <p:spPr>
          <a:xfrm>
            <a:off x="6208776" y="804672"/>
            <a:ext cx="2743200" cy="1920240"/>
          </a:xfrm>
          <a:prstGeom prst="roundRect">
            <a:avLst>
              <a:gd name="adj" fmla="val 4762"/>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pic>
        <p:nvPicPr>
          <p:cNvPr id="17" name="Image 2" descr="preencoded.png"/>
          <p:cNvPicPr>
            <a:picLocks noChangeAspect="1"/>
          </p:cNvPicPr>
          <p:nvPr/>
        </p:nvPicPr>
        <p:blipFill>
          <a:blip r:embed="rId5"/>
          <a:stretch>
            <a:fillRect/>
          </a:stretch>
        </p:blipFill>
        <p:spPr>
          <a:xfrm>
            <a:off x="6345936" y="923544"/>
            <a:ext cx="320040" cy="320040"/>
          </a:xfrm>
          <a:prstGeom prst="rect">
            <a:avLst/>
          </a:prstGeom>
        </p:spPr>
      </p:pic>
      <p:sp>
        <p:nvSpPr>
          <p:cNvPr id="18" name="Shape 13"/>
          <p:cNvSpPr/>
          <p:nvPr/>
        </p:nvSpPr>
        <p:spPr>
          <a:xfrm>
            <a:off x="8449056" y="923544"/>
            <a:ext cx="411480" cy="201168"/>
          </a:xfrm>
          <a:prstGeom prst="roundRect">
            <a:avLst>
              <a:gd name="adj" fmla="val 18182"/>
            </a:avLst>
          </a:prstGeom>
          <a:solidFill>
            <a:srgbClr val="F6AD55"/>
          </a:solidFill>
          <a:ln w="12700">
            <a:solidFill>
              <a:srgbClr val="F6AD55"/>
            </a:solidFill>
            <a:prstDash val="solid"/>
          </a:ln>
        </p:spPr>
      </p:sp>
      <p:sp>
        <p:nvSpPr>
          <p:cNvPr id="19" name="Text 14"/>
          <p:cNvSpPr/>
          <p:nvPr/>
        </p:nvSpPr>
        <p:spPr>
          <a:xfrm>
            <a:off x="8449056" y="923544"/>
            <a:ext cx="4114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MED</a:t>
            </a:r>
            <a:endParaRPr lang="en-US" sz="700" dirty="0"/>
          </a:p>
        </p:txBody>
      </p:sp>
      <p:sp>
        <p:nvSpPr>
          <p:cNvPr id="20" name="Text 15"/>
          <p:cNvSpPr/>
          <p:nvPr/>
        </p:nvSpPr>
        <p:spPr>
          <a:xfrm>
            <a:off x="6739128" y="896112"/>
            <a:ext cx="2084832" cy="438912"/>
          </a:xfrm>
          <a:prstGeom prst="rect">
            <a:avLst/>
          </a:prstGeom>
          <a:noFill/>
          <a:ln/>
        </p:spPr>
        <p:txBody>
          <a:bodyPr wrap="square" lIns="0" tIns="0" rIns="0" bIns="0" rtlCol="0" anchor="ctr"/>
          <a:lstStyle/>
          <a:p>
            <a:pPr marL="0" indent="0">
              <a:buNone/>
            </a:pPr>
            <a:r>
              <a:rPr lang="en-US" sz="1100" b="1" dirty="0">
                <a:solidFill>
                  <a:srgbClr val="1B2A4A"/>
                </a:solidFill>
                <a:latin typeface="Cambria" pitchFamily="34" charset="0"/>
                <a:ea typeface="Cambria" pitchFamily="34" charset="-122"/>
                <a:cs typeface="Cambria" pitchFamily="34" charset="-120"/>
              </a:rPr>
              <a:t>Student Behaviour Modelling</a:t>
            </a:r>
            <a:endParaRPr lang="en-US" sz="1100" dirty="0"/>
          </a:p>
        </p:txBody>
      </p:sp>
      <p:sp>
        <p:nvSpPr>
          <p:cNvPr id="21" name="Text 16"/>
          <p:cNvSpPr/>
          <p:nvPr/>
        </p:nvSpPr>
        <p:spPr>
          <a:xfrm>
            <a:off x="6345936" y="1399032"/>
            <a:ext cx="2487168" cy="1234440"/>
          </a:xfrm>
          <a:prstGeom prst="rect">
            <a:avLst/>
          </a:prstGeom>
          <a:noFill/>
          <a:ln/>
        </p:spPr>
        <p:txBody>
          <a:bodyPr wrap="square" lIns="0" tIns="0" rIns="0" bIns="0" rtlCol="0" anchor="t"/>
          <a:lstStyle/>
          <a:p>
            <a:pPr marL="0" indent="0">
              <a:buNone/>
            </a:pPr>
            <a:r>
              <a:rPr lang="en-US" sz="950" dirty="0">
                <a:solidFill>
                  <a:srgbClr val="4A5568"/>
                </a:solidFill>
                <a:latin typeface="Calibri" pitchFamily="34" charset="0"/>
                <a:ea typeface="Calibri" pitchFamily="34" charset="-122"/>
                <a:cs typeface="Calibri" pitchFamily="34" charset="-120"/>
              </a:rPr>
              <a:t>Extend ontology to support GRU-RNN based student behaviour prediction as described in reviewed Fernandez et al. (2023) paper — linking ontology data with ML models.</a:t>
            </a:r>
            <a:endParaRPr lang="en-US" sz="950" dirty="0"/>
          </a:p>
        </p:txBody>
      </p:sp>
      <p:sp>
        <p:nvSpPr>
          <p:cNvPr id="22" name="Shape 17"/>
          <p:cNvSpPr/>
          <p:nvPr/>
        </p:nvSpPr>
        <p:spPr>
          <a:xfrm>
            <a:off x="320040" y="2862072"/>
            <a:ext cx="2743200" cy="1920240"/>
          </a:xfrm>
          <a:prstGeom prst="roundRect">
            <a:avLst>
              <a:gd name="adj" fmla="val 4762"/>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pic>
        <p:nvPicPr>
          <p:cNvPr id="23" name="Image 3" descr="preencoded.png"/>
          <p:cNvPicPr>
            <a:picLocks noChangeAspect="1"/>
          </p:cNvPicPr>
          <p:nvPr/>
        </p:nvPicPr>
        <p:blipFill>
          <a:blip r:embed="rId6"/>
          <a:stretch>
            <a:fillRect/>
          </a:stretch>
        </p:blipFill>
        <p:spPr>
          <a:xfrm>
            <a:off x="457200" y="2980944"/>
            <a:ext cx="320040" cy="320040"/>
          </a:xfrm>
          <a:prstGeom prst="rect">
            <a:avLst/>
          </a:prstGeom>
        </p:spPr>
      </p:pic>
      <p:sp>
        <p:nvSpPr>
          <p:cNvPr id="24" name="Shape 18"/>
          <p:cNvSpPr/>
          <p:nvPr/>
        </p:nvSpPr>
        <p:spPr>
          <a:xfrm>
            <a:off x="2560320" y="2980944"/>
            <a:ext cx="411480" cy="201168"/>
          </a:xfrm>
          <a:prstGeom prst="roundRect">
            <a:avLst>
              <a:gd name="adj" fmla="val 18182"/>
            </a:avLst>
          </a:prstGeom>
          <a:solidFill>
            <a:srgbClr val="F6AD55"/>
          </a:solidFill>
          <a:ln w="12700">
            <a:solidFill>
              <a:srgbClr val="F6AD55"/>
            </a:solidFill>
            <a:prstDash val="solid"/>
          </a:ln>
        </p:spPr>
      </p:sp>
      <p:sp>
        <p:nvSpPr>
          <p:cNvPr id="25" name="Text 19"/>
          <p:cNvSpPr/>
          <p:nvPr/>
        </p:nvSpPr>
        <p:spPr>
          <a:xfrm>
            <a:off x="2560320" y="2980944"/>
            <a:ext cx="4114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MED</a:t>
            </a:r>
            <a:endParaRPr lang="en-US" sz="700" dirty="0"/>
          </a:p>
        </p:txBody>
      </p:sp>
      <p:sp>
        <p:nvSpPr>
          <p:cNvPr id="26" name="Text 20"/>
          <p:cNvSpPr/>
          <p:nvPr/>
        </p:nvSpPr>
        <p:spPr>
          <a:xfrm>
            <a:off x="850392" y="2953512"/>
            <a:ext cx="2084832" cy="438912"/>
          </a:xfrm>
          <a:prstGeom prst="rect">
            <a:avLst/>
          </a:prstGeom>
          <a:noFill/>
          <a:ln/>
        </p:spPr>
        <p:txBody>
          <a:bodyPr wrap="square" lIns="0" tIns="0" rIns="0" bIns="0" rtlCol="0" anchor="ctr"/>
          <a:lstStyle/>
          <a:p>
            <a:pPr marL="0" indent="0">
              <a:buNone/>
            </a:pPr>
            <a:r>
              <a:rPr lang="en-US" sz="1100" b="1" dirty="0">
                <a:solidFill>
                  <a:srgbClr val="1B2A4A"/>
                </a:solidFill>
                <a:latin typeface="Cambria" pitchFamily="34" charset="0"/>
                <a:ea typeface="Cambria" pitchFamily="34" charset="-122"/>
                <a:cs typeface="Cambria" pitchFamily="34" charset="-120"/>
              </a:rPr>
              <a:t>Ontology Alignment &amp; Interoperability</a:t>
            </a:r>
            <a:endParaRPr lang="en-US" sz="1100" dirty="0"/>
          </a:p>
        </p:txBody>
      </p:sp>
      <p:sp>
        <p:nvSpPr>
          <p:cNvPr id="27" name="Text 21"/>
          <p:cNvSpPr/>
          <p:nvPr/>
        </p:nvSpPr>
        <p:spPr>
          <a:xfrm>
            <a:off x="457200" y="3456432"/>
            <a:ext cx="2487168" cy="1234440"/>
          </a:xfrm>
          <a:prstGeom prst="rect">
            <a:avLst/>
          </a:prstGeom>
          <a:noFill/>
          <a:ln/>
        </p:spPr>
        <p:txBody>
          <a:bodyPr wrap="square" lIns="0" tIns="0" rIns="0" bIns="0" rtlCol="0" anchor="t"/>
          <a:lstStyle/>
          <a:p>
            <a:pPr marL="0" indent="0">
              <a:buNone/>
            </a:pPr>
            <a:r>
              <a:rPr lang="en-US" sz="950" dirty="0">
                <a:solidFill>
                  <a:srgbClr val="4A5568"/>
                </a:solidFill>
                <a:latin typeface="Calibri" pitchFamily="34" charset="0"/>
                <a:ea typeface="Calibri" pitchFamily="34" charset="-122"/>
                <a:cs typeface="Calibri" pitchFamily="34" charset="-120"/>
              </a:rPr>
              <a:t>Map to established educational ontologies (IEEE LOM, Dublin Core, Schema.org). Enable federation queries and interoperability across institutional systems.</a:t>
            </a:r>
            <a:endParaRPr lang="en-US" sz="950" dirty="0"/>
          </a:p>
        </p:txBody>
      </p:sp>
      <p:sp>
        <p:nvSpPr>
          <p:cNvPr id="28" name="Shape 22"/>
          <p:cNvSpPr/>
          <p:nvPr/>
        </p:nvSpPr>
        <p:spPr>
          <a:xfrm>
            <a:off x="3264408" y="2862072"/>
            <a:ext cx="2743200" cy="1920240"/>
          </a:xfrm>
          <a:prstGeom prst="roundRect">
            <a:avLst>
              <a:gd name="adj" fmla="val 4762"/>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pic>
        <p:nvPicPr>
          <p:cNvPr id="29" name="Image 4" descr="preencoded.png"/>
          <p:cNvPicPr>
            <a:picLocks noChangeAspect="1"/>
          </p:cNvPicPr>
          <p:nvPr/>
        </p:nvPicPr>
        <p:blipFill>
          <a:blip r:embed="rId7"/>
          <a:stretch>
            <a:fillRect/>
          </a:stretch>
        </p:blipFill>
        <p:spPr>
          <a:xfrm>
            <a:off x="3401568" y="2980944"/>
            <a:ext cx="320040" cy="320040"/>
          </a:xfrm>
          <a:prstGeom prst="rect">
            <a:avLst/>
          </a:prstGeom>
        </p:spPr>
      </p:pic>
      <p:sp>
        <p:nvSpPr>
          <p:cNvPr id="30" name="Shape 23"/>
          <p:cNvSpPr/>
          <p:nvPr/>
        </p:nvSpPr>
        <p:spPr>
          <a:xfrm>
            <a:off x="5504688" y="2980944"/>
            <a:ext cx="411480" cy="201168"/>
          </a:xfrm>
          <a:prstGeom prst="roundRect">
            <a:avLst>
              <a:gd name="adj" fmla="val 18182"/>
            </a:avLst>
          </a:prstGeom>
          <a:solidFill>
            <a:srgbClr val="F6AD55"/>
          </a:solidFill>
          <a:ln w="12700">
            <a:solidFill>
              <a:srgbClr val="F6AD55"/>
            </a:solidFill>
            <a:prstDash val="solid"/>
          </a:ln>
        </p:spPr>
      </p:sp>
      <p:sp>
        <p:nvSpPr>
          <p:cNvPr id="31" name="Text 24"/>
          <p:cNvSpPr/>
          <p:nvPr/>
        </p:nvSpPr>
        <p:spPr>
          <a:xfrm>
            <a:off x="5504688" y="2980944"/>
            <a:ext cx="4114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MED</a:t>
            </a:r>
            <a:endParaRPr lang="en-US" sz="700" dirty="0"/>
          </a:p>
        </p:txBody>
      </p:sp>
      <p:sp>
        <p:nvSpPr>
          <p:cNvPr id="32" name="Text 25"/>
          <p:cNvSpPr/>
          <p:nvPr/>
        </p:nvSpPr>
        <p:spPr>
          <a:xfrm>
            <a:off x="3794760" y="2953512"/>
            <a:ext cx="2084832" cy="438912"/>
          </a:xfrm>
          <a:prstGeom prst="rect">
            <a:avLst/>
          </a:prstGeom>
          <a:noFill/>
          <a:ln/>
        </p:spPr>
        <p:txBody>
          <a:bodyPr wrap="square" lIns="0" tIns="0" rIns="0" bIns="0" rtlCol="0" anchor="ctr"/>
          <a:lstStyle/>
          <a:p>
            <a:pPr marL="0" indent="0">
              <a:buNone/>
            </a:pPr>
            <a:r>
              <a:rPr lang="en-US" sz="1100" b="1" dirty="0">
                <a:solidFill>
                  <a:srgbClr val="1B2A4A"/>
                </a:solidFill>
                <a:latin typeface="Cambria" pitchFamily="34" charset="0"/>
                <a:ea typeface="Cambria" pitchFamily="34" charset="-122"/>
                <a:cs typeface="Cambria" pitchFamily="34" charset="-120"/>
              </a:rPr>
              <a:t>Extended SHACL Suite</a:t>
            </a:r>
            <a:endParaRPr lang="en-US" sz="1100" dirty="0"/>
          </a:p>
        </p:txBody>
      </p:sp>
      <p:sp>
        <p:nvSpPr>
          <p:cNvPr id="33" name="Text 26"/>
          <p:cNvSpPr/>
          <p:nvPr/>
        </p:nvSpPr>
        <p:spPr>
          <a:xfrm>
            <a:off x="3401568" y="3456432"/>
            <a:ext cx="2487168" cy="1234440"/>
          </a:xfrm>
          <a:prstGeom prst="rect">
            <a:avLst/>
          </a:prstGeom>
          <a:noFill/>
          <a:ln/>
        </p:spPr>
        <p:txBody>
          <a:bodyPr wrap="square" lIns="0" tIns="0" rIns="0" bIns="0" rtlCol="0" anchor="t"/>
          <a:lstStyle/>
          <a:p>
            <a:pPr marL="0" indent="0">
              <a:buNone/>
            </a:pPr>
            <a:r>
              <a:rPr lang="en-US" sz="950" dirty="0">
                <a:solidFill>
                  <a:srgbClr val="4A5568"/>
                </a:solidFill>
                <a:latin typeface="Calibri" pitchFamily="34" charset="0"/>
                <a:ea typeface="Calibri" pitchFamily="34" charset="-122"/>
                <a:cs typeface="Calibri" pitchFamily="34" charset="-120"/>
              </a:rPr>
              <a:t>Add SHACL constraints for grade distribution anomalies, enrollment caps, and LearningObjective coverage. Support automated quality reporting.</a:t>
            </a:r>
            <a:endParaRPr lang="en-US" sz="950" dirty="0"/>
          </a:p>
        </p:txBody>
      </p:sp>
      <p:sp>
        <p:nvSpPr>
          <p:cNvPr id="34" name="Shape 27"/>
          <p:cNvSpPr/>
          <p:nvPr/>
        </p:nvSpPr>
        <p:spPr>
          <a:xfrm>
            <a:off x="6208776" y="2862072"/>
            <a:ext cx="2743200" cy="1920240"/>
          </a:xfrm>
          <a:prstGeom prst="roundRect">
            <a:avLst>
              <a:gd name="adj" fmla="val 4762"/>
            </a:avLst>
          </a:prstGeom>
          <a:solidFill>
            <a:srgbClr val="FFFFFF"/>
          </a:solidFill>
          <a:ln w="12700">
            <a:solidFill>
              <a:srgbClr val="D4F1F4"/>
            </a:solidFill>
            <a:prstDash val="solid"/>
          </a:ln>
          <a:effectLst>
            <a:outerShdw blurRad="101600" dist="25400" dir="2700000" algn="bl" rotWithShape="0">
              <a:srgbClr val="000000">
                <a:alpha val="12000"/>
              </a:srgbClr>
            </a:outerShdw>
          </a:effectLst>
        </p:spPr>
      </p:sp>
      <p:pic>
        <p:nvPicPr>
          <p:cNvPr id="35" name="Image 5" descr="preencoded.png"/>
          <p:cNvPicPr>
            <a:picLocks noChangeAspect="1"/>
          </p:cNvPicPr>
          <p:nvPr/>
        </p:nvPicPr>
        <p:blipFill>
          <a:blip r:embed="rId8"/>
          <a:stretch>
            <a:fillRect/>
          </a:stretch>
        </p:blipFill>
        <p:spPr>
          <a:xfrm>
            <a:off x="6345936" y="2980944"/>
            <a:ext cx="320040" cy="320040"/>
          </a:xfrm>
          <a:prstGeom prst="rect">
            <a:avLst/>
          </a:prstGeom>
        </p:spPr>
      </p:pic>
      <p:sp>
        <p:nvSpPr>
          <p:cNvPr id="36" name="Shape 28"/>
          <p:cNvSpPr/>
          <p:nvPr/>
        </p:nvSpPr>
        <p:spPr>
          <a:xfrm>
            <a:off x="8449056" y="2980944"/>
            <a:ext cx="411480" cy="201168"/>
          </a:xfrm>
          <a:prstGeom prst="roundRect">
            <a:avLst>
              <a:gd name="adj" fmla="val 18182"/>
            </a:avLst>
          </a:prstGeom>
          <a:solidFill>
            <a:srgbClr val="718096"/>
          </a:solidFill>
          <a:ln w="12700">
            <a:solidFill>
              <a:srgbClr val="718096"/>
            </a:solidFill>
            <a:prstDash val="solid"/>
          </a:ln>
        </p:spPr>
      </p:sp>
      <p:sp>
        <p:nvSpPr>
          <p:cNvPr id="37" name="Text 29"/>
          <p:cNvSpPr/>
          <p:nvPr/>
        </p:nvSpPr>
        <p:spPr>
          <a:xfrm>
            <a:off x="8449056" y="2980944"/>
            <a:ext cx="4114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LOW</a:t>
            </a:r>
            <a:endParaRPr lang="en-US" sz="700" dirty="0"/>
          </a:p>
        </p:txBody>
      </p:sp>
      <p:sp>
        <p:nvSpPr>
          <p:cNvPr id="38" name="Text 30"/>
          <p:cNvSpPr/>
          <p:nvPr/>
        </p:nvSpPr>
        <p:spPr>
          <a:xfrm>
            <a:off x="6739128" y="2953512"/>
            <a:ext cx="2084832" cy="438912"/>
          </a:xfrm>
          <a:prstGeom prst="rect">
            <a:avLst/>
          </a:prstGeom>
          <a:noFill/>
          <a:ln/>
        </p:spPr>
        <p:txBody>
          <a:bodyPr wrap="square" lIns="0" tIns="0" rIns="0" bIns="0" rtlCol="0" anchor="ctr"/>
          <a:lstStyle/>
          <a:p>
            <a:pPr marL="0" indent="0">
              <a:buNone/>
            </a:pPr>
            <a:r>
              <a:rPr lang="en-US" sz="1100" b="1" dirty="0">
                <a:solidFill>
                  <a:srgbClr val="1B2A4A"/>
                </a:solidFill>
                <a:latin typeface="Cambria" pitchFamily="34" charset="0"/>
                <a:ea typeface="Cambria" pitchFamily="34" charset="-122"/>
                <a:cs typeface="Cambria" pitchFamily="34" charset="-120"/>
              </a:rPr>
              <a:t>LLM Fine-Tuning</a:t>
            </a:r>
            <a:endParaRPr lang="en-US" sz="1100" dirty="0"/>
          </a:p>
        </p:txBody>
      </p:sp>
      <p:sp>
        <p:nvSpPr>
          <p:cNvPr id="39" name="Text 31"/>
          <p:cNvSpPr/>
          <p:nvPr/>
        </p:nvSpPr>
        <p:spPr>
          <a:xfrm>
            <a:off x="6345936" y="3456432"/>
            <a:ext cx="2487168" cy="1234440"/>
          </a:xfrm>
          <a:prstGeom prst="rect">
            <a:avLst/>
          </a:prstGeom>
          <a:noFill/>
          <a:ln/>
        </p:spPr>
        <p:txBody>
          <a:bodyPr wrap="square" lIns="0" tIns="0" rIns="0" bIns="0" rtlCol="0" anchor="t"/>
          <a:lstStyle/>
          <a:p>
            <a:pPr marL="0" indent="0">
              <a:buNone/>
            </a:pPr>
            <a:r>
              <a:rPr lang="en-US" sz="950" dirty="0">
                <a:solidFill>
                  <a:srgbClr val="4A5568"/>
                </a:solidFill>
                <a:latin typeface="Calibri" pitchFamily="34" charset="0"/>
                <a:ea typeface="Calibri" pitchFamily="34" charset="-122"/>
                <a:cs typeface="Calibri" pitchFamily="34" charset="-120"/>
              </a:rPr>
              <a:t>Fine-tune a domain-specific language model on educational text to improve extraction accuracy and reduce hallucinations. Evaluate on benchmark extraction tasks.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AD55"/>
          </a:solidFill>
          <a:ln w="12700">
            <a:solidFill>
              <a:srgbClr val="F6AD55"/>
            </a:solidFill>
            <a:prstDash val="solid"/>
          </a:ln>
        </p:spPr>
      </p:sp>
      <p:sp>
        <p:nvSpPr>
          <p:cNvPr id="3" name="Text 1"/>
          <p:cNvSpPr/>
          <p:nvPr/>
        </p:nvSpPr>
        <p:spPr>
          <a:xfrm>
            <a:off x="548640" y="228600"/>
            <a:ext cx="8046720" cy="640080"/>
          </a:xfrm>
          <a:prstGeom prst="rect">
            <a:avLst/>
          </a:prstGeom>
          <a:noFill/>
          <a:ln/>
        </p:spPr>
        <p:txBody>
          <a:bodyPr wrap="square"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Conclusion</a:t>
            </a:r>
            <a:endParaRPr lang="en-US" sz="2800" dirty="0"/>
          </a:p>
        </p:txBody>
      </p:sp>
      <p:sp>
        <p:nvSpPr>
          <p:cNvPr id="4" name="Shape 2"/>
          <p:cNvSpPr/>
          <p:nvPr/>
        </p:nvSpPr>
        <p:spPr>
          <a:xfrm>
            <a:off x="457200" y="1024128"/>
            <a:ext cx="8229600" cy="566928"/>
          </a:xfrm>
          <a:prstGeom prst="roundRect">
            <a:avLst>
              <a:gd name="adj" fmla="val 12903"/>
            </a:avLst>
          </a:prstGeom>
          <a:solidFill>
            <a:srgbClr val="243855"/>
          </a:solidFill>
          <a:ln w="12700">
            <a:solidFill>
              <a:srgbClr val="2D4A6E"/>
            </a:solidFill>
            <a:prstDash val="solid"/>
          </a:ln>
        </p:spPr>
      </p:sp>
      <p:pic>
        <p:nvPicPr>
          <p:cNvPr id="5" name="Image 0" descr="preencoded.png"/>
          <p:cNvPicPr>
            <a:picLocks noChangeAspect="1"/>
          </p:cNvPicPr>
          <p:nvPr/>
        </p:nvPicPr>
        <p:blipFill>
          <a:blip r:embed="rId3"/>
          <a:stretch>
            <a:fillRect/>
          </a:stretch>
        </p:blipFill>
        <p:spPr>
          <a:xfrm>
            <a:off x="640080" y="1097280"/>
            <a:ext cx="320040" cy="320040"/>
          </a:xfrm>
          <a:prstGeom prst="rect">
            <a:avLst/>
          </a:prstGeom>
        </p:spPr>
      </p:pic>
      <p:sp>
        <p:nvSpPr>
          <p:cNvPr id="6" name="Text 3"/>
          <p:cNvSpPr/>
          <p:nvPr/>
        </p:nvSpPr>
        <p:spPr>
          <a:xfrm>
            <a:off x="1097280" y="1051560"/>
            <a:ext cx="7406640" cy="5486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OWL 2 DL ontology — 11 classes · 18 object props · 15 datatype props</a:t>
            </a:r>
            <a:endParaRPr lang="en-US" sz="1100" dirty="0"/>
          </a:p>
        </p:txBody>
      </p:sp>
      <p:sp>
        <p:nvSpPr>
          <p:cNvPr id="7" name="Shape 4"/>
          <p:cNvSpPr/>
          <p:nvPr/>
        </p:nvSpPr>
        <p:spPr>
          <a:xfrm>
            <a:off x="457200" y="1664208"/>
            <a:ext cx="8229600" cy="566928"/>
          </a:xfrm>
          <a:prstGeom prst="roundRect">
            <a:avLst>
              <a:gd name="adj" fmla="val 12903"/>
            </a:avLst>
          </a:prstGeom>
          <a:solidFill>
            <a:srgbClr val="243855"/>
          </a:solidFill>
          <a:ln w="12700">
            <a:solidFill>
              <a:srgbClr val="2D4A6E"/>
            </a:solidFill>
            <a:prstDash val="solid"/>
          </a:ln>
        </p:spPr>
      </p:sp>
      <p:pic>
        <p:nvPicPr>
          <p:cNvPr id="8" name="Image 1" descr="preencoded.png"/>
          <p:cNvPicPr>
            <a:picLocks noChangeAspect="1"/>
          </p:cNvPicPr>
          <p:nvPr/>
        </p:nvPicPr>
        <p:blipFill>
          <a:blip r:embed="rId4"/>
          <a:stretch>
            <a:fillRect/>
          </a:stretch>
        </p:blipFill>
        <p:spPr>
          <a:xfrm>
            <a:off x="640080" y="1737360"/>
            <a:ext cx="320040" cy="320040"/>
          </a:xfrm>
          <a:prstGeom prst="rect">
            <a:avLst/>
          </a:prstGeom>
        </p:spPr>
      </p:pic>
      <p:sp>
        <p:nvSpPr>
          <p:cNvPr id="9" name="Text 5"/>
          <p:cNvSpPr/>
          <p:nvPr/>
        </p:nvSpPr>
        <p:spPr>
          <a:xfrm>
            <a:off x="1097280" y="1691640"/>
            <a:ext cx="7406640" cy="5486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HermiT reasoning — LateSubmission inference · transitive prerequisites · consistency check</a:t>
            </a:r>
            <a:endParaRPr lang="en-US" sz="1100" dirty="0"/>
          </a:p>
        </p:txBody>
      </p:sp>
      <p:sp>
        <p:nvSpPr>
          <p:cNvPr id="10" name="Shape 6"/>
          <p:cNvSpPr/>
          <p:nvPr/>
        </p:nvSpPr>
        <p:spPr>
          <a:xfrm>
            <a:off x="457200" y="2304288"/>
            <a:ext cx="8229600" cy="566928"/>
          </a:xfrm>
          <a:prstGeom prst="roundRect">
            <a:avLst>
              <a:gd name="adj" fmla="val 12903"/>
            </a:avLst>
          </a:prstGeom>
          <a:solidFill>
            <a:srgbClr val="243855"/>
          </a:solidFill>
          <a:ln w="12700">
            <a:solidFill>
              <a:srgbClr val="2D4A6E"/>
            </a:solidFill>
            <a:prstDash val="solid"/>
          </a:ln>
        </p:spPr>
      </p:sp>
      <p:pic>
        <p:nvPicPr>
          <p:cNvPr id="11" name="Image 2" descr="preencoded.png"/>
          <p:cNvPicPr>
            <a:picLocks noChangeAspect="1"/>
          </p:cNvPicPr>
          <p:nvPr/>
        </p:nvPicPr>
        <p:blipFill>
          <a:blip r:embed="rId5"/>
          <a:stretch>
            <a:fillRect/>
          </a:stretch>
        </p:blipFill>
        <p:spPr>
          <a:xfrm>
            <a:off x="640080" y="2377440"/>
            <a:ext cx="320040" cy="320040"/>
          </a:xfrm>
          <a:prstGeom prst="rect">
            <a:avLst/>
          </a:prstGeom>
        </p:spPr>
      </p:pic>
      <p:sp>
        <p:nvSpPr>
          <p:cNvPr id="12" name="Text 7"/>
          <p:cNvSpPr/>
          <p:nvPr/>
        </p:nvSpPr>
        <p:spPr>
          <a:xfrm>
            <a:off x="1097280" y="2331720"/>
            <a:ext cx="7406640" cy="5486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18 SPARQL competency questions — retrieval · aggregation · inference queries</a:t>
            </a:r>
            <a:endParaRPr lang="en-US" sz="1100" dirty="0"/>
          </a:p>
        </p:txBody>
      </p:sp>
      <p:sp>
        <p:nvSpPr>
          <p:cNvPr id="13" name="Shape 8"/>
          <p:cNvSpPr/>
          <p:nvPr/>
        </p:nvSpPr>
        <p:spPr>
          <a:xfrm>
            <a:off x="457200" y="2944368"/>
            <a:ext cx="8229600" cy="566928"/>
          </a:xfrm>
          <a:prstGeom prst="roundRect">
            <a:avLst>
              <a:gd name="adj" fmla="val 12903"/>
            </a:avLst>
          </a:prstGeom>
          <a:solidFill>
            <a:srgbClr val="243855"/>
          </a:solidFill>
          <a:ln w="12700">
            <a:solidFill>
              <a:srgbClr val="2D4A6E"/>
            </a:solidFill>
            <a:prstDash val="solid"/>
          </a:ln>
        </p:spPr>
      </p:sp>
      <p:pic>
        <p:nvPicPr>
          <p:cNvPr id="14" name="Image 3" descr="preencoded.png"/>
          <p:cNvPicPr>
            <a:picLocks noChangeAspect="1"/>
          </p:cNvPicPr>
          <p:nvPr/>
        </p:nvPicPr>
        <p:blipFill>
          <a:blip r:embed="rId6"/>
          <a:stretch>
            <a:fillRect/>
          </a:stretch>
        </p:blipFill>
        <p:spPr>
          <a:xfrm>
            <a:off x="640080" y="3017520"/>
            <a:ext cx="320040" cy="320040"/>
          </a:xfrm>
          <a:prstGeom prst="rect">
            <a:avLst/>
          </a:prstGeom>
        </p:spPr>
      </p:pic>
      <p:sp>
        <p:nvSpPr>
          <p:cNvPr id="15" name="Text 9"/>
          <p:cNvSpPr/>
          <p:nvPr/>
        </p:nvSpPr>
        <p:spPr>
          <a:xfrm>
            <a:off x="1097280" y="2971800"/>
            <a:ext cx="7406640" cy="5486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SHACL validation — 4 shapes · all deliberate violations detected</a:t>
            </a:r>
            <a:endParaRPr lang="en-US" sz="1100" dirty="0"/>
          </a:p>
        </p:txBody>
      </p:sp>
      <p:sp>
        <p:nvSpPr>
          <p:cNvPr id="16" name="Shape 10"/>
          <p:cNvSpPr/>
          <p:nvPr/>
        </p:nvSpPr>
        <p:spPr>
          <a:xfrm>
            <a:off x="457200" y="3584448"/>
            <a:ext cx="8229600" cy="566928"/>
          </a:xfrm>
          <a:prstGeom prst="roundRect">
            <a:avLst>
              <a:gd name="adj" fmla="val 12903"/>
            </a:avLst>
          </a:prstGeom>
          <a:solidFill>
            <a:srgbClr val="243855"/>
          </a:solidFill>
          <a:ln w="12700">
            <a:solidFill>
              <a:srgbClr val="2D4A6E"/>
            </a:solidFill>
            <a:prstDash val="solid"/>
          </a:ln>
        </p:spPr>
      </p:sp>
      <p:pic>
        <p:nvPicPr>
          <p:cNvPr id="17" name="Image 4" descr="preencoded.png"/>
          <p:cNvPicPr>
            <a:picLocks noChangeAspect="1"/>
          </p:cNvPicPr>
          <p:nvPr/>
        </p:nvPicPr>
        <p:blipFill>
          <a:blip r:embed="rId7"/>
          <a:stretch>
            <a:fillRect/>
          </a:stretch>
        </p:blipFill>
        <p:spPr>
          <a:xfrm>
            <a:off x="640080" y="3657600"/>
            <a:ext cx="320040" cy="320040"/>
          </a:xfrm>
          <a:prstGeom prst="rect">
            <a:avLst/>
          </a:prstGeom>
        </p:spPr>
      </p:pic>
      <p:sp>
        <p:nvSpPr>
          <p:cNvPr id="18" name="Text 11"/>
          <p:cNvSpPr/>
          <p:nvPr/>
        </p:nvSpPr>
        <p:spPr>
          <a:xfrm>
            <a:off x="1097280" y="3611880"/>
            <a:ext cx="7406640" cy="5486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LLM integration — 7-stage pipeline · 3-layer hallucination mitigation</a:t>
            </a:r>
            <a:endParaRPr lang="en-US" sz="1100" dirty="0"/>
          </a:p>
        </p:txBody>
      </p:sp>
      <p:sp>
        <p:nvSpPr>
          <p:cNvPr id="19" name="Shape 12"/>
          <p:cNvSpPr/>
          <p:nvPr/>
        </p:nvSpPr>
        <p:spPr>
          <a:xfrm>
            <a:off x="1828800" y="4315968"/>
            <a:ext cx="5486400" cy="594360"/>
          </a:xfrm>
          <a:prstGeom prst="roundRect">
            <a:avLst>
              <a:gd name="adj" fmla="val 15385"/>
            </a:avLst>
          </a:prstGeom>
          <a:solidFill>
            <a:srgbClr val="0E9AA7"/>
          </a:solidFill>
          <a:ln w="12700">
            <a:solidFill>
              <a:srgbClr val="0E9AA7"/>
            </a:solidFill>
            <a:prstDash val="solid"/>
          </a:ln>
        </p:spPr>
      </p:sp>
      <p:sp>
        <p:nvSpPr>
          <p:cNvPr id="20" name="Text 13"/>
          <p:cNvSpPr/>
          <p:nvPr/>
        </p:nvSpPr>
        <p:spPr>
          <a:xfrm>
            <a:off x="1828800" y="4315968"/>
            <a:ext cx="548640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Questions &amp; Discussion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3273</Words>
  <Application>Microsoft Office PowerPoint</Application>
  <PresentationFormat>On-screen Show (16:9)</PresentationFormat>
  <Paragraphs>374</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E-Learning System Ontology</dc:title>
  <dc:subject>PptxGenJS Presentation</dc:subject>
  <dc:creator>Fatma Alsaghir</dc:creator>
  <cp:lastModifiedBy>DELL</cp:lastModifiedBy>
  <cp:revision>1</cp:revision>
  <dcterms:created xsi:type="dcterms:W3CDTF">2026-06-14T07:41:53Z</dcterms:created>
  <dcterms:modified xsi:type="dcterms:W3CDTF">2026-06-16T18:46:25Z</dcterms:modified>
</cp:coreProperties>
</file>